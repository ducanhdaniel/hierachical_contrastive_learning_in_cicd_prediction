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739" r:id="rId4"/>
  </p:sldMasterIdLst>
  <p:sldIdLst>
    <p:sldId id="256" r:id="rId5"/>
    <p:sldId id="257" r:id="rId6"/>
    <p:sldId id="259" r:id="rId7"/>
    <p:sldId id="271" r:id="rId8"/>
    <p:sldId id="265" r:id="rId9"/>
    <p:sldId id="266" r:id="rId10"/>
    <p:sldId id="274" r:id="rId11"/>
    <p:sldId id="275" r:id="rId12"/>
    <p:sldId id="268" r:id="rId13"/>
    <p:sldId id="269" r:id="rId14"/>
    <p:sldId id="270" r:id="rId15"/>
    <p:sldId id="273" r:id="rId16"/>
    <p:sldId id="264" r:id="rId17"/>
  </p:sldIdLst>
  <p:sldSz cx="12192000" cy="6858000"/>
  <p:notesSz cx="7559675" cy="10691813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9"/>
  </p:normalViewPr>
  <p:slideViewPr>
    <p:cSldViewPr snapToGrid="0">
      <p:cViewPr varScale="1">
        <p:scale>
          <a:sx n="96" d="100"/>
          <a:sy n="96" d="100"/>
        </p:scale>
        <p:origin x="4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body"/>
          </p:nvPr>
        </p:nvSpPr>
        <p:spPr>
          <a:xfrm>
            <a:off x="338760" y="1058760"/>
            <a:ext cx="11514240" cy="4908600"/>
          </a:xfrm>
          <a:prstGeom prst="rect">
            <a:avLst/>
          </a:prstGeom>
        </p:spPr>
        <p:txBody>
          <a:bodyPr lIns="90000" tIns="45000" rIns="90000" bIns="45000"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Lato"/>
                <a:ea typeface="Lato"/>
              </a:rPr>
              <a:t>Click to edit Master text styles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Lato"/>
                <a:ea typeface="Lato"/>
              </a:rPr>
              <a:t>Second level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Lato"/>
                <a:ea typeface="Lato"/>
              </a:rPr>
              <a:t>Third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Lato"/>
                <a:ea typeface="Lato"/>
              </a:rPr>
              <a:t>Fourth level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Lato"/>
                <a:ea typeface="Lato"/>
              </a:rPr>
              <a:t>Fifth level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title"/>
          </p:nvPr>
        </p:nvSpPr>
        <p:spPr>
          <a:xfrm>
            <a:off x="338760" y="112680"/>
            <a:ext cx="11514240" cy="435600"/>
          </a:xfrm>
          <a:prstGeom prst="rect">
            <a:avLst/>
          </a:prstGeom>
        </p:spPr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en-US" sz="2800" b="1" strike="noStrike" spc="-1">
                <a:solidFill>
                  <a:srgbClr val="FFFFFF"/>
                </a:solidFill>
                <a:latin typeface="Lato"/>
                <a:ea typeface="Lato"/>
              </a:rPr>
              <a:t>Title 1:……………………………………..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Picture 3" descr="Text&#10;&#10;Description automatically generated"/>
          <p:cNvPicPr/>
          <p:nvPr/>
        </p:nvPicPr>
        <p:blipFill>
          <a:blip r:embed="rId2"/>
          <a:stretch/>
        </p:blipFill>
        <p:spPr>
          <a:xfrm>
            <a:off x="392040" y="271440"/>
            <a:ext cx="3174120" cy="1153080"/>
          </a:xfrm>
          <a:prstGeom prst="rect">
            <a:avLst/>
          </a:prstGeom>
          <a:ln>
            <a:noFill/>
          </a:ln>
        </p:spPr>
      </p:pic>
      <p:sp>
        <p:nvSpPr>
          <p:cNvPr id="307" name="CustomShape 1"/>
          <p:cNvSpPr/>
          <p:nvPr/>
        </p:nvSpPr>
        <p:spPr>
          <a:xfrm>
            <a:off x="695520" y="2741387"/>
            <a:ext cx="9520196" cy="156514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r>
              <a:rPr lang="en-US" sz="4400" b="0" i="0">
                <a:solidFill>
                  <a:srgbClr val="FF0000"/>
                </a:solidFill>
              </a:rPr>
              <a:t>Đánh giá rủi ro ATTT bằng AI - ML trước tấn công Out-of-Domain</a:t>
            </a:r>
            <a:endParaRPr lang="en-US" sz="4400" b="1" dirty="0">
              <a:solidFill>
                <a:srgbClr val="FF0000"/>
              </a:solidFill>
            </a:endParaRPr>
          </a:p>
        </p:txBody>
      </p:sp>
      <p:sp>
        <p:nvSpPr>
          <p:cNvPr id="308" name="CustomShape 2"/>
          <p:cNvSpPr/>
          <p:nvPr/>
        </p:nvSpPr>
        <p:spPr>
          <a:xfrm>
            <a:off x="695520" y="3403080"/>
            <a:ext cx="6095520" cy="222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vi-VN"/>
          </a:p>
        </p:txBody>
      </p:sp>
      <p:sp>
        <p:nvSpPr>
          <p:cNvPr id="309" name="CustomShape 3"/>
          <p:cNvSpPr/>
          <p:nvPr/>
        </p:nvSpPr>
        <p:spPr>
          <a:xfrm>
            <a:off x="6962400" y="3269880"/>
            <a:ext cx="4329000" cy="1369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vi-VN"/>
          </a:p>
        </p:txBody>
      </p:sp>
      <p:sp>
        <p:nvSpPr>
          <p:cNvPr id="310" name="TextBox 309"/>
          <p:cNvSpPr txBox="1"/>
          <p:nvPr/>
        </p:nvSpPr>
        <p:spPr>
          <a:xfrm>
            <a:off x="731520" y="4526280"/>
            <a:ext cx="60350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  <a:latin typeface="Calibri"/>
              </a:rPr>
              <a:t>Sinh viên: Hoàng Đức Anh – 20230015</a:t>
            </a:r>
          </a:p>
          <a:p>
            <a:r>
              <a:rPr sz="1800">
                <a:solidFill>
                  <a:srgbClr val="262626"/>
                </a:solidFill>
                <a:latin typeface="Calibri"/>
              </a:rPr>
              <a:t>GVHD: TS Vũ Thị Hương Giang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Shape 1"/>
          <p:cNvSpPr txBox="1"/>
          <p:nvPr/>
        </p:nvSpPr>
        <p:spPr>
          <a:xfrm>
            <a:off x="338760" y="1058760"/>
            <a:ext cx="11514240" cy="4908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514350" indent="-514350">
              <a:buAutoNum type="arabicPeriod"/>
            </a:pPr>
            <a:r>
              <a:rPr lang="en-US" sz="2800" b="0" i="0" strike="noStrike" spc="-1">
                <a:solidFill>
                  <a:srgbClr val="000000"/>
                </a:solidFill>
                <a:latin typeface="Calibri"/>
              </a:rPr>
              <a:t>Bối cảnh &amp; định hướng của đề tài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514350" indent="-514350">
              <a:buAutoNum type="arabicPeriod"/>
            </a:pPr>
            <a:r>
              <a:rPr lang="vi-VN" sz="2800" b="0" i="0" spc="-1">
                <a:solidFill>
                  <a:srgbClr val="000000"/>
                </a:solidFill>
                <a:latin typeface="Calibri"/>
              </a:rPr>
              <a:t>Vì sao ~100% trên benchmark cũ là chưa đủ</a:t>
            </a:r>
            <a:endParaRPr lang="en-US" sz="2800" spc="-1" dirty="0">
              <a:solidFill>
                <a:srgbClr val="000000"/>
              </a:solidFill>
              <a:latin typeface="Calibri"/>
            </a:endParaRPr>
          </a:p>
          <a:p>
            <a:pPr marL="514350" indent="-514350">
              <a:buAutoNum type="arabicPeriod"/>
            </a:pPr>
            <a:r>
              <a:rPr lang="vi-VN" sz="2800" b="0" i="0" spc="-1">
                <a:solidFill>
                  <a:srgbClr val="000000"/>
                </a:solidFill>
                <a:latin typeface="Calibri"/>
              </a:rPr>
              <a:t>Khảo sát bộ dữ liệu</a:t>
            </a:r>
            <a:endParaRPr lang="en-US" sz="2800" spc="-1" dirty="0">
              <a:solidFill>
                <a:srgbClr val="000000"/>
              </a:solidFill>
              <a:latin typeface="Calibri"/>
            </a:endParaRPr>
          </a:p>
          <a:p>
            <a:pPr marL="514350" indent="-514350">
              <a:buAutoNum type="arabicPeriod"/>
            </a:pPr>
            <a:r>
              <a:rPr lang="vi-VN" sz="2800" b="0" i="0" spc="-1">
                <a:solidFill>
                  <a:srgbClr val="000000"/>
                </a:solidFill>
                <a:latin typeface="Calibri"/>
              </a:rPr>
              <a:t>Khảo sát mô hình &amp; phương pháp</a:t>
            </a:r>
            <a:endParaRPr lang="en-US" sz="2800" spc="-1" dirty="0">
              <a:solidFill>
                <a:srgbClr val="000000"/>
              </a:solidFill>
              <a:latin typeface="Calibri"/>
            </a:endParaRPr>
          </a:p>
          <a:p>
            <a:pPr marL="514350" indent="-514350">
              <a:buAutoNum type="arabicPeriod"/>
            </a:pPr>
            <a:r>
              <a:rPr lang="vi-VN" sz="2800" b="0" i="0" spc="-1">
                <a:solidFill>
                  <a:srgbClr val="000000"/>
                </a:solidFill>
                <a:latin typeface="Calibri"/>
              </a:rPr>
              <a:t>Giao thức đánh giá Out-of-Domain</a:t>
            </a:r>
            <a:endParaRPr lang="en-US" sz="2800" spc="-1" dirty="0">
              <a:solidFill>
                <a:srgbClr val="000000"/>
              </a:solidFill>
              <a:latin typeface="Calibri"/>
            </a:endParaRPr>
          </a:p>
          <a:p>
            <a:pPr marL="514350" indent="-514350">
              <a:buAutoNum type="arabicPeriod"/>
            </a:pPr>
            <a:r>
              <a:rPr lang="vi-VN" sz="2800" b="0" i="0" spc="-1">
                <a:solidFill>
                  <a:srgbClr val="000000"/>
                </a:solidFill>
                <a:latin typeface="Calibri"/>
              </a:rPr>
              <a:t>Luồng phát hiện &amp; đánh giá rủi ro</a:t>
            </a:r>
            <a:endParaRPr lang="en-US" sz="2800" spc="-1" dirty="0">
              <a:solidFill>
                <a:srgbClr val="000000"/>
              </a:solidFill>
              <a:latin typeface="Calibri"/>
            </a:endParaRPr>
          </a:p>
          <a:p>
            <a:pPr marL="514350" indent="-514350">
              <a:buAutoNum type="arabicPeriod"/>
            </a:pPr>
            <a:r>
              <a:rPr lang="en-US" sz="2800" b="0" i="0" spc="-1">
                <a:solidFill>
                  <a:srgbClr val="000000"/>
                </a:solidFill>
                <a:latin typeface="Calibri"/>
              </a:rPr>
              <a:t>Mô hình đánh giá rủi ro</a:t>
            </a:r>
            <a:endParaRPr lang="en-US" sz="2800" spc="-1" dirty="0">
              <a:solidFill>
                <a:srgbClr val="000000"/>
              </a:solidFill>
              <a:latin typeface="Calibri"/>
            </a:endParaRPr>
          </a:p>
          <a:p>
            <a:pPr marL="514350" indent="-514350">
              <a:buAutoNum type="arabicPeriod"/>
            </a:pPr>
            <a:r>
              <a:rPr lang="en-US" sz="2800" b="0" i="0" spc="-1">
                <a:solidFill>
                  <a:srgbClr val="000000"/>
                </a:solidFill>
                <a:latin typeface="Calibri"/>
              </a:rPr>
              <a:t>Kiến trúc hệ thống</a:t>
            </a:r>
            <a:endParaRPr lang="en-US" sz="2800" spc="-1" dirty="0">
              <a:solidFill>
                <a:srgbClr val="000000"/>
              </a:solidFill>
              <a:latin typeface="Calibri"/>
            </a:endParaRPr>
          </a:p>
          <a:p>
            <a:pPr marL="514350" indent="-514350">
              <a:buAutoNum type="arabicPeriod"/>
            </a:pPr>
            <a:r>
              <a:rPr lang="en-US" sz="2800" b="0" i="0" spc="-1">
                <a:solidFill>
                  <a:srgbClr val="000000"/>
                </a:solidFill>
                <a:latin typeface="Calibri"/>
              </a:rPr>
              <a:t>Kế hoạch thực hiện</a:t>
            </a:r>
            <a:endParaRPr lang="en-US" sz="28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3" name="TextShape 2"/>
          <p:cNvSpPr txBox="1"/>
          <p:nvPr/>
        </p:nvSpPr>
        <p:spPr>
          <a:xfrm>
            <a:off x="338760" y="11268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3200" b="0" strike="noStrike" spc="-1" dirty="0" err="1">
                <a:solidFill>
                  <a:schemeClr val="bg1"/>
                </a:solidFill>
                <a:latin typeface="Calibri"/>
              </a:rPr>
              <a:t>Nội</a:t>
            </a:r>
            <a:r>
              <a:rPr lang="en-US" sz="3200" b="0" strike="noStrike" spc="-1" dirty="0">
                <a:solidFill>
                  <a:schemeClr val="bg1"/>
                </a:solidFill>
                <a:latin typeface="Calibri"/>
              </a:rPr>
              <a:t> dung </a:t>
            </a:r>
            <a:r>
              <a:rPr lang="en-US" sz="3200" b="0" strike="noStrike" spc="-1" dirty="0" err="1">
                <a:solidFill>
                  <a:schemeClr val="bg1"/>
                </a:solidFill>
                <a:latin typeface="Calibri"/>
              </a:rPr>
              <a:t>trình</a:t>
            </a:r>
            <a:r>
              <a:rPr lang="en-US" sz="3200" b="0" strike="noStrike" spc="-1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US" sz="3200" b="0" strike="noStrike" spc="-1" dirty="0" err="1">
                <a:solidFill>
                  <a:schemeClr val="bg1"/>
                </a:solidFill>
                <a:latin typeface="Calibri"/>
              </a:rPr>
              <a:t>bày</a:t>
            </a:r>
            <a:r>
              <a:rPr lang="en-US" sz="3200" b="0" strike="noStrike" spc="-1" dirty="0">
                <a:solidFill>
                  <a:schemeClr val="bg1"/>
                </a:solidFill>
                <a:latin typeface="Calibri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D5CD2-7D37-1454-5286-EE64F2A18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Shape 2">
            <a:extLst>
              <a:ext uri="{FF2B5EF4-FFF2-40B4-BE49-F238E27FC236}">
                <a16:creationId xmlns:a16="http://schemas.microsoft.com/office/drawing/2014/main" id="{67C8EC74-9B72-E685-078E-E2E702AEC283}"/>
              </a:ext>
            </a:extLst>
          </p:cNvPr>
          <p:cNvSpPr txBox="1"/>
          <p:nvPr/>
        </p:nvSpPr>
        <p:spPr>
          <a:xfrm>
            <a:off x="338760" y="11268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3200" b="0" i="0" spc="-1">
                <a:solidFill>
                  <a:schemeClr val="bg1"/>
                </a:solidFill>
                <a:latin typeface="Calibri"/>
              </a:rPr>
              <a:t>1. Bối cảnh &amp; định hướng của đề tài</a:t>
            </a:r>
            <a:endParaRPr lang="en-US" sz="3200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0" name="TextShape 1">
            <a:extLst>
              <a:ext uri="{FF2B5EF4-FFF2-40B4-BE49-F238E27FC236}">
                <a16:creationId xmlns:a16="http://schemas.microsoft.com/office/drawing/2014/main" id="{026E228F-0E49-F883-0738-2171A18643ED}"/>
              </a:ext>
            </a:extLst>
          </p:cNvPr>
          <p:cNvSpPr txBox="1"/>
          <p:nvPr/>
        </p:nvSpPr>
        <p:spPr>
          <a:xfrm>
            <a:off x="338760" y="1058760"/>
            <a:ext cx="11514240" cy="4908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vi-VN" sz="1900" b="1" i="0"/>
              <a:t>Bài báo gốc </a:t>
            </a:r>
            <a:r>
              <a:rPr lang="vi-VN" sz="1900" b="0" i="0"/>
              <a:t>(Pangsuban và cộng sự, 2020): học máy trên CICIDS2017 + ma trận rủi ro 5×5, mới dừng ở mức khái niệm và kiến trúc.</a:t>
            </a:r>
            <a:endParaRPr lang="en-US" sz="20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vi-VN" sz="1900" b="1" i="0"/>
              <a:t>Dataset và mô hình đã cũ: </a:t>
            </a:r>
            <a:r>
              <a:rPr lang="vi-VN" sz="1900" b="0" i="0"/>
              <a:t>cần khảo sát dataset, benchmark và mô hình mới nhất thay cho CICIDS2017/2018 và các thuật toán cổ điển.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vi-VN" sz="1900" b="1" i="0"/>
              <a:t>Benchmark cũ đã bão hòa: </a:t>
            </a:r>
            <a:r>
              <a:rPr lang="vi-VN" sz="1900" b="0" i="0"/>
              <a:t>mô hình baseline đạt gần 100% nên không còn đo được tiến bộ thực sự.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vi-VN" sz="1900" b="1" i="0"/>
              <a:t>Tấn công Out-of-Domain: </a:t>
            </a:r>
            <a:r>
              <a:rPr lang="vi-VN" sz="1900" b="0" i="0"/>
              <a:t>tấn công mới liên tục xuất hiện, hệ thống phải phát hiện được cả những loại </a:t>
            </a:r>
            <a:r>
              <a:rPr lang="vi-VN" sz="1900" b="1" i="1"/>
              <a:t>không có trong dữ liệu huấn luyện</a:t>
            </a:r>
            <a:r>
              <a:rPr lang="vi-VN" sz="1900" b="0" i="0"/>
              <a:t> rồi mới đánh giá rủi ro.</a:t>
            </a:r>
          </a:p>
        </p:txBody>
      </p:sp>
    </p:spTree>
    <p:extLst>
      <p:ext uri="{BB962C8B-B14F-4D97-AF65-F5344CB8AC3E}">
        <p14:creationId xmlns:p14="http://schemas.microsoft.com/office/powerpoint/2010/main" val="4118732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484459-AC26-7D01-CC7E-AC7FD8F1542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5760" y="1238865"/>
            <a:ext cx="5354280" cy="2103120"/>
          </a:xfrm>
        </p:spPr>
        <p:txBody>
          <a:bodyPr>
            <a:normAutofit/>
          </a:bodyPr>
          <a:lstStyle/>
          <a:p>
            <a:r>
              <a:rPr lang="vi-VN" sz="2000" b="1" i="0"/>
              <a:t>Benchmark cũ đạt ~100% vì:</a:t>
            </a:r>
            <a:endParaRPr lang="en-US" sz="2000" b="1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vi-VN" sz="2000" b="0" i="0"/>
              <a:t>Lỗi nhãn, flow lỗi (CIC-IDS2017/2018)</a:t>
            </a:r>
            <a:endParaRPr lang="en-US" sz="20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vi-VN" sz="2000" b="0" i="0"/>
              <a:t>Chia ngẫu nhiên: train, test cùng phân phối</a:t>
            </a:r>
            <a:endParaRPr lang="en-US" sz="20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vi-VN" sz="2000" b="0" i="0"/>
              <a:t>Tương quan giả, rò rỉ dữ liệu (Arp 2022)</a:t>
            </a:r>
            <a:endParaRPr lang="en-US" sz="20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vi-VN" sz="2000" b="0" i="0"/>
              <a:t>Chỉ kiểm thử tấn công đã có trong train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4E94D2-1C4F-3EC9-7D74-F6EBD3CBC7E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5880" y="1238865"/>
            <a:ext cx="5354280" cy="2103120"/>
          </a:xfrm>
        </p:spPr>
        <p:txBody>
          <a:bodyPr>
            <a:normAutofit/>
          </a:bodyPr>
          <a:lstStyle/>
          <a:p>
            <a:r>
              <a:rPr lang="vi-VN" sz="2000" b="1" i="0"/>
              <a:t>Khi triển khai thực tế:</a:t>
            </a:r>
            <a:endParaRPr lang="en-US" sz="2000" b="1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vi-VN" sz="2000" b="0" i="0"/>
              <a:t>Gặp tấn công mới chưa từng thấy</a:t>
            </a:r>
            <a:endParaRPr lang="en-US" sz="20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vi-VN" sz="2000" b="0" i="0"/>
              <a:t>Mạng khác nên phân phối dữ liệu khác</a:t>
            </a:r>
            <a:endParaRPr lang="en-US" sz="20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vi-VN" sz="2000" b="0" i="0"/>
              <a:t>Đánh giá chéo dataset: hiệu năng giảm mạnh</a:t>
            </a:r>
            <a:endParaRPr lang="en-US" sz="20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vi-VN" sz="2000" b="0" i="0"/>
              <a:t>Mô hình closed-set vẫn gán nhãn tự tin</a:t>
            </a:r>
            <a:endParaRPr lang="vi-VN" sz="2000" dirty="0"/>
          </a:p>
        </p:txBody>
      </p:sp>
      <p:sp>
        <p:nvSpPr>
          <p:cNvPr id="6" name="TextShape 2">
            <a:extLst>
              <a:ext uri="{FF2B5EF4-FFF2-40B4-BE49-F238E27FC236}">
                <a16:creationId xmlns:a16="http://schemas.microsoft.com/office/drawing/2014/main" id="{41B43F65-50EC-310F-1B6A-B2C5A1926458}"/>
              </a:ext>
            </a:extLst>
          </p:cNvPr>
          <p:cNvSpPr txBox="1"/>
          <p:nvPr/>
        </p:nvSpPr>
        <p:spPr>
          <a:xfrm>
            <a:off x="338760" y="11268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3200" b="0" i="0" spc="-1">
                <a:solidFill>
                  <a:schemeClr val="bg1"/>
                </a:solidFill>
                <a:latin typeface="Calibri"/>
              </a:rPr>
              <a:t>2. Vì sao ~100% trên benchmark cũ là chưa đủ</a:t>
            </a:r>
            <a:endParaRPr lang="en-US" sz="3200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03504" y="3840480"/>
            <a:ext cx="10881360" cy="68580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15875">
            <a:solidFill>
              <a:srgbClr val="C01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 b="1">
                <a:solidFill>
                  <a:srgbClr val="013364"/>
                </a:solidFill>
                <a:latin typeface="Calibri"/>
              </a:rPr>
              <a:t>→ Cần benchmark và mô hình được đánh giá trên tấn công, mạng và thời điểm chưa thấy khi huấn luyện</a:t>
            </a:r>
          </a:p>
        </p:txBody>
      </p:sp>
    </p:spTree>
    <p:extLst>
      <p:ext uri="{BB962C8B-B14F-4D97-AF65-F5344CB8AC3E}">
        <p14:creationId xmlns:p14="http://schemas.microsoft.com/office/powerpoint/2010/main" val="2667425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EDC68-73D4-C80A-8B5B-57CB41F2F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Shape 1">
            <a:extLst>
              <a:ext uri="{FF2B5EF4-FFF2-40B4-BE49-F238E27FC236}">
                <a16:creationId xmlns:a16="http://schemas.microsoft.com/office/drawing/2014/main" id="{74CE9D9D-901C-692C-2FD8-79712928AD4C}"/>
              </a:ext>
            </a:extLst>
          </p:cNvPr>
          <p:cNvSpPr txBox="1"/>
          <p:nvPr/>
        </p:nvSpPr>
        <p:spPr>
          <a:xfrm>
            <a:off x="338760" y="1058760"/>
            <a:ext cx="11514240" cy="4908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vi-VN" sz="1800" b="1" i="0"/>
              <a:t>Bản sửa lỗi CIC-IDS2017/2018: </a:t>
            </a:r>
            <a:r>
              <a:rPr lang="vi-VN" sz="1800" b="0" i="0"/>
              <a:t>LYCOS-IDS2017 (Rosay 2022), bản gán nhãn lại của Engelen (2021), Liu (2022), LycoS-Unicas-IDS2018 (Cantone 2024). Dùng để đối chiếu bài báo gốc.</a:t>
            </a:r>
            <a:endParaRPr lang="en-US" sz="20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vi-VN" sz="1800" b="1" i="0"/>
              <a:t>NetFlow v3 (2025): </a:t>
            </a:r>
            <a:r>
              <a:rPr lang="vi-VN" sz="1800" b="0" i="0"/>
              <a:t>UNSW-NB15, ToN-IoT, BoT-IoT, CSE-CIC-IDS2018 cùng 53 đặc trưng NetFlow, cho phép đánh giá chéo giữa các mạng. Dữ liệu chính.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vi-VN" sz="1800" b="1" i="0"/>
              <a:t>CIC-IoT2023: </a:t>
            </a:r>
            <a:r>
              <a:rPr lang="vi-VN" sz="1800" b="0" i="0"/>
              <a:t>105 thiết bị IoT, 33 tấn công thuộc 7 nhóm, có cả pcap và flow.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vi-VN" sz="1800" b="1" i="0"/>
              <a:t>CICIoMT2024, CIC-APT-IIoT2024: </a:t>
            </a:r>
            <a:r>
              <a:rPr lang="vi-VN" sz="1800" b="0" i="0"/>
              <a:t>IoT y tế; chiến dịch APT nhiều giai đoạn. Kịch bản OOD khó (best-case).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vi-VN" sz="1800" b="1" i="0"/>
              <a:t>Khảo sát 89 dataset (Goldschmidt &amp; Chudá, 2025): </a:t>
            </a:r>
            <a:r>
              <a:rPr lang="vi-VN" sz="1800" b="0" i="0"/>
              <a:t>nhiều nghiên cứu đánh giá thiên lệch, kết quả lạc quan quá mức.</a:t>
            </a:r>
          </a:p>
        </p:txBody>
      </p:sp>
      <p:sp>
        <p:nvSpPr>
          <p:cNvPr id="313" name="TextShape 2">
            <a:extLst>
              <a:ext uri="{FF2B5EF4-FFF2-40B4-BE49-F238E27FC236}">
                <a16:creationId xmlns:a16="http://schemas.microsoft.com/office/drawing/2014/main" id="{6C0D2DE3-CD29-2D5E-CEC5-ACE2F5CF0B8C}"/>
              </a:ext>
            </a:extLst>
          </p:cNvPr>
          <p:cNvSpPr txBox="1"/>
          <p:nvPr/>
        </p:nvSpPr>
        <p:spPr>
          <a:xfrm>
            <a:off x="338760" y="11268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3200" b="0" i="0" spc="-1">
                <a:solidFill>
                  <a:schemeClr val="bg1"/>
                </a:solidFill>
                <a:latin typeface="Calibri"/>
              </a:rPr>
              <a:t>3. Khảo sát bộ dữ liệu</a:t>
            </a:r>
            <a:endParaRPr lang="en-US" sz="3200" spc="-1" dirty="0">
              <a:solidFill>
                <a:schemeClr val="bg1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6194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EDC68-73D4-C80A-8B5B-57CB41F2F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Shape 1">
            <a:extLst>
              <a:ext uri="{FF2B5EF4-FFF2-40B4-BE49-F238E27FC236}">
                <a16:creationId xmlns:a16="http://schemas.microsoft.com/office/drawing/2014/main" id="{74CE9D9D-901C-692C-2FD8-79712928AD4C}"/>
              </a:ext>
            </a:extLst>
          </p:cNvPr>
          <p:cNvSpPr txBox="1"/>
          <p:nvPr/>
        </p:nvSpPr>
        <p:spPr>
          <a:xfrm>
            <a:off x="338760" y="1058760"/>
            <a:ext cx="11514240" cy="4908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vi-VN" sz="1800" b="1" i="0"/>
              <a:t>Có giám sát (baseline): </a:t>
            </a:r>
            <a:r>
              <a:rPr lang="vi-VN" sz="1800" b="0" i="0"/>
              <a:t>RF, XGBoost, MLP. Mạnh với tấn công đã biết, nhưng buộc mọi flow vào một lớp đã biết.</a:t>
            </a:r>
            <a:endParaRPr lang="en-US" sz="20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vi-VN" sz="1800" b="1" i="0"/>
              <a:t>Phát hiện bất thường: </a:t>
            </a:r>
            <a:r>
              <a:rPr lang="vi-VN" sz="1800" b="0" i="0"/>
              <a:t>Isolation Forest, Autoencoder, Kitsune. Chỉ học lưu lượng bình thường, dễ báo động nhầm.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vi-VN" sz="1800" b="1" i="0"/>
              <a:t>OOD / open-set cho NIDS: </a:t>
            </a:r>
            <a:r>
              <a:rPr lang="vi-VN" sz="1800" b="0" i="0"/>
              <a:t>MSP, Energy, Mahalanobis (Corsini &amp; Yang 2023), Energy-based Flow Classifier, zero-shot (Sarhan 2023), contrastive loss cho zero-day (Wilkie 2026).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vi-VN" sz="1800" b="1" i="0"/>
              <a:t>GNN tự giám sát: </a:t>
            </a:r>
            <a:r>
              <a:rPr lang="vi-VN" sz="1800" b="0" i="0"/>
              <a:t>E-GraphSAGE, Anomal-E. Khai thác quan hệ giữa các host.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vi-VN" sz="1800" b="1" i="0"/>
              <a:t>Network foundation model: </a:t>
            </a:r>
            <a:r>
              <a:rPr lang="vi-VN" sz="1800" b="0" i="0"/>
              <a:t>ET-BERT, YaTC, NetMamba, netFound. Tiền huấn luyện trên lưu lượng thô.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vi-VN" sz="1800" b="1" i="0"/>
              <a:t>Đề tài chọn: </a:t>
            </a:r>
            <a:r>
              <a:rPr lang="vi-VN" sz="1800" b="0" i="0"/>
              <a:t>baseline + bộ phát hiện bất thường + điểm OOD + mô hình open-set lai (contrastive), so sánh theo 4 giao thức; GNN/foundation model là best-case.</a:t>
            </a:r>
          </a:p>
        </p:txBody>
      </p:sp>
      <p:sp>
        <p:nvSpPr>
          <p:cNvPr id="313" name="TextShape 2">
            <a:extLst>
              <a:ext uri="{FF2B5EF4-FFF2-40B4-BE49-F238E27FC236}">
                <a16:creationId xmlns:a16="http://schemas.microsoft.com/office/drawing/2014/main" id="{6C0D2DE3-CD29-2D5E-CEC5-ACE2F5CF0B8C}"/>
              </a:ext>
            </a:extLst>
          </p:cNvPr>
          <p:cNvSpPr txBox="1"/>
          <p:nvPr/>
        </p:nvSpPr>
        <p:spPr>
          <a:xfrm>
            <a:off x="338760" y="11268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3200" b="0" i="0" spc="-1">
                <a:solidFill>
                  <a:schemeClr val="bg1"/>
                </a:solidFill>
                <a:latin typeface="Calibri"/>
              </a:rPr>
              <a:t>4. Khảo sát mô hình &amp; phương pháp</a:t>
            </a:r>
            <a:endParaRPr lang="en-US" sz="3200" spc="-1" dirty="0">
              <a:solidFill>
                <a:schemeClr val="bg1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6194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EDC68-73D4-C80A-8B5B-57CB41F2F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TextShape 2">
            <a:extLst>
              <a:ext uri="{FF2B5EF4-FFF2-40B4-BE49-F238E27FC236}">
                <a16:creationId xmlns:a16="http://schemas.microsoft.com/office/drawing/2014/main" id="{6C0D2DE3-CD29-2D5E-CEC5-ACE2F5CF0B8C}"/>
              </a:ext>
            </a:extLst>
          </p:cNvPr>
          <p:cNvSpPr txBox="1"/>
          <p:nvPr/>
        </p:nvSpPr>
        <p:spPr>
          <a:xfrm>
            <a:off x="338760" y="11268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3200" b="0" i="0" spc="-1">
                <a:solidFill>
                  <a:schemeClr val="bg1"/>
                </a:solidFill>
                <a:latin typeface="Calibri"/>
              </a:rPr>
              <a:t>5. Giao thức đánh giá Out-of-Domain</a:t>
            </a:r>
            <a:endParaRPr lang="en-US" sz="3200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314" name="Rounded Rectangle 313"/>
          <p:cNvSpPr/>
          <p:nvPr/>
        </p:nvSpPr>
        <p:spPr>
          <a:xfrm>
            <a:off x="411480" y="1051560"/>
            <a:ext cx="2697480" cy="2971800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5875">
            <a:solidFill>
              <a:srgbClr val="8C9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Rounded Rectangle 314"/>
          <p:cNvSpPr/>
          <p:nvPr/>
        </p:nvSpPr>
        <p:spPr>
          <a:xfrm>
            <a:off x="411480" y="1051560"/>
            <a:ext cx="2697480" cy="868680"/>
          </a:xfrm>
          <a:prstGeom prst="roundRect">
            <a:avLst>
              <a:gd name="adj" fmla="val 12000"/>
            </a:avLst>
          </a:prstGeom>
          <a:solidFill>
            <a:srgbClr val="0133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P0 · In-distribution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mốc so sánh (như bài báo gốc)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576072" y="2075688"/>
            <a:ext cx="240487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• Chia ngẫu nhiên train/test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• Train và test cùng phân phối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• Baseline thường đạt ~99%</a:t>
            </a:r>
          </a:p>
        </p:txBody>
      </p:sp>
      <p:sp>
        <p:nvSpPr>
          <p:cNvPr id="317" name="Rounded Rectangle 316"/>
          <p:cNvSpPr/>
          <p:nvPr/>
        </p:nvSpPr>
        <p:spPr>
          <a:xfrm>
            <a:off x="3319272" y="1051560"/>
            <a:ext cx="2697480" cy="2971800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5875">
            <a:solidFill>
              <a:srgbClr val="0133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8" name="Rounded Rectangle 317"/>
          <p:cNvSpPr/>
          <p:nvPr/>
        </p:nvSpPr>
        <p:spPr>
          <a:xfrm>
            <a:off x="3319272" y="1051560"/>
            <a:ext cx="2697480" cy="868680"/>
          </a:xfrm>
          <a:prstGeom prst="roundRect">
            <a:avLst>
              <a:gd name="adj" fmla="val 12000"/>
            </a:avLst>
          </a:prstGeom>
          <a:solidFill>
            <a:srgbClr val="0133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P1 · Leave-one-family-out</a:t>
            </a:r>
          </a:p>
          <a:p>
            <a:pPr algn="ctr"/>
            <a:r>
              <a:rPr sz="1400" b="0">
                <a:solidFill>
                  <a:srgbClr val="DDE6F2"/>
                </a:solidFill>
                <a:latin typeface="Calibri"/>
              </a:rPr>
              <a:t>tấn công chưa biết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3483864" y="2075688"/>
            <a:ext cx="240487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• Bỏ trọn một họ tấn công khỏi train (VD: Botnet)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• Test: họ đó phải bị báo là “chưa biết”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• Lặp lại cho từng họ tấn công</a:t>
            </a:r>
          </a:p>
        </p:txBody>
      </p:sp>
      <p:sp>
        <p:nvSpPr>
          <p:cNvPr id="320" name="Rounded Rectangle 319"/>
          <p:cNvSpPr/>
          <p:nvPr/>
        </p:nvSpPr>
        <p:spPr>
          <a:xfrm>
            <a:off x="6227064" y="1051560"/>
            <a:ext cx="2697480" cy="2971800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5875">
            <a:solidFill>
              <a:srgbClr val="0133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Rounded Rectangle 320"/>
          <p:cNvSpPr/>
          <p:nvPr/>
        </p:nvSpPr>
        <p:spPr>
          <a:xfrm>
            <a:off x="6227064" y="1051560"/>
            <a:ext cx="2697480" cy="868680"/>
          </a:xfrm>
          <a:prstGeom prst="roundRect">
            <a:avLst>
              <a:gd name="adj" fmla="val 12000"/>
            </a:avLst>
          </a:prstGeom>
          <a:solidFill>
            <a:srgbClr val="0133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P2 · Cross-dataset</a:t>
            </a:r>
          </a:p>
          <a:p>
            <a:pPr algn="ctr"/>
            <a:r>
              <a:rPr sz="1400" b="0">
                <a:solidFill>
                  <a:srgbClr val="DDE6F2"/>
                </a:solidFill>
                <a:latin typeface="Calibri"/>
              </a:rPr>
              <a:t>mạng chưa biết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6391656" y="2075688"/>
            <a:ext cx="240487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• Train trên một mạng (VD: NF-UNSW-NB15-v3)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• Test trên mạng khác (NF-ToN-IoT-v3, NF-CSE-CIC-IDS2018-v3)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• Cùng 53 đặc trưng NetFlow v3</a:t>
            </a:r>
          </a:p>
        </p:txBody>
      </p:sp>
      <p:sp>
        <p:nvSpPr>
          <p:cNvPr id="323" name="Rounded Rectangle 322"/>
          <p:cNvSpPr/>
          <p:nvPr/>
        </p:nvSpPr>
        <p:spPr>
          <a:xfrm>
            <a:off x="9134856" y="1051560"/>
            <a:ext cx="2697480" cy="2971800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5875">
            <a:solidFill>
              <a:srgbClr val="0133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4" name="Rounded Rectangle 323"/>
          <p:cNvSpPr/>
          <p:nvPr/>
        </p:nvSpPr>
        <p:spPr>
          <a:xfrm>
            <a:off x="9134856" y="1051560"/>
            <a:ext cx="2697480" cy="868680"/>
          </a:xfrm>
          <a:prstGeom prst="roundRect">
            <a:avLst>
              <a:gd name="adj" fmla="val 12000"/>
            </a:avLst>
          </a:prstGeom>
          <a:solidFill>
            <a:srgbClr val="0133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P3 · Temporal</a:t>
            </a:r>
          </a:p>
          <a:p>
            <a:pPr algn="ctr"/>
            <a:r>
              <a:rPr sz="1400" b="0">
                <a:solidFill>
                  <a:srgbClr val="DDE6F2"/>
                </a:solidFill>
                <a:latin typeface="Calibri"/>
              </a:rPr>
              <a:t>tấn công xuất hiện sau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9299448" y="2075688"/>
            <a:ext cx="240487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• Train trên giai đoạn đầu, test giai đoạn sau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• Không xáo trộn theo thời gian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  <a:latin typeface="Calibri"/>
              </a:rPr>
              <a:t>• Tránh data snooping (Arp 2022)</a:t>
            </a:r>
          </a:p>
        </p:txBody>
      </p:sp>
      <p:sp>
        <p:nvSpPr>
          <p:cNvPr id="326" name="Rounded Rectangle 325"/>
          <p:cNvSpPr/>
          <p:nvPr/>
        </p:nvSpPr>
        <p:spPr>
          <a:xfrm>
            <a:off x="411480" y="4224528"/>
            <a:ext cx="11420856" cy="566928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15875">
            <a:solidFill>
              <a:srgbClr val="C01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 b="1">
                <a:solidFill>
                  <a:srgbClr val="262626"/>
                </a:solidFill>
                <a:latin typeface="Calibri"/>
              </a:rPr>
              <a:t>Độ đo: AUROC · FPR@95%TPR · tỉ lệ phát hiện tấn công chưa biết · macro-F1 trên lớp đã biết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411480" y="4937760"/>
            <a:ext cx="1142085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013364"/>
                </a:solidFill>
                <a:latin typeface="Calibri"/>
              </a:rPr>
              <a:t>Mục tiêu: không tối ưu accuracy ở P0 (đã bão hòa) mà cải thiện khả năng phát hiện tấn công chưa biết ở P1–P3.</a:t>
            </a:r>
          </a:p>
        </p:txBody>
      </p:sp>
    </p:spTree>
    <p:extLst>
      <p:ext uri="{BB962C8B-B14F-4D97-AF65-F5344CB8AC3E}">
        <p14:creationId xmlns:p14="http://schemas.microsoft.com/office/powerpoint/2010/main" val="126194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762BE-05C2-5392-BB3F-C147F4DCF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TextShape 2">
            <a:extLst>
              <a:ext uri="{FF2B5EF4-FFF2-40B4-BE49-F238E27FC236}">
                <a16:creationId xmlns:a16="http://schemas.microsoft.com/office/drawing/2014/main" id="{4D3D4E23-1F23-DF6C-98DE-0A0D23705FCA}"/>
              </a:ext>
            </a:extLst>
          </p:cNvPr>
          <p:cNvSpPr txBox="1"/>
          <p:nvPr/>
        </p:nvSpPr>
        <p:spPr>
          <a:xfrm>
            <a:off x="338760" y="11268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3200" b="0" i="0" spc="-1">
                <a:solidFill>
                  <a:schemeClr val="bg1"/>
                </a:solidFill>
                <a:latin typeface="Calibri"/>
              </a:rPr>
              <a:t>6. Luồng phát hiện &amp; đánh giá rủi ro</a:t>
            </a:r>
          </a:p>
        </p:txBody>
      </p:sp>
      <p:sp>
        <p:nvSpPr>
          <p:cNvPr id="314" name="Rounded Rectangle 313"/>
          <p:cNvSpPr/>
          <p:nvPr/>
        </p:nvSpPr>
        <p:spPr>
          <a:xfrm>
            <a:off x="365760" y="960120"/>
            <a:ext cx="11475720" cy="1783080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 w="12700">
            <a:solidFill>
              <a:srgbClr val="8C9BB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TextBox 314"/>
          <p:cNvSpPr txBox="1"/>
          <p:nvPr/>
        </p:nvSpPr>
        <p:spPr>
          <a:xfrm>
            <a:off x="475488" y="996696"/>
            <a:ext cx="112014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013364"/>
                </a:solidFill>
                <a:latin typeface="Calibri"/>
              </a:rPr>
              <a:t>Offline: benchmark OOD, huấn luyện &amp; cấu hình đánh giá</a:t>
            </a:r>
          </a:p>
        </p:txBody>
      </p:sp>
      <p:sp>
        <p:nvSpPr>
          <p:cNvPr id="316" name="Rounded Rectangle 315"/>
          <p:cNvSpPr/>
          <p:nvPr/>
        </p:nvSpPr>
        <p:spPr>
          <a:xfrm>
            <a:off x="365760" y="3611880"/>
            <a:ext cx="11475720" cy="1783080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 w="12700">
            <a:solidFill>
              <a:srgbClr val="8C9BB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TextBox 316"/>
          <p:cNvSpPr txBox="1"/>
          <p:nvPr/>
        </p:nvSpPr>
        <p:spPr>
          <a:xfrm>
            <a:off x="475488" y="3648456"/>
            <a:ext cx="112014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013364"/>
                </a:solidFill>
                <a:latin typeface="Calibri"/>
              </a:rPr>
              <a:t>Gần thời gian thực: phát hiện tấn công đã biết / chưa biết → đánh giá rủi ro</a:t>
            </a:r>
          </a:p>
        </p:txBody>
      </p:sp>
      <p:sp>
        <p:nvSpPr>
          <p:cNvPr id="318" name="Rounded Rectangle 317"/>
          <p:cNvSpPr/>
          <p:nvPr/>
        </p:nvSpPr>
        <p:spPr>
          <a:xfrm>
            <a:off x="502920" y="1417320"/>
            <a:ext cx="1874519" cy="960120"/>
          </a:xfrm>
          <a:prstGeom prst="roundRect">
            <a:avLst>
              <a:gd name="adj" fmla="val 12000"/>
            </a:avLst>
          </a:prstGeom>
          <a:solidFill>
            <a:srgbClr val="E8EEF6"/>
          </a:solidFill>
          <a:ln w="15875">
            <a:solidFill>
              <a:srgbClr val="0133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262626"/>
                </a:solidFill>
                <a:latin typeface="Calibri"/>
              </a:rPr>
              <a:t>Dữ liệu huấn luyện</a:t>
            </a:r>
          </a:p>
          <a:p>
            <a:pPr algn="ctr"/>
            <a:r>
              <a:rPr sz="1200" b="0">
                <a:solidFill>
                  <a:srgbClr val="595959"/>
                </a:solidFill>
                <a:latin typeface="Calibri"/>
              </a:rPr>
              <a:t>NetFlow v3 + CIC-IDS2017 đã sửa lỗi</a:t>
            </a:r>
          </a:p>
        </p:txBody>
      </p:sp>
      <p:sp>
        <p:nvSpPr>
          <p:cNvPr id="319" name="Rounded Rectangle 318"/>
          <p:cNvSpPr/>
          <p:nvPr/>
        </p:nvSpPr>
        <p:spPr>
          <a:xfrm>
            <a:off x="2788920" y="1417320"/>
            <a:ext cx="1874519" cy="960120"/>
          </a:xfrm>
          <a:prstGeom prst="roundRect">
            <a:avLst>
              <a:gd name="adj" fmla="val 12000"/>
            </a:avLst>
          </a:prstGeom>
          <a:solidFill>
            <a:srgbClr val="E8EEF6"/>
          </a:solidFill>
          <a:ln w="15875">
            <a:solidFill>
              <a:srgbClr val="0133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262626"/>
                </a:solidFill>
                <a:latin typeface="Calibri"/>
              </a:rPr>
              <a:t>Tiền xử lý</a:t>
            </a:r>
          </a:p>
          <a:p>
            <a:pPr algn="ctr"/>
            <a:r>
              <a:rPr sz="1200" b="0">
                <a:solidFill>
                  <a:srgbClr val="595959"/>
                </a:solidFill>
                <a:latin typeface="Calibri"/>
              </a:rPr>
              <a:t>chuẩn hóa, chia theo 4 giao thức</a:t>
            </a:r>
          </a:p>
        </p:txBody>
      </p:sp>
      <p:sp>
        <p:nvSpPr>
          <p:cNvPr id="320" name="Rounded Rectangle 319"/>
          <p:cNvSpPr/>
          <p:nvPr/>
        </p:nvSpPr>
        <p:spPr>
          <a:xfrm>
            <a:off x="5074920" y="1417320"/>
            <a:ext cx="1874519" cy="960120"/>
          </a:xfrm>
          <a:prstGeom prst="roundRect">
            <a:avLst>
              <a:gd name="adj" fmla="val 12000"/>
            </a:avLst>
          </a:prstGeom>
          <a:solidFill>
            <a:srgbClr val="E8EEF6"/>
          </a:solidFill>
          <a:ln w="15875">
            <a:solidFill>
              <a:srgbClr val="0133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262626"/>
                </a:solidFill>
                <a:latin typeface="Calibri"/>
              </a:rPr>
              <a:t>Huấn luyện open-set</a:t>
            </a:r>
          </a:p>
          <a:p>
            <a:pPr algn="ctr"/>
            <a:r>
              <a:rPr sz="1200" b="0">
                <a:solidFill>
                  <a:srgbClr val="595959"/>
                </a:solidFill>
                <a:latin typeface="Calibri"/>
              </a:rPr>
              <a:t>phân loại + điểm OOD</a:t>
            </a:r>
          </a:p>
        </p:txBody>
      </p:sp>
      <p:sp>
        <p:nvSpPr>
          <p:cNvPr id="321" name="Rounded Rectangle 320"/>
          <p:cNvSpPr/>
          <p:nvPr/>
        </p:nvSpPr>
        <p:spPr>
          <a:xfrm>
            <a:off x="7360920" y="1417320"/>
            <a:ext cx="1874519" cy="960120"/>
          </a:xfrm>
          <a:prstGeom prst="roundRect">
            <a:avLst>
              <a:gd name="adj" fmla="val 12000"/>
            </a:avLst>
          </a:prstGeom>
          <a:solidFill>
            <a:srgbClr val="E8EEF6"/>
          </a:solidFill>
          <a:ln w="15875">
            <a:solidFill>
              <a:srgbClr val="0133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262626"/>
                </a:solidFill>
                <a:latin typeface="Calibri"/>
              </a:rPr>
              <a:t>Tài sản &amp; bảng Impact</a:t>
            </a:r>
          </a:p>
          <a:p>
            <a:pPr algn="ctr"/>
            <a:r>
              <a:rPr sz="1200" b="0">
                <a:solidFill>
                  <a:srgbClr val="595959"/>
                </a:solidFill>
                <a:latin typeface="Calibri"/>
              </a:rPr>
              <a:t>mức tác động 1–5</a:t>
            </a:r>
          </a:p>
        </p:txBody>
      </p:sp>
      <p:sp>
        <p:nvSpPr>
          <p:cNvPr id="322" name="Rounded Rectangle 321"/>
          <p:cNvSpPr/>
          <p:nvPr/>
        </p:nvSpPr>
        <p:spPr>
          <a:xfrm>
            <a:off x="9646920" y="1417320"/>
            <a:ext cx="1874519" cy="960120"/>
          </a:xfrm>
          <a:prstGeom prst="roundRect">
            <a:avLst>
              <a:gd name="adj" fmla="val 12000"/>
            </a:avLst>
          </a:prstGeom>
          <a:solidFill>
            <a:srgbClr val="E8EEF6"/>
          </a:solidFill>
          <a:ln w="15875">
            <a:solidFill>
              <a:srgbClr val="0133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262626"/>
                </a:solidFill>
                <a:latin typeface="Calibri"/>
              </a:rPr>
              <a:t>SHAP explainer</a:t>
            </a:r>
          </a:p>
          <a:p>
            <a:pPr algn="ctr"/>
            <a:r>
              <a:rPr sz="1200" b="0">
                <a:solidFill>
                  <a:srgbClr val="595959"/>
                </a:solidFill>
                <a:latin typeface="Calibri"/>
              </a:rPr>
              <a:t>giải thích từng cảnh báo</a:t>
            </a:r>
          </a:p>
        </p:txBody>
      </p:sp>
      <p:cxnSp>
        <p:nvCxnSpPr>
          <p:cNvPr id="323" name="Connector 322"/>
          <p:cNvCxnSpPr/>
          <p:nvPr/>
        </p:nvCxnSpPr>
        <p:spPr>
          <a:xfrm>
            <a:off x="2377439" y="1897380"/>
            <a:ext cx="411481" cy="0"/>
          </a:xfrm>
          <a:prstGeom prst="line">
            <a:avLst/>
          </a:prstGeom>
          <a:ln w="19050">
            <a:solidFill>
              <a:srgbClr val="0133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>
            <a:off x="4663440" y="1897380"/>
            <a:ext cx="411480" cy="0"/>
          </a:xfrm>
          <a:prstGeom prst="line">
            <a:avLst/>
          </a:prstGeom>
          <a:ln w="19050">
            <a:solidFill>
              <a:srgbClr val="0133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5" name="Rounded Rectangle 324"/>
          <p:cNvSpPr/>
          <p:nvPr/>
        </p:nvSpPr>
        <p:spPr>
          <a:xfrm>
            <a:off x="502920" y="4069080"/>
            <a:ext cx="1874519" cy="960120"/>
          </a:xfrm>
          <a:prstGeom prst="roundRect">
            <a:avLst>
              <a:gd name="adj" fmla="val 12000"/>
            </a:avLst>
          </a:prstGeom>
          <a:solidFill>
            <a:srgbClr val="E8EEF6"/>
          </a:solidFill>
          <a:ln w="15875">
            <a:solidFill>
              <a:srgbClr val="0133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262626"/>
                </a:solidFill>
                <a:latin typeface="Calibri"/>
              </a:rPr>
              <a:t>Luồng mạng</a:t>
            </a:r>
          </a:p>
          <a:p>
            <a:pPr algn="ctr"/>
            <a:r>
              <a:rPr sz="1200" b="0">
                <a:solidFill>
                  <a:srgbClr val="595959"/>
                </a:solidFill>
                <a:latin typeface="Calibri"/>
              </a:rPr>
              <a:t>replay, có họ tấn công bị giữ lại</a:t>
            </a:r>
          </a:p>
        </p:txBody>
      </p:sp>
      <p:sp>
        <p:nvSpPr>
          <p:cNvPr id="326" name="Rounded Rectangle 325"/>
          <p:cNvSpPr/>
          <p:nvPr/>
        </p:nvSpPr>
        <p:spPr>
          <a:xfrm>
            <a:off x="2788920" y="4069080"/>
            <a:ext cx="1874519" cy="960120"/>
          </a:xfrm>
          <a:prstGeom prst="roundRect">
            <a:avLst>
              <a:gd name="adj" fmla="val 12000"/>
            </a:avLst>
          </a:prstGeom>
          <a:solidFill>
            <a:srgbClr val="E8EEF6"/>
          </a:solidFill>
          <a:ln w="15875">
            <a:solidFill>
              <a:srgbClr val="0133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262626"/>
                </a:solidFill>
                <a:latin typeface="Calibri"/>
              </a:rPr>
              <a:t>Trích xuất flow</a:t>
            </a:r>
          </a:p>
          <a:p>
            <a:pPr algn="ctr"/>
            <a:r>
              <a:rPr sz="1200" b="0">
                <a:solidFill>
                  <a:srgbClr val="595959"/>
                </a:solidFill>
                <a:latin typeface="Calibri"/>
              </a:rPr>
              <a:t>nProbe / CICFlowMeter</a:t>
            </a:r>
          </a:p>
        </p:txBody>
      </p:sp>
      <p:sp>
        <p:nvSpPr>
          <p:cNvPr id="327" name="Rounded Rectangle 326"/>
          <p:cNvSpPr/>
          <p:nvPr/>
        </p:nvSpPr>
        <p:spPr>
          <a:xfrm>
            <a:off x="5074920" y="4069080"/>
            <a:ext cx="1874519" cy="960120"/>
          </a:xfrm>
          <a:prstGeom prst="roundRect">
            <a:avLst>
              <a:gd name="adj" fmla="val 12000"/>
            </a:avLst>
          </a:prstGeom>
          <a:solidFill>
            <a:srgbClr val="E8EEF6"/>
          </a:solidFill>
          <a:ln w="15875">
            <a:solidFill>
              <a:srgbClr val="0133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 dirty="0" err="1">
                <a:solidFill>
                  <a:srgbClr val="262626"/>
                </a:solidFill>
                <a:latin typeface="Calibri"/>
              </a:rPr>
              <a:t>Bộ</a:t>
            </a:r>
            <a:r>
              <a:rPr sz="1400" b="1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262626"/>
                </a:solidFill>
                <a:latin typeface="Calibri"/>
              </a:rPr>
              <a:t>phát</a:t>
            </a:r>
            <a:r>
              <a:rPr sz="1400" b="1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262626"/>
                </a:solidFill>
                <a:latin typeface="Calibri"/>
              </a:rPr>
              <a:t>hiện</a:t>
            </a:r>
            <a:r>
              <a:rPr sz="1400" b="1" dirty="0">
                <a:solidFill>
                  <a:srgbClr val="262626"/>
                </a:solidFill>
                <a:latin typeface="Calibri"/>
              </a:rPr>
              <a:t> open-set</a:t>
            </a:r>
          </a:p>
          <a:p>
            <a:pPr algn="ctr"/>
            <a:r>
              <a:rPr sz="1200" b="0" dirty="0" err="1">
                <a:solidFill>
                  <a:srgbClr val="595959"/>
                </a:solidFill>
                <a:latin typeface="Calibri"/>
              </a:rPr>
              <a:t>bình</a:t>
            </a:r>
            <a:r>
              <a:rPr sz="12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95959"/>
                </a:solidFill>
                <a:latin typeface="Calibri"/>
              </a:rPr>
              <a:t>thường</a:t>
            </a:r>
            <a:r>
              <a:rPr sz="1200" b="0" dirty="0">
                <a:solidFill>
                  <a:srgbClr val="595959"/>
                </a:solidFill>
                <a:latin typeface="Calibri"/>
              </a:rPr>
              <a:t> / </a:t>
            </a:r>
            <a:r>
              <a:rPr sz="1200" b="0" dirty="0" err="1">
                <a:solidFill>
                  <a:srgbClr val="595959"/>
                </a:solidFill>
                <a:latin typeface="Calibri"/>
              </a:rPr>
              <a:t>đã</a:t>
            </a:r>
            <a:r>
              <a:rPr sz="12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95959"/>
                </a:solidFill>
                <a:latin typeface="Calibri"/>
              </a:rPr>
              <a:t>biết</a:t>
            </a:r>
            <a:r>
              <a:rPr sz="1200" b="0" dirty="0">
                <a:solidFill>
                  <a:srgbClr val="595959"/>
                </a:solidFill>
                <a:latin typeface="Calibri"/>
              </a:rPr>
              <a:t> / </a:t>
            </a:r>
            <a:r>
              <a:rPr sz="1200" b="0" dirty="0" err="1">
                <a:solidFill>
                  <a:srgbClr val="595959"/>
                </a:solidFill>
                <a:latin typeface="Calibri"/>
              </a:rPr>
              <a:t>chưa</a:t>
            </a:r>
            <a:r>
              <a:rPr sz="12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95959"/>
                </a:solidFill>
                <a:latin typeface="Calibri"/>
              </a:rPr>
              <a:t>biết</a:t>
            </a:r>
            <a:endParaRPr sz="1200" b="0" dirty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328" name="Rounded Rectangle 327"/>
          <p:cNvSpPr/>
          <p:nvPr/>
        </p:nvSpPr>
        <p:spPr>
          <a:xfrm>
            <a:off x="7360920" y="4069080"/>
            <a:ext cx="1874519" cy="960120"/>
          </a:xfrm>
          <a:prstGeom prst="roundRect">
            <a:avLst>
              <a:gd name="adj" fmla="val 12000"/>
            </a:avLst>
          </a:prstGeom>
          <a:solidFill>
            <a:srgbClr val="E8EEF6"/>
          </a:solidFill>
          <a:ln w="15875">
            <a:solidFill>
              <a:srgbClr val="0133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 dirty="0">
                <a:solidFill>
                  <a:srgbClr val="262626"/>
                </a:solidFill>
                <a:latin typeface="Calibri"/>
              </a:rPr>
              <a:t>Risk Engine</a:t>
            </a:r>
          </a:p>
          <a:p>
            <a:pPr algn="ctr"/>
            <a:r>
              <a:rPr sz="1200" dirty="0">
                <a:solidFill>
                  <a:srgbClr val="595959"/>
                </a:solidFill>
                <a:latin typeface="Calibri"/>
              </a:rPr>
              <a:t>Likelihood × Impact</a:t>
            </a:r>
          </a:p>
        </p:txBody>
      </p:sp>
      <p:sp>
        <p:nvSpPr>
          <p:cNvPr id="329" name="Rounded Rectangle 328"/>
          <p:cNvSpPr/>
          <p:nvPr/>
        </p:nvSpPr>
        <p:spPr>
          <a:xfrm>
            <a:off x="9646920" y="4069080"/>
            <a:ext cx="1874519" cy="960120"/>
          </a:xfrm>
          <a:prstGeom prst="roundRect">
            <a:avLst>
              <a:gd name="adj" fmla="val 12000"/>
            </a:avLst>
          </a:prstGeom>
          <a:solidFill>
            <a:srgbClr val="E8EEF6"/>
          </a:solidFill>
          <a:ln w="15875">
            <a:solidFill>
              <a:srgbClr val="0133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262626"/>
                </a:solidFill>
                <a:latin typeface="Calibri"/>
              </a:rPr>
              <a:t>Dashboard</a:t>
            </a:r>
          </a:p>
          <a:p>
            <a:pPr algn="ctr"/>
            <a:r>
              <a:rPr sz="1200" b="0">
                <a:solidFill>
                  <a:srgbClr val="595959"/>
                </a:solidFill>
                <a:latin typeface="Calibri"/>
              </a:rPr>
              <a:t>ma trận rủi ro, hàng đợi xác minh</a:t>
            </a:r>
          </a:p>
        </p:txBody>
      </p:sp>
      <p:cxnSp>
        <p:nvCxnSpPr>
          <p:cNvPr id="330" name="Connector 329"/>
          <p:cNvCxnSpPr/>
          <p:nvPr/>
        </p:nvCxnSpPr>
        <p:spPr>
          <a:xfrm>
            <a:off x="2377439" y="4549140"/>
            <a:ext cx="411481" cy="0"/>
          </a:xfrm>
          <a:prstGeom prst="line">
            <a:avLst/>
          </a:prstGeom>
          <a:ln w="19050">
            <a:solidFill>
              <a:srgbClr val="0133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4663440" y="4549140"/>
            <a:ext cx="411480" cy="0"/>
          </a:xfrm>
          <a:prstGeom prst="line">
            <a:avLst/>
          </a:prstGeom>
          <a:ln w="19050">
            <a:solidFill>
              <a:srgbClr val="0133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>
            <a:off x="6949440" y="4549140"/>
            <a:ext cx="411480" cy="0"/>
          </a:xfrm>
          <a:prstGeom prst="line">
            <a:avLst/>
          </a:prstGeom>
          <a:ln w="19050">
            <a:solidFill>
              <a:srgbClr val="0133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>
            <a:off x="9235440" y="4549140"/>
            <a:ext cx="411480" cy="0"/>
          </a:xfrm>
          <a:prstGeom prst="line">
            <a:avLst/>
          </a:prstGeom>
          <a:ln w="19050">
            <a:solidFill>
              <a:srgbClr val="0133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>
            <a:off x="6012179" y="2377440"/>
            <a:ext cx="0" cy="1691640"/>
          </a:xfrm>
          <a:prstGeom prst="line">
            <a:avLst/>
          </a:prstGeom>
          <a:ln w="19050">
            <a:solidFill>
              <a:srgbClr val="C014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5" name="TextBox 334"/>
          <p:cNvSpPr txBox="1"/>
          <p:nvPr/>
        </p:nvSpPr>
        <p:spPr>
          <a:xfrm>
            <a:off x="6085331" y="297180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C0141B"/>
                </a:solidFill>
                <a:latin typeface="Calibri"/>
              </a:rPr>
              <a:t>mô hình tốt nhất</a:t>
            </a:r>
          </a:p>
        </p:txBody>
      </p:sp>
      <p:cxnSp>
        <p:nvCxnSpPr>
          <p:cNvPr id="336" name="Connector 335"/>
          <p:cNvCxnSpPr/>
          <p:nvPr/>
        </p:nvCxnSpPr>
        <p:spPr>
          <a:xfrm>
            <a:off x="8298180" y="2377440"/>
            <a:ext cx="0" cy="1691640"/>
          </a:xfrm>
          <a:prstGeom prst="line">
            <a:avLst/>
          </a:prstGeom>
          <a:ln w="19050">
            <a:solidFill>
              <a:srgbClr val="C014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7" name="TextBox 336"/>
          <p:cNvSpPr txBox="1"/>
          <p:nvPr/>
        </p:nvSpPr>
        <p:spPr>
          <a:xfrm>
            <a:off x="8371332" y="297180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C0141B"/>
                </a:solidFill>
                <a:latin typeface="Calibri"/>
              </a:rPr>
              <a:t>mức tác động</a:t>
            </a:r>
          </a:p>
        </p:txBody>
      </p:sp>
      <p:cxnSp>
        <p:nvCxnSpPr>
          <p:cNvPr id="338" name="Connector 337"/>
          <p:cNvCxnSpPr/>
          <p:nvPr/>
        </p:nvCxnSpPr>
        <p:spPr>
          <a:xfrm>
            <a:off x="10584180" y="2377440"/>
            <a:ext cx="0" cy="1691640"/>
          </a:xfrm>
          <a:prstGeom prst="line">
            <a:avLst/>
          </a:prstGeom>
          <a:ln w="19050">
            <a:solidFill>
              <a:srgbClr val="C014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9" name="TextBox 338"/>
          <p:cNvSpPr txBox="1"/>
          <p:nvPr/>
        </p:nvSpPr>
        <p:spPr>
          <a:xfrm>
            <a:off x="10657332" y="297180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C0141B"/>
                </a:solidFill>
                <a:latin typeface="Calibri"/>
              </a:rPr>
              <a:t>giải thích</a:t>
            </a:r>
          </a:p>
        </p:txBody>
      </p:sp>
    </p:spTree>
    <p:extLst>
      <p:ext uri="{BB962C8B-B14F-4D97-AF65-F5344CB8AC3E}">
        <p14:creationId xmlns:p14="http://schemas.microsoft.com/office/powerpoint/2010/main" val="444211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7966B-1DE5-52D5-A077-5120E269C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Shape 1">
            <a:extLst>
              <a:ext uri="{FF2B5EF4-FFF2-40B4-BE49-F238E27FC236}">
                <a16:creationId xmlns:a16="http://schemas.microsoft.com/office/drawing/2014/main" id="{E269349D-DB91-DDDA-D3AD-13FE0661EF77}"/>
              </a:ext>
            </a:extLst>
          </p:cNvPr>
          <p:cNvSpPr txBox="1"/>
          <p:nvPr/>
        </p:nvSpPr>
        <p:spPr>
          <a:xfrm>
            <a:off x="338760" y="1058760"/>
            <a:ext cx="6400800" cy="4908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vi-VN" sz="1800" b="1" i="0"/>
              <a:t>Khả năng xảy ra L (1–5): </a:t>
            </a:r>
            <a:r>
              <a:rPr lang="vi-VN" sz="1800" b="0" i="0"/>
              <a:t>từ tần suất cảnh báo và độ tin cậy của mô hình trong cửa sổ thời gian</a:t>
            </a:r>
            <a:endParaRPr lang="vi-V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vi-VN" sz="1800" b="1" i="0"/>
              <a:t>Tác động I (1–5): </a:t>
            </a:r>
            <a:r>
              <a:rPr lang="vi-VN" sz="1800" b="0" i="0"/>
              <a:t>theo loại tấn công (bí mật, toàn vẹn, sẵn sàng) và độ quan trọng của tài sản</a:t>
            </a: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vi-VN" sz="1800" b="1" i="0"/>
              <a:t>Tấn công chưa biết: </a:t>
            </a:r>
            <a:r>
              <a:rPr lang="vi-VN" sz="1800" b="0" i="0"/>
              <a:t>L từ điểm OOD và tần suất; I gán mức thận trọng, chờ chuyên viên xác minh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vi-VN" sz="1800" b="1" i="0"/>
              <a:t>Rủi ro R = L × I: </a:t>
            </a:r>
            <a:r>
              <a:rPr lang="vi-VN" sz="1800" b="0" i="0"/>
              <a:t>5 mức, từ rất thấp đến rất cao (NIST SP 800-30, ISO/IEC 27005)</a:t>
            </a:r>
          </a:p>
        </p:txBody>
      </p:sp>
      <p:sp>
        <p:nvSpPr>
          <p:cNvPr id="313" name="TextShape 2">
            <a:extLst>
              <a:ext uri="{FF2B5EF4-FFF2-40B4-BE49-F238E27FC236}">
                <a16:creationId xmlns:a16="http://schemas.microsoft.com/office/drawing/2014/main" id="{9BBE9FD3-A9D5-71FE-72E3-672B6138213C}"/>
              </a:ext>
            </a:extLst>
          </p:cNvPr>
          <p:cNvSpPr txBox="1"/>
          <p:nvPr/>
        </p:nvSpPr>
        <p:spPr>
          <a:xfrm>
            <a:off x="338760" y="11268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3200" b="0" i="0" spc="-1">
                <a:solidFill>
                  <a:schemeClr val="bg1"/>
                </a:solidFill>
                <a:latin typeface="Calibri"/>
              </a:rPr>
              <a:t>7. Mô hình đánh giá rủi ro: Khả năng × Tác động</a:t>
            </a:r>
            <a:endParaRPr lang="en-US" sz="3200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314" name="TextBox 313"/>
          <p:cNvSpPr txBox="1"/>
          <p:nvPr/>
        </p:nvSpPr>
        <p:spPr>
          <a:xfrm rot="16200000">
            <a:off x="7360920" y="28803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013364"/>
                </a:solidFill>
                <a:latin typeface="Calibri"/>
              </a:rPr>
              <a:t>Tác động (I)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8503920" y="481888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013364"/>
                </a:solidFill>
                <a:latin typeface="Calibri"/>
              </a:rPr>
              <a:t>Khả năng xảy ra (L)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8092440" y="1600200"/>
            <a:ext cx="365760" cy="5303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013364"/>
                </a:solidFill>
                <a:latin typeface="Calibri"/>
              </a:rPr>
              <a:t>5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8503920" y="1600200"/>
            <a:ext cx="530352" cy="530352"/>
          </a:xfrm>
          <a:prstGeom prst="rect">
            <a:avLst/>
          </a:prstGeom>
          <a:solidFill>
            <a:srgbClr val="C6E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5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9070848" y="1600200"/>
            <a:ext cx="530352" cy="530352"/>
          </a:xfrm>
          <a:prstGeom prst="rect">
            <a:avLst/>
          </a:prstGeom>
          <a:solidFill>
            <a:srgbClr val="FFE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10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9637776" y="1600200"/>
            <a:ext cx="530352" cy="530352"/>
          </a:xfrm>
          <a:prstGeom prst="rect">
            <a:avLst/>
          </a:prstGeom>
          <a:solidFill>
            <a:srgbClr val="F6A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15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10204704" y="1600200"/>
            <a:ext cx="530352" cy="530352"/>
          </a:xfrm>
          <a:prstGeom prst="rect">
            <a:avLst/>
          </a:prstGeom>
          <a:solidFill>
            <a:srgbClr val="E0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20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10771632" y="1600200"/>
            <a:ext cx="530352" cy="530352"/>
          </a:xfrm>
          <a:prstGeom prst="rect">
            <a:avLst/>
          </a:prstGeom>
          <a:solidFill>
            <a:srgbClr val="E0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25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8092440" y="2167128"/>
            <a:ext cx="365760" cy="5303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013364"/>
                </a:solidFill>
                <a:latin typeface="Calibri"/>
              </a:rPr>
              <a:t>4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8503920" y="2167128"/>
            <a:ext cx="530352" cy="530352"/>
          </a:xfrm>
          <a:prstGeom prst="rect">
            <a:avLst/>
          </a:prstGeom>
          <a:solidFill>
            <a:srgbClr val="C6E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4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9070848" y="2167128"/>
            <a:ext cx="530352" cy="530352"/>
          </a:xfrm>
          <a:prstGeom prst="rect">
            <a:avLst/>
          </a:prstGeom>
          <a:solidFill>
            <a:srgbClr val="FFE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8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9637776" y="2167128"/>
            <a:ext cx="530352" cy="530352"/>
          </a:xfrm>
          <a:prstGeom prst="rect">
            <a:avLst/>
          </a:prstGeom>
          <a:solidFill>
            <a:srgbClr val="FFE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12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10204704" y="2167128"/>
            <a:ext cx="530352" cy="530352"/>
          </a:xfrm>
          <a:prstGeom prst="rect">
            <a:avLst/>
          </a:prstGeom>
          <a:solidFill>
            <a:srgbClr val="F6A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16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10771632" y="2167128"/>
            <a:ext cx="530352" cy="530352"/>
          </a:xfrm>
          <a:prstGeom prst="rect">
            <a:avLst/>
          </a:prstGeom>
          <a:solidFill>
            <a:srgbClr val="E0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20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8092440" y="2734056"/>
            <a:ext cx="365760" cy="5303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013364"/>
                </a:solidFill>
                <a:latin typeface="Calibri"/>
              </a:rPr>
              <a:t>3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8503920" y="2734056"/>
            <a:ext cx="530352" cy="530352"/>
          </a:xfrm>
          <a:prstGeom prst="rect">
            <a:avLst/>
          </a:prstGeom>
          <a:solidFill>
            <a:srgbClr val="63B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3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9070848" y="2734056"/>
            <a:ext cx="530352" cy="530352"/>
          </a:xfrm>
          <a:prstGeom prst="rect">
            <a:avLst/>
          </a:prstGeom>
          <a:solidFill>
            <a:srgbClr val="C6E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6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9637776" y="2734056"/>
            <a:ext cx="530352" cy="530352"/>
          </a:xfrm>
          <a:prstGeom prst="rect">
            <a:avLst/>
          </a:prstGeom>
          <a:solidFill>
            <a:srgbClr val="FFE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9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10204704" y="2734056"/>
            <a:ext cx="530352" cy="530352"/>
          </a:xfrm>
          <a:prstGeom prst="rect">
            <a:avLst/>
          </a:prstGeom>
          <a:solidFill>
            <a:srgbClr val="FFE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12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10771632" y="2734056"/>
            <a:ext cx="530352" cy="530352"/>
          </a:xfrm>
          <a:prstGeom prst="rect">
            <a:avLst/>
          </a:prstGeom>
          <a:solidFill>
            <a:srgbClr val="F6A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15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8092440" y="3300984"/>
            <a:ext cx="365760" cy="5303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013364"/>
                </a:solidFill>
                <a:latin typeface="Calibri"/>
              </a:rPr>
              <a:t>2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8503920" y="3300984"/>
            <a:ext cx="530352" cy="530352"/>
          </a:xfrm>
          <a:prstGeom prst="rect">
            <a:avLst/>
          </a:prstGeom>
          <a:solidFill>
            <a:srgbClr val="63B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2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9070848" y="3300984"/>
            <a:ext cx="530352" cy="530352"/>
          </a:xfrm>
          <a:prstGeom prst="rect">
            <a:avLst/>
          </a:prstGeom>
          <a:solidFill>
            <a:srgbClr val="C6E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4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9637776" y="3300984"/>
            <a:ext cx="530352" cy="530352"/>
          </a:xfrm>
          <a:prstGeom prst="rect">
            <a:avLst/>
          </a:prstGeom>
          <a:solidFill>
            <a:srgbClr val="C6E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6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10204704" y="3300984"/>
            <a:ext cx="530352" cy="530352"/>
          </a:xfrm>
          <a:prstGeom prst="rect">
            <a:avLst/>
          </a:prstGeom>
          <a:solidFill>
            <a:srgbClr val="FFE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8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10771632" y="3300984"/>
            <a:ext cx="530352" cy="530352"/>
          </a:xfrm>
          <a:prstGeom prst="rect">
            <a:avLst/>
          </a:prstGeom>
          <a:solidFill>
            <a:srgbClr val="FFE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10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8092440" y="3867912"/>
            <a:ext cx="365760" cy="5303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013364"/>
                </a:solidFill>
                <a:latin typeface="Calibri"/>
              </a:rPr>
              <a:t>1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8503920" y="3867912"/>
            <a:ext cx="530352" cy="530352"/>
          </a:xfrm>
          <a:prstGeom prst="rect">
            <a:avLst/>
          </a:prstGeom>
          <a:solidFill>
            <a:srgbClr val="63B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1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9070848" y="3867912"/>
            <a:ext cx="530352" cy="530352"/>
          </a:xfrm>
          <a:prstGeom prst="rect">
            <a:avLst/>
          </a:prstGeom>
          <a:solidFill>
            <a:srgbClr val="63B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2</a:t>
            </a:r>
          </a:p>
        </p:txBody>
      </p:sp>
      <p:sp>
        <p:nvSpPr>
          <p:cNvPr id="343" name="Rectangle 342"/>
          <p:cNvSpPr/>
          <p:nvPr/>
        </p:nvSpPr>
        <p:spPr>
          <a:xfrm>
            <a:off x="9637776" y="3867912"/>
            <a:ext cx="530352" cy="530352"/>
          </a:xfrm>
          <a:prstGeom prst="rect">
            <a:avLst/>
          </a:prstGeom>
          <a:solidFill>
            <a:srgbClr val="63B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3</a:t>
            </a:r>
          </a:p>
        </p:txBody>
      </p:sp>
      <p:sp>
        <p:nvSpPr>
          <p:cNvPr id="344" name="Rectangle 343"/>
          <p:cNvSpPr/>
          <p:nvPr/>
        </p:nvSpPr>
        <p:spPr>
          <a:xfrm>
            <a:off x="10204704" y="3867912"/>
            <a:ext cx="530352" cy="530352"/>
          </a:xfrm>
          <a:prstGeom prst="rect">
            <a:avLst/>
          </a:prstGeom>
          <a:solidFill>
            <a:srgbClr val="C6E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4</a:t>
            </a:r>
          </a:p>
        </p:txBody>
      </p:sp>
      <p:sp>
        <p:nvSpPr>
          <p:cNvPr id="345" name="Rectangle 344"/>
          <p:cNvSpPr/>
          <p:nvPr/>
        </p:nvSpPr>
        <p:spPr>
          <a:xfrm>
            <a:off x="10771632" y="3867912"/>
            <a:ext cx="530352" cy="530352"/>
          </a:xfrm>
          <a:prstGeom prst="rect">
            <a:avLst/>
          </a:prstGeom>
          <a:solidFill>
            <a:srgbClr val="C6E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5</a:t>
            </a:r>
          </a:p>
        </p:txBody>
      </p:sp>
      <p:sp>
        <p:nvSpPr>
          <p:cNvPr id="346" name="Rectangle 345"/>
          <p:cNvSpPr/>
          <p:nvPr/>
        </p:nvSpPr>
        <p:spPr>
          <a:xfrm>
            <a:off x="8503920" y="4434840"/>
            <a:ext cx="530352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013364"/>
                </a:solidFill>
                <a:latin typeface="Calibri"/>
              </a:rPr>
              <a:t>1</a:t>
            </a:r>
          </a:p>
        </p:txBody>
      </p:sp>
      <p:sp>
        <p:nvSpPr>
          <p:cNvPr id="347" name="Rectangle 346"/>
          <p:cNvSpPr/>
          <p:nvPr/>
        </p:nvSpPr>
        <p:spPr>
          <a:xfrm>
            <a:off x="9070848" y="4434840"/>
            <a:ext cx="530352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013364"/>
                </a:solidFill>
                <a:latin typeface="Calibri"/>
              </a:rPr>
              <a:t>2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9637776" y="4434840"/>
            <a:ext cx="530352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013364"/>
                </a:solidFill>
                <a:latin typeface="Calibri"/>
              </a:rPr>
              <a:t>3</a:t>
            </a:r>
          </a:p>
        </p:txBody>
      </p:sp>
      <p:sp>
        <p:nvSpPr>
          <p:cNvPr id="349" name="Rectangle 348"/>
          <p:cNvSpPr/>
          <p:nvPr/>
        </p:nvSpPr>
        <p:spPr>
          <a:xfrm>
            <a:off x="10204704" y="4434840"/>
            <a:ext cx="530352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013364"/>
                </a:solidFill>
                <a:latin typeface="Calibri"/>
              </a:rPr>
              <a:t>4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10771632" y="4434840"/>
            <a:ext cx="530352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013364"/>
                </a:solidFill>
                <a:latin typeface="Calibri"/>
              </a:rPr>
              <a:t>5</a:t>
            </a:r>
          </a:p>
        </p:txBody>
      </p:sp>
      <p:sp>
        <p:nvSpPr>
          <p:cNvPr id="351" name="Rectangle 350"/>
          <p:cNvSpPr/>
          <p:nvPr/>
        </p:nvSpPr>
        <p:spPr>
          <a:xfrm>
            <a:off x="8503920" y="1051560"/>
            <a:ext cx="182880" cy="164592"/>
          </a:xfrm>
          <a:prstGeom prst="rect">
            <a:avLst/>
          </a:prstGeom>
          <a:solidFill>
            <a:srgbClr val="63B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2" name="TextBox 351"/>
          <p:cNvSpPr txBox="1"/>
          <p:nvPr/>
        </p:nvSpPr>
        <p:spPr>
          <a:xfrm>
            <a:off x="8732520" y="1033271"/>
            <a:ext cx="8229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Rất thấp</a:t>
            </a:r>
          </a:p>
        </p:txBody>
      </p:sp>
      <p:sp>
        <p:nvSpPr>
          <p:cNvPr id="353" name="Rectangle 352"/>
          <p:cNvSpPr/>
          <p:nvPr/>
        </p:nvSpPr>
        <p:spPr>
          <a:xfrm>
            <a:off x="9555480" y="1051560"/>
            <a:ext cx="182880" cy="164592"/>
          </a:xfrm>
          <a:prstGeom prst="rect">
            <a:avLst/>
          </a:prstGeom>
          <a:solidFill>
            <a:srgbClr val="C6E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4" name="TextBox 353"/>
          <p:cNvSpPr txBox="1"/>
          <p:nvPr/>
        </p:nvSpPr>
        <p:spPr>
          <a:xfrm>
            <a:off x="9784080" y="1033271"/>
            <a:ext cx="8229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Thấp</a:t>
            </a:r>
          </a:p>
        </p:txBody>
      </p:sp>
      <p:sp>
        <p:nvSpPr>
          <p:cNvPr id="355" name="Rectangle 354"/>
          <p:cNvSpPr/>
          <p:nvPr/>
        </p:nvSpPr>
        <p:spPr>
          <a:xfrm>
            <a:off x="10607040" y="1051560"/>
            <a:ext cx="182880" cy="164592"/>
          </a:xfrm>
          <a:prstGeom prst="rect">
            <a:avLst/>
          </a:prstGeom>
          <a:solidFill>
            <a:srgbClr val="FFE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6" name="TextBox 355"/>
          <p:cNvSpPr txBox="1"/>
          <p:nvPr/>
        </p:nvSpPr>
        <p:spPr>
          <a:xfrm>
            <a:off x="10835640" y="1033271"/>
            <a:ext cx="8229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Trung bình</a:t>
            </a:r>
          </a:p>
        </p:txBody>
      </p:sp>
      <p:sp>
        <p:nvSpPr>
          <p:cNvPr id="357" name="Rectangle 356"/>
          <p:cNvSpPr/>
          <p:nvPr/>
        </p:nvSpPr>
        <p:spPr>
          <a:xfrm>
            <a:off x="8503920" y="1298448"/>
            <a:ext cx="182880" cy="164592"/>
          </a:xfrm>
          <a:prstGeom prst="rect">
            <a:avLst/>
          </a:prstGeom>
          <a:solidFill>
            <a:srgbClr val="F6A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8" name="TextBox 357"/>
          <p:cNvSpPr txBox="1"/>
          <p:nvPr/>
        </p:nvSpPr>
        <p:spPr>
          <a:xfrm>
            <a:off x="8732520" y="1280160"/>
            <a:ext cx="8229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Cao</a:t>
            </a:r>
          </a:p>
        </p:txBody>
      </p:sp>
      <p:sp>
        <p:nvSpPr>
          <p:cNvPr id="359" name="Rectangle 358"/>
          <p:cNvSpPr/>
          <p:nvPr/>
        </p:nvSpPr>
        <p:spPr>
          <a:xfrm>
            <a:off x="9555480" y="1298448"/>
            <a:ext cx="182880" cy="164592"/>
          </a:xfrm>
          <a:prstGeom prst="rect">
            <a:avLst/>
          </a:prstGeom>
          <a:solidFill>
            <a:srgbClr val="E0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0" name="TextBox 359"/>
          <p:cNvSpPr txBox="1"/>
          <p:nvPr/>
        </p:nvSpPr>
        <p:spPr>
          <a:xfrm>
            <a:off x="9784080" y="1280160"/>
            <a:ext cx="8229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Rất cao</a:t>
            </a:r>
          </a:p>
        </p:txBody>
      </p:sp>
    </p:spTree>
    <p:extLst>
      <p:ext uri="{BB962C8B-B14F-4D97-AF65-F5344CB8AC3E}">
        <p14:creationId xmlns:p14="http://schemas.microsoft.com/office/powerpoint/2010/main" val="1962851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B875E-97EE-CEDB-703E-BF87DACC5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TextShape 2">
            <a:extLst>
              <a:ext uri="{FF2B5EF4-FFF2-40B4-BE49-F238E27FC236}">
                <a16:creationId xmlns:a16="http://schemas.microsoft.com/office/drawing/2014/main" id="{CB47BE62-47EB-47C6-3242-C1F1EA85DFBC}"/>
              </a:ext>
            </a:extLst>
          </p:cNvPr>
          <p:cNvSpPr txBox="1"/>
          <p:nvPr/>
        </p:nvSpPr>
        <p:spPr>
          <a:xfrm>
            <a:off x="338760" y="11268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3200" b="0" i="0" spc="-1">
                <a:solidFill>
                  <a:schemeClr val="bg1"/>
                </a:solidFill>
                <a:latin typeface="Calibri"/>
              </a:rPr>
              <a:t>8. Kiến trúc hệ thống</a:t>
            </a:r>
          </a:p>
        </p:txBody>
      </p:sp>
      <p:sp>
        <p:nvSpPr>
          <p:cNvPr id="314" name="Rounded Rectangle 313"/>
          <p:cNvSpPr/>
          <p:nvPr/>
        </p:nvSpPr>
        <p:spPr>
          <a:xfrm>
            <a:off x="320040" y="960120"/>
            <a:ext cx="2697480" cy="4242816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 w="12700">
            <a:solidFill>
              <a:srgbClr val="8C9BB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TextBox 314"/>
          <p:cNvSpPr txBox="1"/>
          <p:nvPr/>
        </p:nvSpPr>
        <p:spPr>
          <a:xfrm>
            <a:off x="429768" y="996696"/>
            <a:ext cx="24231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013364"/>
                </a:solidFill>
                <a:latin typeface="Calibri"/>
              </a:rPr>
              <a:t>Khối thu thập</a:t>
            </a:r>
          </a:p>
        </p:txBody>
      </p:sp>
      <p:sp>
        <p:nvSpPr>
          <p:cNvPr id="316" name="Rounded Rectangle 315"/>
          <p:cNvSpPr/>
          <p:nvPr/>
        </p:nvSpPr>
        <p:spPr>
          <a:xfrm>
            <a:off x="3246120" y="960120"/>
            <a:ext cx="2697480" cy="4242816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 w="12700">
            <a:solidFill>
              <a:srgbClr val="8C9BB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TextBox 316"/>
          <p:cNvSpPr txBox="1"/>
          <p:nvPr/>
        </p:nvSpPr>
        <p:spPr>
          <a:xfrm>
            <a:off x="3355848" y="996696"/>
            <a:ext cx="24231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013364"/>
                </a:solidFill>
                <a:latin typeface="Calibri"/>
              </a:rPr>
              <a:t>Khối học máy</a:t>
            </a:r>
          </a:p>
        </p:txBody>
      </p:sp>
      <p:sp>
        <p:nvSpPr>
          <p:cNvPr id="318" name="Rounded Rectangle 317"/>
          <p:cNvSpPr/>
          <p:nvPr/>
        </p:nvSpPr>
        <p:spPr>
          <a:xfrm>
            <a:off x="6172200" y="960120"/>
            <a:ext cx="2697480" cy="4242816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 w="12700">
            <a:solidFill>
              <a:srgbClr val="8C9BB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TextBox 318"/>
          <p:cNvSpPr txBox="1"/>
          <p:nvPr/>
        </p:nvSpPr>
        <p:spPr>
          <a:xfrm>
            <a:off x="6281928" y="996696"/>
            <a:ext cx="24231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013364"/>
                </a:solidFill>
                <a:latin typeface="Calibri"/>
              </a:rPr>
              <a:t>Khối đánh giá rủi ro</a:t>
            </a:r>
          </a:p>
        </p:txBody>
      </p:sp>
      <p:sp>
        <p:nvSpPr>
          <p:cNvPr id="320" name="Rounded Rectangle 319"/>
          <p:cNvSpPr/>
          <p:nvPr/>
        </p:nvSpPr>
        <p:spPr>
          <a:xfrm>
            <a:off x="9098280" y="960120"/>
            <a:ext cx="2697480" cy="4242816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 w="12700">
            <a:solidFill>
              <a:srgbClr val="8C9BB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TextBox 320"/>
          <p:cNvSpPr txBox="1"/>
          <p:nvPr/>
        </p:nvSpPr>
        <p:spPr>
          <a:xfrm>
            <a:off x="9208007" y="996696"/>
            <a:ext cx="24231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013364"/>
                </a:solidFill>
                <a:latin typeface="Calibri"/>
              </a:rPr>
              <a:t>Khối lưu trữ &amp; hiển thị</a:t>
            </a:r>
          </a:p>
        </p:txBody>
      </p:sp>
      <p:sp>
        <p:nvSpPr>
          <p:cNvPr id="322" name="Rounded Rectangle 321"/>
          <p:cNvSpPr/>
          <p:nvPr/>
        </p:nvSpPr>
        <p:spPr>
          <a:xfrm>
            <a:off x="548640" y="1508760"/>
            <a:ext cx="2240280" cy="713232"/>
          </a:xfrm>
          <a:prstGeom prst="roundRect">
            <a:avLst>
              <a:gd name="adj" fmla="val 12000"/>
            </a:avLst>
          </a:prstGeom>
          <a:solidFill>
            <a:srgbClr val="E8EEF6"/>
          </a:solidFill>
          <a:ln w="15875">
            <a:solidFill>
              <a:srgbClr val="0133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Hệ thống / mạng giám sát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switch mirror port</a:t>
            </a:r>
          </a:p>
        </p:txBody>
      </p:sp>
      <p:sp>
        <p:nvSpPr>
          <p:cNvPr id="323" name="Rounded Rectangle 322"/>
          <p:cNvSpPr/>
          <p:nvPr/>
        </p:nvSpPr>
        <p:spPr>
          <a:xfrm>
            <a:off x="548640" y="2441448"/>
            <a:ext cx="2240280" cy="713232"/>
          </a:xfrm>
          <a:prstGeom prst="roundRect">
            <a:avLst>
              <a:gd name="adj" fmla="val 12000"/>
            </a:avLst>
          </a:prstGeom>
          <a:solidFill>
            <a:srgbClr val="E8EEF6"/>
          </a:solidFill>
          <a:ln w="15875">
            <a:solidFill>
              <a:srgbClr val="0133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Bộ phát lại (replay)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flow NetFlow v3</a:t>
            </a:r>
          </a:p>
        </p:txBody>
      </p:sp>
      <p:sp>
        <p:nvSpPr>
          <p:cNvPr id="324" name="Rounded Rectangle 323"/>
          <p:cNvSpPr/>
          <p:nvPr/>
        </p:nvSpPr>
        <p:spPr>
          <a:xfrm>
            <a:off x="548640" y="3374136"/>
            <a:ext cx="2240280" cy="713232"/>
          </a:xfrm>
          <a:prstGeom prst="roundRect">
            <a:avLst>
              <a:gd name="adj" fmla="val 12000"/>
            </a:avLst>
          </a:prstGeom>
          <a:solidFill>
            <a:srgbClr val="E8EEF6"/>
          </a:solidFill>
          <a:ln w="15875">
            <a:solidFill>
              <a:srgbClr val="0133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nProbe / CICFlowMeter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gói tin → đặc trưng flow</a:t>
            </a:r>
          </a:p>
        </p:txBody>
      </p:sp>
      <p:sp>
        <p:nvSpPr>
          <p:cNvPr id="325" name="Rounded Rectangle 324"/>
          <p:cNvSpPr/>
          <p:nvPr/>
        </p:nvSpPr>
        <p:spPr>
          <a:xfrm>
            <a:off x="3474720" y="1508760"/>
            <a:ext cx="2240280" cy="713232"/>
          </a:xfrm>
          <a:prstGeom prst="roundRect">
            <a:avLst>
              <a:gd name="adj" fmla="val 12000"/>
            </a:avLst>
          </a:prstGeom>
          <a:solidFill>
            <a:srgbClr val="E8EEF6"/>
          </a:solidFill>
          <a:ln w="15875">
            <a:solidFill>
              <a:srgbClr val="0133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Tiền xử lý đặc trưng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chuẩn hóa như lúc huấn luyện</a:t>
            </a:r>
          </a:p>
        </p:txBody>
      </p:sp>
      <p:sp>
        <p:nvSpPr>
          <p:cNvPr id="326" name="Rounded Rectangle 325"/>
          <p:cNvSpPr/>
          <p:nvPr/>
        </p:nvSpPr>
        <p:spPr>
          <a:xfrm>
            <a:off x="3474720" y="2441448"/>
            <a:ext cx="2240280" cy="713232"/>
          </a:xfrm>
          <a:prstGeom prst="roundRect">
            <a:avLst>
              <a:gd name="adj" fmla="val 12000"/>
            </a:avLst>
          </a:prstGeom>
          <a:solidFill>
            <a:srgbClr val="E8EEF6"/>
          </a:solidFill>
          <a:ln w="15875">
            <a:solidFill>
              <a:srgbClr val="0133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Bộ phát hiện open-set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phân loại + điểm OOD</a:t>
            </a:r>
          </a:p>
        </p:txBody>
      </p:sp>
      <p:sp>
        <p:nvSpPr>
          <p:cNvPr id="327" name="Rounded Rectangle 326"/>
          <p:cNvSpPr/>
          <p:nvPr/>
        </p:nvSpPr>
        <p:spPr>
          <a:xfrm>
            <a:off x="3474720" y="3374136"/>
            <a:ext cx="2240280" cy="713232"/>
          </a:xfrm>
          <a:prstGeom prst="roundRect">
            <a:avLst>
              <a:gd name="adj" fmla="val 12000"/>
            </a:avLst>
          </a:prstGeom>
          <a:solidFill>
            <a:srgbClr val="E8EEF6"/>
          </a:solidFill>
          <a:ln w="15875">
            <a:solidFill>
              <a:srgbClr val="0133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FastAPI /predict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nhãn + điểm bất thường</a:t>
            </a:r>
          </a:p>
        </p:txBody>
      </p:sp>
      <p:sp>
        <p:nvSpPr>
          <p:cNvPr id="328" name="Rounded Rectangle 327"/>
          <p:cNvSpPr/>
          <p:nvPr/>
        </p:nvSpPr>
        <p:spPr>
          <a:xfrm>
            <a:off x="3474720" y="4306824"/>
            <a:ext cx="2240280" cy="713232"/>
          </a:xfrm>
          <a:prstGeom prst="roundRect">
            <a:avLst>
              <a:gd name="adj" fmla="val 12000"/>
            </a:avLst>
          </a:prstGeom>
          <a:solidFill>
            <a:srgbClr val="E8EEF6"/>
          </a:solidFill>
          <a:ln w="15875">
            <a:solidFill>
              <a:srgbClr val="0133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SHAP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giải thích cảnh báo</a:t>
            </a:r>
          </a:p>
        </p:txBody>
      </p:sp>
      <p:sp>
        <p:nvSpPr>
          <p:cNvPr id="329" name="Rounded Rectangle 328"/>
          <p:cNvSpPr/>
          <p:nvPr/>
        </p:nvSpPr>
        <p:spPr>
          <a:xfrm>
            <a:off x="6400800" y="1508760"/>
            <a:ext cx="2240280" cy="713232"/>
          </a:xfrm>
          <a:prstGeom prst="roundRect">
            <a:avLst>
              <a:gd name="adj" fmla="val 12000"/>
            </a:avLst>
          </a:prstGeom>
          <a:solidFill>
            <a:srgbClr val="E8EEF6"/>
          </a:solidFill>
          <a:ln w="15875">
            <a:solidFill>
              <a:srgbClr val="0133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Risk Engine</a:t>
            </a:r>
          </a:p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Likelihood × Impact → 5×5</a:t>
            </a:r>
          </a:p>
        </p:txBody>
      </p:sp>
      <p:sp>
        <p:nvSpPr>
          <p:cNvPr id="330" name="Rounded Rectangle 329"/>
          <p:cNvSpPr/>
          <p:nvPr/>
        </p:nvSpPr>
        <p:spPr>
          <a:xfrm>
            <a:off x="6400800" y="2441448"/>
            <a:ext cx="2240280" cy="713232"/>
          </a:xfrm>
          <a:prstGeom prst="roundRect">
            <a:avLst>
              <a:gd name="adj" fmla="val 12000"/>
            </a:avLst>
          </a:prstGeom>
          <a:solidFill>
            <a:srgbClr val="E8EEF6"/>
          </a:solidFill>
          <a:ln w="15875">
            <a:solidFill>
              <a:srgbClr val="0133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PostgreSQL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tài sản, Impact, kết quả</a:t>
            </a:r>
          </a:p>
        </p:txBody>
      </p:sp>
      <p:sp>
        <p:nvSpPr>
          <p:cNvPr id="331" name="Rounded Rectangle 330"/>
          <p:cNvSpPr/>
          <p:nvPr/>
        </p:nvSpPr>
        <p:spPr>
          <a:xfrm>
            <a:off x="6400800" y="3374136"/>
            <a:ext cx="2240280" cy="713232"/>
          </a:xfrm>
          <a:prstGeom prst="roundRect">
            <a:avLst>
              <a:gd name="adj" fmla="val 12000"/>
            </a:avLst>
          </a:prstGeom>
          <a:solidFill>
            <a:srgbClr val="E8EEF6"/>
          </a:solidFill>
          <a:ln w="15875">
            <a:solidFill>
              <a:srgbClr val="0133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Hàng đợi xác minh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tấn công chưa biết</a:t>
            </a:r>
          </a:p>
        </p:txBody>
      </p:sp>
      <p:sp>
        <p:nvSpPr>
          <p:cNvPr id="332" name="Rounded Rectangle 331"/>
          <p:cNvSpPr/>
          <p:nvPr/>
        </p:nvSpPr>
        <p:spPr>
          <a:xfrm>
            <a:off x="9326880" y="1508760"/>
            <a:ext cx="2240280" cy="713232"/>
          </a:xfrm>
          <a:prstGeom prst="roundRect">
            <a:avLst>
              <a:gd name="adj" fmla="val 12000"/>
            </a:avLst>
          </a:prstGeom>
          <a:solidFill>
            <a:srgbClr val="E8EEF6"/>
          </a:solidFill>
          <a:ln w="15875">
            <a:solidFill>
              <a:srgbClr val="0133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Logstash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nhận log cảnh báo</a:t>
            </a:r>
          </a:p>
        </p:txBody>
      </p:sp>
      <p:sp>
        <p:nvSpPr>
          <p:cNvPr id="333" name="Rounded Rectangle 332"/>
          <p:cNvSpPr/>
          <p:nvPr/>
        </p:nvSpPr>
        <p:spPr>
          <a:xfrm>
            <a:off x="9326880" y="2441448"/>
            <a:ext cx="2240280" cy="713232"/>
          </a:xfrm>
          <a:prstGeom prst="roundRect">
            <a:avLst>
              <a:gd name="adj" fmla="val 12000"/>
            </a:avLst>
          </a:prstGeom>
          <a:solidFill>
            <a:srgbClr val="E8EEF6"/>
          </a:solidFill>
          <a:ln w="15875">
            <a:solidFill>
              <a:srgbClr val="0133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Elasticsearch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lưu trữ &amp; tìm kiếm</a:t>
            </a:r>
          </a:p>
        </p:txBody>
      </p:sp>
      <p:sp>
        <p:nvSpPr>
          <p:cNvPr id="334" name="Rounded Rectangle 333"/>
          <p:cNvSpPr/>
          <p:nvPr/>
        </p:nvSpPr>
        <p:spPr>
          <a:xfrm>
            <a:off x="9326880" y="3374136"/>
            <a:ext cx="2240280" cy="713232"/>
          </a:xfrm>
          <a:prstGeom prst="roundRect">
            <a:avLst>
              <a:gd name="adj" fmla="val 12000"/>
            </a:avLst>
          </a:prstGeom>
          <a:solidFill>
            <a:srgbClr val="E8EEF6"/>
          </a:solidFill>
          <a:ln w="15875">
            <a:solidFill>
              <a:srgbClr val="0133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 dirty="0">
                <a:solidFill>
                  <a:srgbClr val="262626"/>
                </a:solidFill>
                <a:latin typeface="Calibri"/>
              </a:rPr>
              <a:t>Dashboard / Kibana</a:t>
            </a:r>
          </a:p>
          <a:p>
            <a:pPr algn="ctr"/>
            <a:r>
              <a:rPr sz="1100" b="0" dirty="0">
                <a:solidFill>
                  <a:srgbClr val="595959"/>
                </a:solidFill>
                <a:latin typeface="Calibri"/>
              </a:rPr>
              <a:t>ma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trận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rủi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ro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,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cảnh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báo</a:t>
            </a:r>
            <a:endParaRPr sz="1100" b="0" dirty="0">
              <a:solidFill>
                <a:srgbClr val="595959"/>
              </a:solidFill>
              <a:latin typeface="Calibri"/>
            </a:endParaRPr>
          </a:p>
        </p:txBody>
      </p:sp>
      <p:cxnSp>
        <p:nvCxnSpPr>
          <p:cNvPr id="335" name="Connector 334"/>
          <p:cNvCxnSpPr/>
          <p:nvPr/>
        </p:nvCxnSpPr>
        <p:spPr>
          <a:xfrm>
            <a:off x="1668780" y="2221991"/>
            <a:ext cx="0" cy="219457"/>
          </a:xfrm>
          <a:prstGeom prst="line">
            <a:avLst/>
          </a:prstGeom>
          <a:ln w="19050">
            <a:solidFill>
              <a:srgbClr val="0133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1668780" y="3154680"/>
            <a:ext cx="0" cy="219456"/>
          </a:xfrm>
          <a:prstGeom prst="line">
            <a:avLst/>
          </a:prstGeom>
          <a:ln w="19050">
            <a:solidFill>
              <a:srgbClr val="0133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4594860" y="2221991"/>
            <a:ext cx="0" cy="219457"/>
          </a:xfrm>
          <a:prstGeom prst="line">
            <a:avLst/>
          </a:prstGeom>
          <a:ln w="19050">
            <a:solidFill>
              <a:srgbClr val="0133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4594860" y="3154680"/>
            <a:ext cx="0" cy="219456"/>
          </a:xfrm>
          <a:prstGeom prst="line">
            <a:avLst/>
          </a:prstGeom>
          <a:ln w="19050">
            <a:solidFill>
              <a:srgbClr val="0133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10447019" y="2221991"/>
            <a:ext cx="0" cy="219457"/>
          </a:xfrm>
          <a:prstGeom prst="line">
            <a:avLst/>
          </a:prstGeom>
          <a:ln w="19050">
            <a:solidFill>
              <a:srgbClr val="0133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10447019" y="3154680"/>
            <a:ext cx="0" cy="219456"/>
          </a:xfrm>
          <a:prstGeom prst="line">
            <a:avLst/>
          </a:prstGeom>
          <a:ln w="19050">
            <a:solidFill>
              <a:srgbClr val="0133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>
            <a:off x="4594860" y="4087368"/>
            <a:ext cx="0" cy="219456"/>
          </a:xfrm>
          <a:prstGeom prst="line">
            <a:avLst/>
          </a:prstGeom>
          <a:ln w="19050">
            <a:solidFill>
              <a:srgbClr val="0133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7520940" y="2221991"/>
            <a:ext cx="0" cy="219457"/>
          </a:xfrm>
          <a:prstGeom prst="line">
            <a:avLst/>
          </a:prstGeom>
          <a:ln w="19050">
            <a:solidFill>
              <a:srgbClr val="0133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7520940" y="3154680"/>
            <a:ext cx="0" cy="219456"/>
          </a:xfrm>
          <a:prstGeom prst="line">
            <a:avLst/>
          </a:prstGeom>
          <a:ln w="19050">
            <a:solidFill>
              <a:srgbClr val="0133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 flipV="1">
            <a:off x="2788920" y="1865376"/>
            <a:ext cx="685800" cy="1865376"/>
          </a:xfrm>
          <a:prstGeom prst="line">
            <a:avLst/>
          </a:prstGeom>
          <a:ln w="22225">
            <a:solidFill>
              <a:srgbClr val="C014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5" name="Rectangle 344"/>
          <p:cNvSpPr/>
          <p:nvPr/>
        </p:nvSpPr>
        <p:spPr>
          <a:xfrm>
            <a:off x="2802636" y="2670048"/>
            <a:ext cx="658368" cy="256032"/>
          </a:xfrm>
          <a:prstGeom prst="rect">
            <a:avLst/>
          </a:prstGeom>
          <a:solidFill>
            <a:srgbClr val="FFFFFF"/>
          </a:solidFill>
          <a:ln w="15875">
            <a:solidFill>
              <a:srgbClr val="C01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900" b="1">
                <a:solidFill>
                  <a:srgbClr val="C0141B"/>
                </a:solidFill>
                <a:latin typeface="Calibri"/>
              </a:rPr>
              <a:t>① flow</a:t>
            </a:r>
          </a:p>
        </p:txBody>
      </p:sp>
      <p:cxnSp>
        <p:nvCxnSpPr>
          <p:cNvPr id="346" name="Connector 345"/>
          <p:cNvCxnSpPr/>
          <p:nvPr/>
        </p:nvCxnSpPr>
        <p:spPr>
          <a:xfrm flipV="1">
            <a:off x="5715000" y="1865376"/>
            <a:ext cx="685800" cy="1865376"/>
          </a:xfrm>
          <a:prstGeom prst="line">
            <a:avLst/>
          </a:prstGeom>
          <a:ln w="22225">
            <a:solidFill>
              <a:srgbClr val="C014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7" name="Rectangle 346"/>
          <p:cNvSpPr/>
          <p:nvPr/>
        </p:nvSpPr>
        <p:spPr>
          <a:xfrm>
            <a:off x="5728716" y="2670048"/>
            <a:ext cx="658368" cy="256032"/>
          </a:xfrm>
          <a:prstGeom prst="rect">
            <a:avLst/>
          </a:prstGeom>
          <a:solidFill>
            <a:srgbClr val="FFFFFF"/>
          </a:solidFill>
          <a:ln w="15875">
            <a:solidFill>
              <a:srgbClr val="C01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900" b="1">
                <a:solidFill>
                  <a:srgbClr val="C0141B"/>
                </a:solidFill>
                <a:latin typeface="Calibri"/>
              </a:rPr>
              <a:t>② dự đoán</a:t>
            </a:r>
          </a:p>
        </p:txBody>
      </p:sp>
      <p:cxnSp>
        <p:nvCxnSpPr>
          <p:cNvPr id="348" name="Connector 347"/>
          <p:cNvCxnSpPr/>
          <p:nvPr/>
        </p:nvCxnSpPr>
        <p:spPr>
          <a:xfrm>
            <a:off x="8641080" y="1865376"/>
            <a:ext cx="685800" cy="0"/>
          </a:xfrm>
          <a:prstGeom prst="line">
            <a:avLst/>
          </a:prstGeom>
          <a:ln w="22225">
            <a:solidFill>
              <a:srgbClr val="C014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9" name="Rectangle 348"/>
          <p:cNvSpPr/>
          <p:nvPr/>
        </p:nvSpPr>
        <p:spPr>
          <a:xfrm>
            <a:off x="8654796" y="1737360"/>
            <a:ext cx="658368" cy="256032"/>
          </a:xfrm>
          <a:prstGeom prst="rect">
            <a:avLst/>
          </a:prstGeom>
          <a:solidFill>
            <a:srgbClr val="FFFFFF"/>
          </a:solidFill>
          <a:ln w="15875">
            <a:solidFill>
              <a:srgbClr val="C01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900" b="1">
                <a:solidFill>
                  <a:srgbClr val="C0141B"/>
                </a:solidFill>
                <a:latin typeface="Calibri"/>
              </a:rPr>
              <a:t>③ rủi ro</a:t>
            </a:r>
          </a:p>
        </p:txBody>
      </p:sp>
      <p:sp>
        <p:nvSpPr>
          <p:cNvPr id="350" name="Rounded Rectangle 349"/>
          <p:cNvSpPr/>
          <p:nvPr/>
        </p:nvSpPr>
        <p:spPr>
          <a:xfrm>
            <a:off x="9326880" y="4325112"/>
            <a:ext cx="2240280" cy="713232"/>
          </a:xfrm>
          <a:prstGeom prst="roundRect">
            <a:avLst>
              <a:gd name="adj" fmla="val 12000"/>
            </a:avLst>
          </a:prstGeom>
          <a:solidFill>
            <a:srgbClr val="E8EEF6"/>
          </a:solidFill>
          <a:ln w="15875">
            <a:solidFill>
              <a:srgbClr val="0133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 dirty="0">
                <a:solidFill>
                  <a:srgbClr val="262626"/>
                </a:solidFill>
                <a:latin typeface="Calibri"/>
              </a:rPr>
              <a:t>Quản </a:t>
            </a:r>
            <a:r>
              <a:rPr sz="1300" b="1" dirty="0" err="1">
                <a:solidFill>
                  <a:srgbClr val="262626"/>
                </a:solidFill>
                <a:latin typeface="Calibri"/>
              </a:rPr>
              <a:t>trị</a:t>
            </a:r>
            <a:r>
              <a:rPr sz="1300" b="1" dirty="0">
                <a:solidFill>
                  <a:srgbClr val="262626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262626"/>
                </a:solidFill>
                <a:latin typeface="Calibri"/>
              </a:rPr>
              <a:t>viên</a:t>
            </a:r>
            <a:r>
              <a:rPr sz="1300" b="1" dirty="0">
                <a:solidFill>
                  <a:srgbClr val="262626"/>
                </a:solidFill>
                <a:latin typeface="Calibri"/>
              </a:rPr>
              <a:t> / SOC</a:t>
            </a:r>
          </a:p>
          <a:p>
            <a:pPr algn="ctr"/>
            <a:r>
              <a:rPr sz="1100" dirty="0" err="1">
                <a:solidFill>
                  <a:srgbClr val="595959"/>
                </a:solidFill>
                <a:latin typeface="Calibri"/>
              </a:rPr>
              <a:t>chuyên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viên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ATTT,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lãnh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đạo</a:t>
            </a:r>
            <a:endParaRPr sz="1100" dirty="0">
              <a:solidFill>
                <a:srgbClr val="595959"/>
              </a:solidFill>
              <a:latin typeface="Calibri"/>
            </a:endParaRPr>
          </a:p>
        </p:txBody>
      </p:sp>
      <p:cxnSp>
        <p:nvCxnSpPr>
          <p:cNvPr id="351" name="Connector 350"/>
          <p:cNvCxnSpPr/>
          <p:nvPr/>
        </p:nvCxnSpPr>
        <p:spPr>
          <a:xfrm>
            <a:off x="10447019" y="4087368"/>
            <a:ext cx="0" cy="237744"/>
          </a:xfrm>
          <a:prstGeom prst="line">
            <a:avLst/>
          </a:prstGeom>
          <a:ln w="19050">
            <a:solidFill>
              <a:srgbClr val="0133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9391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0E0C4-4DAC-FF29-C456-D714E2011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Shape 1">
            <a:extLst>
              <a:ext uri="{FF2B5EF4-FFF2-40B4-BE49-F238E27FC236}">
                <a16:creationId xmlns:a16="http://schemas.microsoft.com/office/drawing/2014/main" id="{9CD2AEEB-7E7C-F7CA-326F-DBF27F5334A9}"/>
              </a:ext>
            </a:extLst>
          </p:cNvPr>
          <p:cNvSpPr txBox="1"/>
          <p:nvPr/>
        </p:nvSpPr>
        <p:spPr>
          <a:xfrm>
            <a:off x="338760" y="1058760"/>
            <a:ext cx="11514240" cy="4908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endParaRPr lang="en-US" sz="28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3" name="TextShape 2">
            <a:extLst>
              <a:ext uri="{FF2B5EF4-FFF2-40B4-BE49-F238E27FC236}">
                <a16:creationId xmlns:a16="http://schemas.microsoft.com/office/drawing/2014/main" id="{2291A77C-F9DB-F58B-5EFD-65DEB2EF3F55}"/>
              </a:ext>
            </a:extLst>
          </p:cNvPr>
          <p:cNvSpPr txBox="1"/>
          <p:nvPr/>
        </p:nvSpPr>
        <p:spPr>
          <a:xfrm>
            <a:off x="338760" y="11268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3200" b="0" i="0" spc="-1">
                <a:solidFill>
                  <a:schemeClr val="bg1"/>
                </a:solidFill>
                <a:latin typeface="Calibri"/>
              </a:rPr>
              <a:t>9. Kế hoạch triển khai</a:t>
            </a:r>
            <a:endParaRPr lang="en-US" sz="3200" spc="-1" dirty="0">
              <a:solidFill>
                <a:schemeClr val="bg1"/>
              </a:solidFill>
              <a:latin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2DBCEA9-F1F0-F76A-78CE-A275AE64F7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932228"/>
              </p:ext>
            </p:extLst>
          </p:nvPr>
        </p:nvGraphicFramePr>
        <p:xfrm>
          <a:off x="338760" y="1846962"/>
          <a:ext cx="11514241" cy="3164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7134">
                  <a:extLst>
                    <a:ext uri="{9D8B030D-6E8A-4147-A177-3AD203B41FA5}">
                      <a16:colId xmlns:a16="http://schemas.microsoft.com/office/drawing/2014/main" val="2801464827"/>
                    </a:ext>
                  </a:extLst>
                </a:gridCol>
                <a:gridCol w="2887218">
                  <a:extLst>
                    <a:ext uri="{9D8B030D-6E8A-4147-A177-3AD203B41FA5}">
                      <a16:colId xmlns:a16="http://schemas.microsoft.com/office/drawing/2014/main" val="2144023698"/>
                    </a:ext>
                  </a:extLst>
                </a:gridCol>
                <a:gridCol w="3219983">
                  <a:extLst>
                    <a:ext uri="{9D8B030D-6E8A-4147-A177-3AD203B41FA5}">
                      <a16:colId xmlns:a16="http://schemas.microsoft.com/office/drawing/2014/main" val="4079731762"/>
                    </a:ext>
                  </a:extLst>
                </a:gridCol>
                <a:gridCol w="3159906">
                  <a:extLst>
                    <a:ext uri="{9D8B030D-6E8A-4147-A177-3AD203B41FA5}">
                      <a16:colId xmlns:a16="http://schemas.microsoft.com/office/drawing/2014/main" val="3786912315"/>
                    </a:ext>
                  </a:extLst>
                </a:gridCol>
              </a:tblGrid>
              <a:tr h="977901">
                <a:tc>
                  <a:txBody>
                    <a:bodyPr/>
                    <a:lstStyle/>
                    <a:p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Sprint 1</a:t>
                      </a:r>
                      <a:endParaRPr lang="vi-V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Sprint 2</a:t>
                      </a:r>
                      <a:endParaRPr lang="vi-V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Sprint 3</a:t>
                      </a:r>
                      <a:endParaRPr lang="vi-VN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6761698"/>
                  </a:ext>
                </a:extLst>
              </a:tr>
              <a:tr h="120827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Công </a:t>
                      </a:r>
                      <a:r>
                        <a:rPr lang="en-US" b="1" dirty="0" err="1"/>
                        <a:t>việc</a:t>
                      </a:r>
                      <a:endParaRPr lang="vi-V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vi-VN" b="0" i="0"/>
                        <a:t>Khảo sát; bộ benchmark OOD (P0–P3); chạy baseline RF/XGBoost/MLP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b="0" i="0"/>
                        <a:t>Mô hình phát hiện tấn công chưa biết (open-set lai); Risk Engine +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b="0" i="0"/>
                        <a:t>Luồng gần thời gian thực, dashboard, SHAP, báo cáo rủi 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453253"/>
                  </a:ext>
                </a:extLst>
              </a:tr>
              <a:tr h="977901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Sản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phẩm</a:t>
                      </a:r>
                      <a:endParaRPr lang="vi-V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vi-VN" b="0" i="0"/>
                        <a:t>Benchmark + báo cáo: ~99% ở P0 nhưng suy giảm ở P1–P3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b="0" i="0"/>
                        <a:t>Phát hiện được tấn công chưa biết, API trả về mức rủi ro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b="0" i="0"/>
                        <a:t>Demo end-to-end với họ tấn công bị giữ lại khỏi train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562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362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CustomShape 1"/>
          <p:cNvSpPr/>
          <p:nvPr/>
        </p:nvSpPr>
        <p:spPr>
          <a:xfrm>
            <a:off x="5756400" y="2824200"/>
            <a:ext cx="5136480" cy="970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en-US" sz="6000" b="1" strike="noStrike" spc="-1">
                <a:solidFill>
                  <a:srgbClr val="C00000"/>
                </a:solidFill>
                <a:latin typeface="Lato"/>
                <a:ea typeface="Lato"/>
              </a:rPr>
              <a:t>THANK YOU !</a:t>
            </a:r>
            <a:endParaRPr lang="en-US" sz="6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275</TotalTime>
  <Words>1420</Words>
  <Application>Microsoft Macintosh PowerPoint</Application>
  <PresentationFormat>Widescreen</PresentationFormat>
  <Paragraphs>188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Lato</vt:lpstr>
      <vt:lpstr>Symbol</vt:lpstr>
      <vt:lpstr>Wingdings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Đánh giá rủi ro ATTT bằng AI - ML trước tấn công Out-of-Domain</dc:title>
  <dc:subject/>
  <dc:creator>Hoàng Đức Anh</dc:creator>
  <dc:description/>
  <cp:lastModifiedBy>Hoang Duc Anh 20230015</cp:lastModifiedBy>
  <cp:revision>8</cp:revision>
  <dcterms:created xsi:type="dcterms:W3CDTF">2020-12-31T09:57:48Z</dcterms:created>
  <dcterms:modified xsi:type="dcterms:W3CDTF">2026-09-30T12:09:24Z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ntentTypeId">
    <vt:lpwstr>0x0101004F531634775FD1439D5B67291EFE2AD4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9</vt:i4>
  </property>
</Properties>
</file>