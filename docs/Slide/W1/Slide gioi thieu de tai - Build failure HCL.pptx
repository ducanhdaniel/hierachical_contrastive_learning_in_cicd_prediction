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739" r:id="rId4"/>
  </p:sldMasterIdLst>
  <p:sldIdLst>
    <p:sldId id="256" r:id="rId5"/>
    <p:sldId id="257" r:id="rId6"/>
    <p:sldId id="259" r:id="rId7"/>
    <p:sldId id="271" r:id="rId8"/>
    <p:sldId id="265" r:id="rId9"/>
    <p:sldId id="276" r:id="rId10"/>
    <p:sldId id="266" r:id="rId11"/>
    <p:sldId id="277" r:id="rId12"/>
    <p:sldId id="274" r:id="rId13"/>
    <p:sldId id="275" r:id="rId14"/>
    <p:sldId id="268" r:id="rId15"/>
    <p:sldId id="269" r:id="rId16"/>
    <p:sldId id="270" r:id="rId17"/>
    <p:sldId id="273" r:id="rId18"/>
    <p:sldId id="264" r:id="rId19"/>
  </p:sldIdLst>
  <p:sldSz cx="12192000" cy="6858000"/>
  <p:notesSz cx="7559675" cy="10691813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9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6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3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4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5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image" Target="../media/image3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body"/>
          </p:nvPr>
        </p:nvSpPr>
        <p:spPr>
          <a:xfrm>
            <a:off x="338760" y="1058760"/>
            <a:ext cx="11514240" cy="4908600"/>
          </a:xfrm>
          <a:prstGeom prst="rect">
            <a:avLst/>
          </a:prstGeom>
        </p:spPr>
        <p:txBody>
          <a:bodyPr lIns="90000" tIns="45000" rIns="90000" bIns="45000">
            <a:noAutofit/>
          </a:bodyPr>
          <a:lstStyle/>
          <a:p>
            <a:pPr marL="228600" indent="-2282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Lato"/>
                <a:ea typeface="Lato"/>
              </a:rPr>
              <a:t>Click to edit Master text styles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685800" lvl="1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Lato"/>
                <a:ea typeface="Lato"/>
              </a:rPr>
              <a:t>Second level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Lato"/>
                <a:ea typeface="Lato"/>
              </a:rPr>
              <a:t>Third level</a:t>
            </a:r>
            <a:endParaRPr lang="en-US" sz="2000" b="0" strike="noStrike" spc="-1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Lato"/>
                <a:ea typeface="Lato"/>
              </a:rPr>
              <a:t>Fourth level</a:t>
            </a: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Lato"/>
                <a:ea typeface="Lato"/>
              </a:rPr>
              <a:t>Fifth level</a:t>
            </a: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title"/>
          </p:nvPr>
        </p:nvSpPr>
        <p:spPr>
          <a:xfrm>
            <a:off x="338760" y="112680"/>
            <a:ext cx="11514240" cy="435600"/>
          </a:xfrm>
          <a:prstGeom prst="rect">
            <a:avLst/>
          </a:prstGeom>
        </p:spPr>
        <p:txBody>
          <a:bodyPr lIns="90000" tIns="45000" rIns="90000" bIns="45000">
            <a:noAutofit/>
          </a:bodyPr>
          <a:lstStyle/>
          <a:p>
            <a:pPr>
              <a:lnSpc>
                <a:spcPct val="90000"/>
              </a:lnSpc>
            </a:pPr>
            <a:r>
              <a:rPr lang="en-US" sz="2800" b="1" strike="noStrike" spc="-1">
                <a:solidFill>
                  <a:srgbClr val="FFFFFF"/>
                </a:solidFill>
                <a:latin typeface="Lato"/>
                <a:ea typeface="Lato"/>
              </a:rPr>
              <a:t>Title 1:……………………………………..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Picture 3" descr="Text&#10;&#10;Description automatically generated"/>
          <p:cNvPicPr/>
          <p:nvPr/>
        </p:nvPicPr>
        <p:blipFill>
          <a:blip r:embed="rId2"/>
          <a:stretch/>
        </p:blipFill>
        <p:spPr>
          <a:xfrm>
            <a:off x="392040" y="271440"/>
            <a:ext cx="3174120" cy="1153080"/>
          </a:xfrm>
          <a:prstGeom prst="rect">
            <a:avLst/>
          </a:prstGeom>
          <a:ln>
            <a:noFill/>
          </a:ln>
        </p:spPr>
      </p:pic>
      <p:sp>
        <p:nvSpPr>
          <p:cNvPr id="307" name="CustomShape 1"/>
          <p:cNvSpPr/>
          <p:nvPr/>
        </p:nvSpPr>
        <p:spPr>
          <a:xfrm>
            <a:off x="695520" y="2741387"/>
            <a:ext cx="9520196" cy="156514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r>
              <a:rPr lang="en-US" sz="4400" b="0" i="0">
                <a:solidFill>
                  <a:srgbClr val="FF0000"/>
                </a:solidFill>
              </a:rPr>
              <a:t>Dự đoán lỗi build CI/CD bằng Hierarchical Contrastive Learning</a:t>
            </a:r>
            <a:endParaRPr lang="en-US" sz="4400" b="1" dirty="0">
              <a:solidFill>
                <a:srgbClr val="FF0000"/>
              </a:solidFill>
            </a:endParaRPr>
          </a:p>
        </p:txBody>
      </p:sp>
      <p:sp>
        <p:nvSpPr>
          <p:cNvPr id="308" name="CustomShape 2"/>
          <p:cNvSpPr/>
          <p:nvPr/>
        </p:nvSpPr>
        <p:spPr>
          <a:xfrm>
            <a:off x="695520" y="3403080"/>
            <a:ext cx="6095520" cy="222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vi-VN"/>
          </a:p>
        </p:txBody>
      </p:sp>
      <p:sp>
        <p:nvSpPr>
          <p:cNvPr id="309" name="CustomShape 3"/>
          <p:cNvSpPr/>
          <p:nvPr/>
        </p:nvSpPr>
        <p:spPr>
          <a:xfrm>
            <a:off x="6962400" y="3269880"/>
            <a:ext cx="4329000" cy="13694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vi-VN"/>
          </a:p>
        </p:txBody>
      </p:sp>
      <p:sp>
        <p:nvSpPr>
          <p:cNvPr id="310" name="TextBox 309"/>
          <p:cNvSpPr txBox="1"/>
          <p:nvPr/>
        </p:nvSpPr>
        <p:spPr>
          <a:xfrm>
            <a:off x="731520" y="4526280"/>
            <a:ext cx="60350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0">
                <a:solidFill>
                  <a:srgbClr val="262626"/>
                </a:solidFill>
                <a:latin typeface="Calibri"/>
              </a:rPr>
              <a:t>Sinh viên: Phạm Đức Anh – 20235008</a:t>
            </a:r>
          </a:p>
          <a:p>
            <a:r>
              <a:rPr sz="1800">
                <a:solidFill>
                  <a:srgbClr val="262626"/>
                </a:solidFill>
                <a:latin typeface="Calibri"/>
              </a:rPr>
              <a:t>GVHD: TS Vũ Thị Hương Giang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Shape 1"/>
          <p:cNvSpPr txBox="1"/>
          <p:nvPr/>
        </p:nvSpPr>
        <p:spPr>
          <a:xfrm>
            <a:off x="338760" y="1058760"/>
            <a:ext cx="11514240" cy="4908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 marL="514350" indent="-514350">
              <a:buAutoNum type="arabicPeriod"/>
            </a:pPr>
            <a:r>
              <a:rPr lang="en-US" sz="2800" b="0" i="0" strike="noStrike" spc="-1">
                <a:solidFill>
                  <a:srgbClr val="000000"/>
                </a:solidFill>
                <a:latin typeface="Calibri"/>
              </a:rPr>
              <a:t>Bối cảnh &amp; định hướng của đề tài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514350" indent="-514350">
              <a:buAutoNum type="arabicPeriod"/>
            </a:pPr>
            <a:r>
              <a:rPr lang="vi-VN" sz="2800" b="0" i="0" spc="-1">
                <a:solidFill>
                  <a:srgbClr val="000000"/>
                </a:solidFill>
                <a:latin typeface="Calibri"/>
              </a:rPr>
              <a:t>Vì sao dự đoán pass/fail hiện tại chưa đủ</a:t>
            </a:r>
            <a:endParaRPr lang="en-US" sz="2800" spc="-1" dirty="0">
              <a:solidFill>
                <a:srgbClr val="000000"/>
              </a:solidFill>
              <a:latin typeface="Calibri"/>
            </a:endParaRPr>
          </a:p>
          <a:p>
            <a:pPr marL="514350" indent="-514350">
              <a:buAutoNum type="arabicPeriod"/>
            </a:pPr>
            <a:r>
              <a:rPr lang="vi-VN" sz="2800" b="0" i="0" spc="-1">
                <a:solidFill>
                  <a:srgbClr val="000000"/>
                </a:solidFill>
                <a:latin typeface="Calibri"/>
              </a:rPr>
              <a:t>Khảo sát dữ liệu</a:t>
            </a:r>
            <a:endParaRPr lang="en-US" sz="2800" spc="-1" dirty="0">
              <a:solidFill>
                <a:srgbClr val="000000"/>
              </a:solidFill>
              <a:latin typeface="Calibri"/>
            </a:endParaRPr>
          </a:p>
          <a:p>
            <a:pPr marL="514350" indent="-514350">
              <a:buAutoNum type="arabicPeriod"/>
            </a:pPr>
            <a:r>
              <a:rPr lang="vi-VN" sz="2800" b="0" i="0" spc="-1">
                <a:solidFill>
                  <a:srgbClr val="000000"/>
                </a:solidFill>
                <a:latin typeface="Calibri"/>
              </a:rPr>
              <a:t>Khảo sát phương pháp</a:t>
            </a:r>
            <a:endParaRPr lang="en-US" sz="2800" spc="-1" dirty="0">
              <a:solidFill>
                <a:srgbClr val="000000"/>
              </a:solidFill>
              <a:latin typeface="Calibri"/>
            </a:endParaRPr>
          </a:p>
          <a:p>
            <a:pPr marL="514350" indent="-514350">
              <a:buAutoNum type="arabicPeriod"/>
            </a:pPr>
            <a:r>
              <a:rPr lang="vi-VN" sz="2800" b="0" i="0" spc="-1">
                <a:solidFill>
                  <a:srgbClr val="000000"/>
                </a:solidFill>
                <a:latin typeface="Calibri"/>
              </a:rPr>
              <a:t>Giao thức đánh giá</a:t>
            </a:r>
            <a:endParaRPr lang="en-US" sz="2800" spc="-1" dirty="0">
              <a:solidFill>
                <a:srgbClr val="000000"/>
              </a:solidFill>
              <a:latin typeface="Calibri"/>
            </a:endParaRPr>
          </a:p>
          <a:p>
            <a:pPr marL="514350" indent="-514350">
              <a:buAutoNum type="arabicPeriod"/>
            </a:pPr>
            <a:r>
              <a:rPr lang="vi-VN" sz="2800" b="0" i="0" spc="-1">
                <a:solidFill>
                  <a:srgbClr val="000000"/>
                </a:solidFill>
                <a:latin typeface="Calibri"/>
              </a:rPr>
              <a:t>Luồng dự đoán</a:t>
            </a:r>
            <a:endParaRPr lang="en-US" sz="2800" spc="-1" dirty="0">
              <a:solidFill>
                <a:srgbClr val="000000"/>
              </a:solidFill>
              <a:latin typeface="Calibri"/>
            </a:endParaRPr>
          </a:p>
          <a:p>
            <a:pPr marL="514350" indent="-514350">
              <a:buAutoNum type="arabicPeriod"/>
            </a:pPr>
            <a:r>
              <a:rPr lang="en-US" sz="2800" b="0" i="0" spc="-1">
                <a:solidFill>
                  <a:srgbClr val="000000"/>
                </a:solidFill>
                <a:latin typeface="Calibri"/>
              </a:rPr>
              <a:t>Mô hình HCL</a:t>
            </a:r>
            <a:endParaRPr lang="en-US" sz="2800" spc="-1" dirty="0">
              <a:solidFill>
                <a:srgbClr val="000000"/>
              </a:solidFill>
              <a:latin typeface="Calibri"/>
            </a:endParaRPr>
          </a:p>
          <a:p>
            <a:pPr marL="514350" indent="-514350">
              <a:buAutoNum type="arabicPeriod"/>
            </a:pPr>
            <a:r>
              <a:rPr lang="en-US" sz="2800" b="0" i="0" spc="-1">
                <a:solidFill>
                  <a:srgbClr val="000000"/>
                </a:solidFill>
                <a:latin typeface="Calibri"/>
              </a:rPr>
              <a:t>Kiến trúc hệ thống</a:t>
            </a:r>
            <a:endParaRPr lang="en-US" sz="2800" spc="-1" dirty="0">
              <a:solidFill>
                <a:srgbClr val="000000"/>
              </a:solidFill>
              <a:latin typeface="Calibri"/>
            </a:endParaRPr>
          </a:p>
          <a:p>
            <a:pPr marL="514350" indent="-514350">
              <a:buAutoNum type="arabicPeriod"/>
            </a:pPr>
            <a:r>
              <a:rPr lang="en-US" sz="2800" b="0" i="0" spc="-1">
                <a:solidFill>
                  <a:srgbClr val="000000"/>
                </a:solidFill>
                <a:latin typeface="Calibri"/>
              </a:rPr>
              <a:t>Kế hoạch thực hiện</a:t>
            </a:r>
            <a:endParaRPr lang="en-US" sz="28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TextShape 2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strike="noStrike" spc="-1" dirty="0" err="1">
                <a:solidFill>
                  <a:schemeClr val="bg1"/>
                </a:solidFill>
                <a:latin typeface="Calibri"/>
              </a:rPr>
              <a:t>Nội</a:t>
            </a:r>
            <a:r>
              <a:rPr lang="en-US" sz="3200" b="0" strike="noStrike" spc="-1" dirty="0">
                <a:solidFill>
                  <a:schemeClr val="bg1"/>
                </a:solidFill>
                <a:latin typeface="Calibri"/>
              </a:rPr>
              <a:t> dung </a:t>
            </a:r>
            <a:r>
              <a:rPr lang="en-US" sz="3200" b="0" strike="noStrike" spc="-1" dirty="0" err="1">
                <a:solidFill>
                  <a:schemeClr val="bg1"/>
                </a:solidFill>
                <a:latin typeface="Calibri"/>
              </a:rPr>
              <a:t>trình</a:t>
            </a:r>
            <a:r>
              <a:rPr lang="en-US" sz="3200" b="0" strike="noStrike" spc="-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US" sz="3200" b="0" strike="noStrike" spc="-1" dirty="0" err="1">
                <a:solidFill>
                  <a:schemeClr val="bg1"/>
                </a:solidFill>
                <a:latin typeface="Calibri"/>
              </a:rPr>
              <a:t>bày</a:t>
            </a:r>
            <a:r>
              <a:rPr lang="en-US" sz="3200" b="0" strike="noStrike" spc="-1" dirty="0">
                <a:solidFill>
                  <a:schemeClr val="bg1"/>
                </a:solidFill>
                <a:latin typeface="Calibri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D5CD2-7D37-1454-5286-EE64F2A18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2">
            <a:extLst>
              <a:ext uri="{FF2B5EF4-FFF2-40B4-BE49-F238E27FC236}">
                <a16:creationId xmlns:a16="http://schemas.microsoft.com/office/drawing/2014/main" id="{67C8EC74-9B72-E685-078E-E2E702AEC283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1. Bối cảnh &amp; định hướng của đề tài</a:t>
            </a:r>
            <a:endParaRPr lang="en-US" sz="3200" spc="-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0" name="TextShape 1">
            <a:extLst>
              <a:ext uri="{FF2B5EF4-FFF2-40B4-BE49-F238E27FC236}">
                <a16:creationId xmlns:a16="http://schemas.microsoft.com/office/drawing/2014/main" id="{026E228F-0E49-F883-0738-2171A18643ED}"/>
              </a:ext>
            </a:extLst>
          </p:cNvPr>
          <p:cNvSpPr txBox="1"/>
          <p:nvPr/>
        </p:nvSpPr>
        <p:spPr>
          <a:xfrm>
            <a:off x="338760" y="1058760"/>
            <a:ext cx="11514240" cy="4908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vi-VN" sz="1900" b="1" i="0" dirty="0"/>
              <a:t>CI tốn kém: </a:t>
            </a:r>
            <a:r>
              <a:rPr lang="vi-VN" sz="1900" b="0" i="0" dirty="0"/>
              <a:t>Google, Mozilla tốn hàng triệu USD mỗi năm; Ubisoft có hàng nghìn build/ngày, mỗi build 10–30 phút.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vi-VN" sz="1900" b="1" i="0" dirty="0"/>
              <a:t>Build prediction: </a:t>
            </a:r>
            <a:r>
              <a:rPr lang="vi-VN" sz="1900" b="0" i="0" dirty="0"/>
              <a:t>đoán pass/fail trước khi chạy (chỉ có diff + metadata) để bỏ qua build gần như chắc chắn pass, chạy job rủi ro trước, cảnh báo sớm khi review PR.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vi-VN" sz="1900" b="1" i="0" dirty="0"/>
              <a:t>Phần dễ đã có luật: </a:t>
            </a:r>
            <a:r>
              <a:rPr lang="vi-VN" sz="1900" b="0" i="0" dirty="0"/>
              <a:t>code liên quan không đổi → paths filter, cache build. Phần khó là khi </a:t>
            </a:r>
            <a:r>
              <a:rPr lang="vi-VN" sz="1900" b="1" i="1" dirty="0"/>
              <a:t>code có thay đổi</a:t>
            </a:r>
            <a:r>
              <a:rPr lang="vi-VN" sz="1900" b="0" i="0" dirty="0"/>
              <a:t> – phạm vi của đề tài.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vi-VN" sz="1900" b="1" i="0" dirty="0"/>
              <a:t>Định hướng: </a:t>
            </a:r>
            <a:r>
              <a:rPr lang="vi-VN" sz="1900" b="0" i="0" dirty="0"/>
              <a:t>đọc nội dung diff theo cấu trúc phân cấp và dùng </a:t>
            </a:r>
            <a:r>
              <a:rPr lang="vi-VN" sz="1900" b="1" i="1" dirty="0"/>
              <a:t>loại lỗi</a:t>
            </a:r>
            <a:r>
              <a:rPr lang="vi-VN" sz="1900" b="0" i="0" dirty="0"/>
              <a:t> làm tín hiệu huấn luyện, thay vì chỉ học pass/fail.</a:t>
            </a:r>
          </a:p>
        </p:txBody>
      </p:sp>
    </p:spTree>
    <p:extLst>
      <p:ext uri="{BB962C8B-B14F-4D97-AF65-F5344CB8AC3E}">
        <p14:creationId xmlns:p14="http://schemas.microsoft.com/office/powerpoint/2010/main" val="4118732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84459-AC26-7D01-CC7E-AC7FD8F1542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5760" y="1238865"/>
            <a:ext cx="5354280" cy="2103120"/>
          </a:xfrm>
        </p:spPr>
        <p:txBody>
          <a:bodyPr>
            <a:normAutofit/>
          </a:bodyPr>
          <a:lstStyle/>
          <a:p>
            <a:r>
              <a:rPr lang="vi-VN" sz="2000" b="1" i="0" dirty="0"/>
              <a:t>Kết quả hiện tại trông tốt vì:</a:t>
            </a:r>
            <a:endParaRPr lang="en-US" sz="2000" b="1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vi-VN" sz="2000" b="0" i="0" dirty="0"/>
              <a:t>~87% build pass; ~52% fail là fail liên tiếp</a:t>
            </a:r>
            <a:endParaRPr lang="en-US" sz="200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vi-VN" sz="2000" b="0" i="0" dirty="0"/>
              <a:t>76% build lặp lại kết quả build trước</a:t>
            </a:r>
            <a:endParaRPr lang="en-US" sz="200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vi-VN" sz="2000" b="0" i="0" dirty="0"/>
              <a:t>Parrot: F1-fail 0,42, SOTA chỉ 0,48–0,50</a:t>
            </a:r>
            <a:endParaRPr lang="en-US" sz="200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vi-VN" sz="2000" b="0" i="0" dirty="0"/>
              <a:t>Chủ yếu đếm số, chưa đọc nội dung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4E94D2-1C4F-3EC9-7D74-F6EBD3CBC7E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095880" y="1238865"/>
            <a:ext cx="5354280" cy="2103120"/>
          </a:xfrm>
        </p:spPr>
        <p:txBody>
          <a:bodyPr>
            <a:normAutofit/>
          </a:bodyPr>
          <a:lstStyle/>
          <a:p>
            <a:r>
              <a:rPr lang="vi-VN" sz="2000" b="1" i="0" dirty="0"/>
              <a:t>Khi dùng thật:</a:t>
            </a:r>
            <a:endParaRPr lang="en-US" sz="2000" b="1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vi-VN" sz="2000" b="0" i="0" dirty="0"/>
              <a:t>Parrot luôn sai ở lần fail đầu tiên</a:t>
            </a:r>
            <a:endParaRPr lang="en-US" sz="200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vi-VN" sz="2000" b="0" i="0" dirty="0"/>
              <a:t>Build trước bị bỏ qua → không biết kết quả</a:t>
            </a:r>
            <a:endParaRPr lang="en-US" sz="200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vi-VN" sz="2000" b="0" i="0" dirty="0"/>
              <a:t>~60% số ca SOTA không hơn Parrot rõ</a:t>
            </a:r>
            <a:endParaRPr lang="en-US" sz="200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vi-VN" sz="2000" b="0" i="0" dirty="0"/>
              <a:t>Chỉ nói pass/fail, không nói hỏng kiểu gì</a:t>
            </a:r>
            <a:endParaRPr lang="vi-VN" sz="2000" dirty="0"/>
          </a:p>
        </p:txBody>
      </p:sp>
      <p:sp>
        <p:nvSpPr>
          <p:cNvPr id="6" name="TextShape 2">
            <a:extLst>
              <a:ext uri="{FF2B5EF4-FFF2-40B4-BE49-F238E27FC236}">
                <a16:creationId xmlns:a16="http://schemas.microsoft.com/office/drawing/2014/main" id="{41B43F65-50EC-310F-1B6A-B2C5A1926458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2. Vì sao dự đoán pass/fail hiện tại chưa đủ</a:t>
            </a:r>
            <a:endParaRPr lang="en-US" sz="3200" spc="-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3504" y="3840480"/>
            <a:ext cx="10881360" cy="685800"/>
          </a:xfrm>
          <a:prstGeom prst="roundRect">
            <a:avLst>
              <a:gd name="adj" fmla="val 12000"/>
            </a:avLst>
          </a:prstGeom>
          <a:solidFill>
            <a:srgbClr val="FDECEC"/>
          </a:solidFill>
          <a:ln w="15875">
            <a:solidFill>
              <a:srgbClr val="C0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>
                <a:solidFill>
                  <a:srgbClr val="013364"/>
                </a:solidFill>
                <a:latin typeface="Calibri"/>
              </a:rPr>
              <a:t>→ Cần mô hình đọc được nội dung thay đổi, đánh giá trên lần fail đầu tiên và có cấu trúc theo loại lỗi</a:t>
            </a:r>
          </a:p>
        </p:txBody>
      </p:sp>
    </p:spTree>
    <p:extLst>
      <p:ext uri="{BB962C8B-B14F-4D97-AF65-F5344CB8AC3E}">
        <p14:creationId xmlns:p14="http://schemas.microsoft.com/office/powerpoint/2010/main" val="2667425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0E0C4-4DAC-FF29-C456-D714E2011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Shape 1">
            <a:extLst>
              <a:ext uri="{FF2B5EF4-FFF2-40B4-BE49-F238E27FC236}">
                <a16:creationId xmlns:a16="http://schemas.microsoft.com/office/drawing/2014/main" id="{9CD2AEEB-7E7C-F7CA-326F-DBF27F5334A9}"/>
              </a:ext>
            </a:extLst>
          </p:cNvPr>
          <p:cNvSpPr txBox="1"/>
          <p:nvPr/>
        </p:nvSpPr>
        <p:spPr>
          <a:xfrm>
            <a:off x="338760" y="1058760"/>
            <a:ext cx="11514240" cy="4908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endParaRPr lang="en-US" sz="28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TextShape 2">
            <a:extLst>
              <a:ext uri="{FF2B5EF4-FFF2-40B4-BE49-F238E27FC236}">
                <a16:creationId xmlns:a16="http://schemas.microsoft.com/office/drawing/2014/main" id="{2291A77C-F9DB-F58B-5EFD-65DEB2EF3F55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2. (tiếp) Kiểm chứng: Parrot so với SOTA</a:t>
            </a:r>
            <a:endParaRPr lang="en-US" sz="3200" spc="-1" dirty="0">
              <a:solidFill>
                <a:schemeClr val="bg1"/>
              </a:solidFill>
              <a:latin typeface="Calibri"/>
            </a:endParaRPr>
          </a:p>
        </p:txBody>
      </p:sp>
      <p:graphicFrame>
        <p:nvGraphicFramePr>
          <p:cNvPr id="900" name="Parrot 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141600"/>
              </p:ext>
            </p:extLst>
          </p:nvPr>
        </p:nvGraphicFramePr>
        <p:xfrm>
          <a:off x="457200" y="1552678"/>
          <a:ext cx="11277600" cy="157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Open-source (22 project)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F1-fail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Recall-fail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Precision-fail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Gain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Parrot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.421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.422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.420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.610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178.0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BuildFast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.478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.583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.457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.723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124.8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RavenBuild-CR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.502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.612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.489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.738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156.7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01" name="Parrot 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1117779"/>
              </p:ext>
            </p:extLst>
          </p:nvPr>
        </p:nvGraphicFramePr>
        <p:xfrm>
          <a:off x="457200" y="3457678"/>
          <a:ext cx="11277600" cy="157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Project X (game AAA, Ubisoft)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F1-fail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Recall-fail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Precision-fail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Gain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Parrot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.657</a:t>
                      </a:r>
                      <a:endParaRPr lang="vi-VN" sz="1500" dirty="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.652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.662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.810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253.6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BuildFast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.426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.296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.755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.791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217.8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RavenBuild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.638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.607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.672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.877</a:t>
                      </a:r>
                      <a:endParaRPr lang="vi-VN" sz="15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5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240.1</a:t>
                      </a:r>
                      <a:endParaRPr lang="vi-VN" sz="1500" dirty="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Text 901"/>
          <p:cNvSpPr txBox="1"/>
          <p:nvPr/>
        </p:nvSpPr>
        <p:spPr>
          <a:xfrm>
            <a:off x="457080" y="5184878"/>
            <a:ext cx="11277600" cy="1778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  <a:buNone/>
            </a:pPr>
            <a:r>
              <a:rPr lang="vi-VN" sz="1000" b="0" i="1" dirty="0">
                <a:solidFill>
                  <a:srgbClr val="6B7280"/>
                </a:solidFill>
                <a:latin typeface="Calibri"/>
              </a:rPr>
              <a:t>Nguồn: RavenBuild (Sun, Habchi, McIntosh – FSE 2024), Bảng 8–9. In đậm: tốt nhất trong từng bối cảnh. Gain = Benefit − Cost (thời gian phản hồi tiết kiệm được trừ chi phí).</a:t>
            </a:r>
          </a:p>
        </p:txBody>
      </p:sp>
    </p:spTree>
    <p:extLst>
      <p:ext uri="{BB962C8B-B14F-4D97-AF65-F5344CB8AC3E}">
        <p14:creationId xmlns:p14="http://schemas.microsoft.com/office/powerpoint/2010/main" val="1902362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EDC68-73D4-C80A-8B5B-57CB41F2F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Shape 1">
            <a:extLst>
              <a:ext uri="{FF2B5EF4-FFF2-40B4-BE49-F238E27FC236}">
                <a16:creationId xmlns:a16="http://schemas.microsoft.com/office/drawing/2014/main" id="{74CE9D9D-901C-692C-2FD8-79712928AD4C}"/>
              </a:ext>
            </a:extLst>
          </p:cNvPr>
          <p:cNvSpPr txBox="1"/>
          <p:nvPr/>
        </p:nvSpPr>
        <p:spPr>
          <a:xfrm>
            <a:off x="338760" y="1058760"/>
            <a:ext cx="11514240" cy="4908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GHARuns (2026): </a:t>
            </a:r>
            <a:r>
              <a:rPr lang="vi-VN" sz="1800" b="0" i="0" dirty="0"/>
              <a:t>71,7 triệu run GitHub Actions của 46k repo, liên tục 1/2–27/6/2026;</a:t>
            </a:r>
            <a:r>
              <a:rPr lang="en-US" sz="1800" b="0" i="0" dirty="0"/>
              <a:t> </a:t>
            </a:r>
            <a:r>
              <a:rPr lang="en-US" sz="1800" b="0" i="0" dirty="0" err="1"/>
              <a:t>chỉ</a:t>
            </a:r>
            <a:r>
              <a:rPr lang="en-US" sz="1800" b="0" i="0" dirty="0"/>
              <a:t> </a:t>
            </a:r>
            <a:r>
              <a:rPr lang="en-US" sz="1800" b="0" i="0" dirty="0" err="1"/>
              <a:t>có</a:t>
            </a:r>
            <a:r>
              <a:rPr lang="en-US" sz="1800" b="0" i="0" dirty="0"/>
              <a:t> </a:t>
            </a:r>
            <a:r>
              <a:rPr lang="en-US" sz="1800" b="0" i="0" dirty="0" err="1"/>
              <a:t>kết</a:t>
            </a:r>
            <a:r>
              <a:rPr lang="en-US" sz="1800" b="0" i="0" dirty="0"/>
              <a:t> </a:t>
            </a:r>
            <a:r>
              <a:rPr lang="en-US" sz="1800" b="0" i="0" dirty="0" err="1"/>
              <a:t>quả</a:t>
            </a:r>
            <a:r>
              <a:rPr lang="en-US" sz="1800" b="0" i="0" dirty="0"/>
              <a:t> pass/fail, </a:t>
            </a:r>
            <a:r>
              <a:rPr lang="en-US" sz="1800" b="0" i="0" dirty="0" err="1"/>
              <a:t>không</a:t>
            </a:r>
            <a:r>
              <a:rPr lang="en-US" sz="1800" b="0" i="0" dirty="0"/>
              <a:t> </a:t>
            </a:r>
            <a:r>
              <a:rPr lang="en-US" sz="1800" b="0" i="0" dirty="0" err="1"/>
              <a:t>có</a:t>
            </a:r>
            <a:r>
              <a:rPr lang="en-US" sz="1800" b="0" i="0" dirty="0"/>
              <a:t> log, diff -&gt; </a:t>
            </a:r>
            <a:r>
              <a:rPr lang="en-US" sz="1800" b="0" i="0" dirty="0" err="1"/>
              <a:t>không</a:t>
            </a:r>
            <a:r>
              <a:rPr lang="en-US" sz="1800" b="0" i="0" dirty="0"/>
              <a:t> </a:t>
            </a:r>
            <a:r>
              <a:rPr lang="en-US" sz="1800" b="0" i="0" dirty="0" err="1"/>
              <a:t>có</a:t>
            </a:r>
            <a:r>
              <a:rPr lang="en-US" sz="1800" b="0" i="0" dirty="0"/>
              <a:t> </a:t>
            </a:r>
            <a:r>
              <a:rPr lang="en-US" sz="1800" b="0" i="0" dirty="0" err="1"/>
              <a:t>nhãn</a:t>
            </a:r>
            <a:r>
              <a:rPr lang="en-US" sz="1800" b="0" i="0" dirty="0"/>
              <a:t> </a:t>
            </a:r>
            <a:r>
              <a:rPr lang="en-US" sz="1800" b="0" i="0" dirty="0" err="1"/>
              <a:t>loại</a:t>
            </a:r>
            <a:r>
              <a:rPr lang="en-US" sz="1800" b="0" i="0" dirty="0"/>
              <a:t> </a:t>
            </a:r>
            <a:r>
              <a:rPr lang="en-US" sz="1800" b="0" i="0" dirty="0" err="1"/>
              <a:t>lỗi</a:t>
            </a:r>
            <a:r>
              <a:rPr lang="vi-VN" sz="1800" b="0" i="0" dirty="0"/>
              <a:t>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TravisTorrent (2017): </a:t>
            </a:r>
            <a:r>
              <a:rPr lang="vi-VN" sz="1800" b="0" i="0" dirty="0"/>
              <a:t>2,6 triệu build Travis CI, có sẵn trường suy ra loại lỗi; dùng để đối chiếu nghiên cứu cũ (</a:t>
            </a:r>
            <a:r>
              <a:rPr lang="en-US" sz="1800" b="0" i="0" dirty="0" err="1"/>
              <a:t>không</a:t>
            </a:r>
            <a:r>
              <a:rPr lang="en-US" sz="1800" b="0" i="0" dirty="0"/>
              <a:t> </a:t>
            </a:r>
            <a:r>
              <a:rPr lang="en-US" sz="1800" b="0" i="0" dirty="0" err="1"/>
              <a:t>còn</a:t>
            </a:r>
            <a:r>
              <a:rPr lang="en-US" sz="1800" b="0" i="0" dirty="0"/>
              <a:t> </a:t>
            </a:r>
            <a:r>
              <a:rPr lang="en-US" sz="1800" b="0" i="0" dirty="0" err="1"/>
              <a:t>tải</a:t>
            </a:r>
            <a:r>
              <a:rPr lang="en-US" sz="1800" b="0" i="0" dirty="0"/>
              <a:t> </a:t>
            </a:r>
            <a:r>
              <a:rPr lang="en-US" sz="1800" b="0" i="0" dirty="0" err="1"/>
              <a:t>được</a:t>
            </a:r>
            <a:r>
              <a:rPr lang="vi-VN" sz="1800" b="0" i="0" dirty="0"/>
              <a:t>).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GHALogs (MSR 2025): </a:t>
            </a:r>
            <a:r>
              <a:rPr lang="vi-VN" sz="1800" b="0" i="0" dirty="0"/>
              <a:t>513k run có log đầy đủ nhưng chỉ 5 run gần nhất/workflow → không có chuỗi build, chỉ dùng để tham khảo log.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Dataset GitSense (ISSTA 2024): </a:t>
            </a:r>
            <a:r>
              <a:rPr lang="vi-VN" sz="1800" b="0" i="0" dirty="0"/>
              <a:t>build kèm commit artifact, công khai trên Zenodo → </a:t>
            </a:r>
            <a:r>
              <a:rPr lang="en-US" sz="1800" b="0" i="0" dirty="0" err="1"/>
              <a:t>chạy</a:t>
            </a:r>
            <a:r>
              <a:rPr lang="en-US" sz="1800" b="0" i="0" dirty="0"/>
              <a:t> </a:t>
            </a:r>
            <a:r>
              <a:rPr lang="vi-VN" sz="1800" b="0" i="0" dirty="0"/>
              <a:t>baseline so sánh.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b="1" dirty="0"/>
              <a:t>C</a:t>
            </a:r>
            <a:r>
              <a:rPr lang="vi-VN" sz="1800" b="1" i="0" dirty="0"/>
              <a:t>rawl GitHub API: </a:t>
            </a:r>
            <a:r>
              <a:rPr lang="en-US" dirty="0" err="1"/>
              <a:t>Lấy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gắn</a:t>
            </a:r>
            <a:r>
              <a:rPr lang="en-US" dirty="0"/>
              <a:t> </a:t>
            </a:r>
            <a:r>
              <a:rPr lang="en-US" dirty="0" err="1"/>
              <a:t>nhãn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cấp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lỗi</a:t>
            </a:r>
            <a:r>
              <a:rPr lang="en-US" dirty="0"/>
              <a:t>, train HCL </a:t>
            </a:r>
            <a:r>
              <a:rPr lang="vi-VN" sz="1800" b="0" i="0" dirty="0"/>
              <a:t>(90 ngày</a:t>
            </a:r>
            <a:r>
              <a:rPr lang="en-US" sz="1800" b="0" i="0" dirty="0"/>
              <a:t> </a:t>
            </a:r>
            <a:r>
              <a:rPr lang="en-US" sz="1800" b="0" i="0" dirty="0" err="1"/>
              <a:t>dữ</a:t>
            </a:r>
            <a:r>
              <a:rPr lang="en-US" sz="1800" b="0" i="0" dirty="0"/>
              <a:t> </a:t>
            </a:r>
            <a:r>
              <a:rPr lang="en-US" sz="1800" b="0" i="0" dirty="0" err="1"/>
              <a:t>liệu</a:t>
            </a:r>
            <a:r>
              <a:rPr lang="vi-VN" sz="1800" b="0" i="0" dirty="0"/>
              <a:t>).</a:t>
            </a:r>
          </a:p>
        </p:txBody>
      </p:sp>
      <p:sp>
        <p:nvSpPr>
          <p:cNvPr id="313" name="TextShape 2">
            <a:extLst>
              <a:ext uri="{FF2B5EF4-FFF2-40B4-BE49-F238E27FC236}">
                <a16:creationId xmlns:a16="http://schemas.microsoft.com/office/drawing/2014/main" id="{6C0D2DE3-CD29-2D5E-CEC5-ACE2F5CF0B8C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3. Khảo sát dữ liệu</a:t>
            </a:r>
            <a:endParaRPr lang="en-US" sz="3200" spc="-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6194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0E0C4-4DAC-FF29-C456-D714E2011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Shape 1">
            <a:extLst>
              <a:ext uri="{FF2B5EF4-FFF2-40B4-BE49-F238E27FC236}">
                <a16:creationId xmlns:a16="http://schemas.microsoft.com/office/drawing/2014/main" id="{9CD2AEEB-7E7C-F7CA-326F-DBF27F5334A9}"/>
              </a:ext>
            </a:extLst>
          </p:cNvPr>
          <p:cNvSpPr txBox="1"/>
          <p:nvPr/>
        </p:nvSpPr>
        <p:spPr>
          <a:xfrm>
            <a:off x="338760" y="1058760"/>
            <a:ext cx="11514240" cy="4908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endParaRPr lang="en-US" sz="28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TextShape 2">
            <a:extLst>
              <a:ext uri="{FF2B5EF4-FFF2-40B4-BE49-F238E27FC236}">
                <a16:creationId xmlns:a16="http://schemas.microsoft.com/office/drawing/2014/main" id="{2291A77C-F9DB-F58B-5EFD-65DEB2EF3F55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3. (tiếp) Thử nghiệm GHARuns: 6 repo Java của Apache</a:t>
            </a:r>
            <a:endParaRPr lang="en-US" sz="3200" spc="-1" dirty="0">
              <a:solidFill>
                <a:schemeClr val="bg1"/>
              </a:solidFill>
              <a:latin typeface="Calibri"/>
            </a:endParaRPr>
          </a:p>
        </p:txBody>
      </p:sp>
      <p:graphicFrame>
        <p:nvGraphicFramePr>
          <p:cNvPr id="950" name="GHARuns Repo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5229883"/>
              </p:ext>
            </p:extLst>
          </p:nvPr>
        </p:nvGraphicFramePr>
        <p:xfrm>
          <a:off x="575400" y="1747684"/>
          <a:ext cx="6604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Commit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Commit fail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Tỉ lệ fail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Lần fail đầu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apache/paimon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968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358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37,0%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186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apache/pinot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775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150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19,4%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107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apache/druid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400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211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52,8%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81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apache/gravitino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618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68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11,0%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apache/kafka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578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82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14,2%</a:t>
                      </a:r>
                      <a:endParaRPr lang="vi-VN" sz="1300" dirty="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54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apache/iceberg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770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56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7,3%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  <a:endParaRPr lang="vi-VN" sz="1300" dirty="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Tổng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4.109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925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22,5%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523</a:t>
                      </a:r>
                      <a:endParaRPr lang="vi-VN" sz="1300" dirty="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951" name="GHARuns Labe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03498"/>
              </p:ext>
            </p:extLst>
          </p:nvPr>
        </p:nvGraphicFramePr>
        <p:xfrm>
          <a:off x="7382600" y="1747684"/>
          <a:ext cx="4470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Loại lỗi</a:t>
                      </a:r>
                      <a:endParaRPr lang="vi-VN" sz="1300" dirty="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Commit fail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Tỉ lệ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Lần fail đầu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test</a:t>
                      </a:r>
                      <a:endParaRPr lang="vi-VN" sz="1300" dirty="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654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72,5%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378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compile</a:t>
                      </a:r>
                      <a:endParaRPr lang="vi-VN" sz="1300" dirty="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161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17,8%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90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lint</a:t>
                      </a:r>
                      <a:endParaRPr lang="vi-VN" sz="1300" dirty="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3,9%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infra / flaky</a:t>
                      </a:r>
                      <a:endParaRPr lang="vi-VN" sz="1300" dirty="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1,8%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dependency</a:t>
                      </a:r>
                      <a:endParaRPr lang="vi-VN" sz="1300" dirty="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0,2%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chưa gán được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3,8%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0" i="0" dirty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Tổng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902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100%</a:t>
                      </a:r>
                      <a:endParaRPr lang="vi-VN" sz="1300"/>
                    </a:p>
                  </a:txBody>
                  <a:tcPr marL="45720" marR="45720" marT="22860" marB="228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300" b="1" i="0" dirty="0">
                          <a:solidFill>
                            <a:srgbClr val="333333"/>
                          </a:solidFill>
                          <a:latin typeface="Calibri"/>
                        </a:rPr>
                        <a:t>523</a:t>
                      </a:r>
                      <a:endParaRPr lang="vi-VN" sz="1300" dirty="0"/>
                    </a:p>
                  </a:txBody>
                  <a:tcPr marL="45720" marR="45720" marT="22860" marB="2286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60" name="Text 960"/>
          <p:cNvSpPr txBox="1"/>
          <p:nvPr/>
        </p:nvSpPr>
        <p:spPr>
          <a:xfrm>
            <a:off x="575400" y="4922684"/>
            <a:ext cx="11277600" cy="381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  <a:buNone/>
            </a:pPr>
            <a:r>
              <a:rPr lang="vi-VN" sz="1000" b="0" i="1" dirty="0">
                <a:solidFill>
                  <a:srgbClr val="6B7280"/>
                </a:solidFill>
                <a:latin typeface="Calibri"/>
              </a:rPr>
              <a:t>Nguồn: GHARuns (Talebzadeh Bardsiri, Mens, Decan – 2026), 1/2–27/6/2026, build push lên nhánh chính (master/main/trunk). Commit fail nếu có ít nhất một workflow fail. Nhãn gán tự động theo tên step/job fail; bảng nhãn đã loại 23 commit thuộc đợt fail bất thường; commit có nhiều loại lỗi lấy giai đoạn sớm nhất.</a:t>
            </a:r>
          </a:p>
        </p:txBody>
      </p:sp>
    </p:spTree>
    <p:extLst>
      <p:ext uri="{BB962C8B-B14F-4D97-AF65-F5344CB8AC3E}">
        <p14:creationId xmlns:p14="http://schemas.microsoft.com/office/powerpoint/2010/main" val="1902362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EDC68-73D4-C80A-8B5B-57CB41F2F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Shape 1">
            <a:extLst>
              <a:ext uri="{FF2B5EF4-FFF2-40B4-BE49-F238E27FC236}">
                <a16:creationId xmlns:a16="http://schemas.microsoft.com/office/drawing/2014/main" id="{74CE9D9D-901C-692C-2FD8-79712928AD4C}"/>
              </a:ext>
            </a:extLst>
          </p:cNvPr>
          <p:cNvSpPr txBox="1"/>
          <p:nvPr/>
        </p:nvSpPr>
        <p:spPr>
          <a:xfrm>
            <a:off x="338760" y="1058760"/>
            <a:ext cx="11514240" cy="4908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Metadata (2017): </a:t>
            </a:r>
            <a:r>
              <a:rPr lang="vi-VN" sz="1800" b="0" i="0" dirty="0"/>
              <a:t>HW17, Ni &amp; Li. Feature của build hiện tại và build trước.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Tiết kiệm chi phí: </a:t>
            </a:r>
            <a:r>
              <a:rPr lang="vi-VN" sz="1800" b="0" i="0" dirty="0"/>
              <a:t>SmartBuildSkip (ICSE 2020) chỉ đoán lần fail đầu tiên; tiết kiệm 30% build, chậm 1 build.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Lịch sử &amp; log: </a:t>
            </a:r>
            <a:r>
              <a:rPr lang="vi-VN" sz="1800" b="0" i="0" dirty="0"/>
              <a:t>BuildFast (ASE 2020) rút feature theo kiểu lỗi từ log cũ; DL-CIBuild dùng LSTM trên chuỗi build.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Ngữ cảnh &amp; phụ thuộc: </a:t>
            </a:r>
            <a:r>
              <a:rPr lang="vi-VN" sz="1800" b="0" i="0" dirty="0"/>
              <a:t>RavenBuild (FSE 2024): ý định thay đổi, liên quan với build trước, đồ thị phụ thuộc.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Đọc nội dung: </a:t>
            </a:r>
            <a:r>
              <a:rPr lang="vi-VN" sz="1800" b="0" i="0" dirty="0"/>
              <a:t>GitSense (ISSTA 2024): Transformer trên commit message + diff + tên file.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Contrastive phân cấp: </a:t>
            </a:r>
            <a:r>
              <a:rPr lang="vi-VN" sz="1800" b="0" i="0" dirty="0"/>
              <a:t>SupCon (NeurIPS 2020), Use All The Labels (CVPR 2022). Chưa thấy dùng cho build prediction.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vi-VN" sz="1800" b="1" i="0" dirty="0"/>
              <a:t>Đề tài chọn: </a:t>
            </a:r>
            <a:r>
              <a:rPr lang="vi-VN" sz="1800" b="0" i="0" dirty="0"/>
              <a:t>encoder phân cấp hunk → file → commit + contrastive theo cây loại lỗi + feature lịch sử; so với Parrot, LR, XGBoost, GitSense, SupCon một tầng.</a:t>
            </a:r>
          </a:p>
        </p:txBody>
      </p:sp>
      <p:sp>
        <p:nvSpPr>
          <p:cNvPr id="313" name="TextShape 2">
            <a:extLst>
              <a:ext uri="{FF2B5EF4-FFF2-40B4-BE49-F238E27FC236}">
                <a16:creationId xmlns:a16="http://schemas.microsoft.com/office/drawing/2014/main" id="{6C0D2DE3-CD29-2D5E-CEC5-ACE2F5CF0B8C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4. Khảo sát phương pháp</a:t>
            </a:r>
            <a:endParaRPr lang="en-US" sz="3200" spc="-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6194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EDC68-73D4-C80A-8B5B-57CB41F2F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Shape 2">
            <a:extLst>
              <a:ext uri="{FF2B5EF4-FFF2-40B4-BE49-F238E27FC236}">
                <a16:creationId xmlns:a16="http://schemas.microsoft.com/office/drawing/2014/main" id="{6C0D2DE3-CD29-2D5E-CEC5-ACE2F5CF0B8C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5. Giao thức đánh giá</a:t>
            </a:r>
            <a:endParaRPr lang="en-US" sz="3200" spc="-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14" name="Rounded Rectangle 313"/>
          <p:cNvSpPr/>
          <p:nvPr/>
        </p:nvSpPr>
        <p:spPr>
          <a:xfrm>
            <a:off x="411480" y="1051560"/>
            <a:ext cx="2697480" cy="29718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15875">
            <a:solidFill>
              <a:srgbClr val="8C9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Rounded Rectangle 314"/>
          <p:cNvSpPr/>
          <p:nvPr/>
        </p:nvSpPr>
        <p:spPr>
          <a:xfrm>
            <a:off x="411480" y="105156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013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P0 · Chia ngẫu nhiên</a:t>
            </a:r>
          </a:p>
          <a:p>
            <a:pPr algn="ctr"/>
            <a:r>
              <a:rPr sz="1400" b="0">
                <a:solidFill>
                  <a:srgbClr val="DDE6F2"/>
                </a:solidFill>
                <a:latin typeface="Calibri"/>
              </a:rPr>
              <a:t>mốc so sánh với nghiên cứu cũ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76072" y="2075688"/>
            <a:ext cx="2404872" cy="723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dirty="0">
                <a:solidFill>
                  <a:srgbClr val="262626"/>
                </a:solidFill>
                <a:latin typeface="Calibri"/>
              </a:rPr>
              <a:t>• Chia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ngẫu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nhiên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train/test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262626"/>
                </a:solidFill>
                <a:latin typeface="Calibri"/>
              </a:rPr>
              <a:t>•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Dễ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rò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rỉ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thông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tin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theo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thời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gian</a:t>
            </a:r>
            <a:endParaRPr sz="140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17" name="Rounded Rectangle 316"/>
          <p:cNvSpPr/>
          <p:nvPr/>
        </p:nvSpPr>
        <p:spPr>
          <a:xfrm>
            <a:off x="3319272" y="1051560"/>
            <a:ext cx="2697480" cy="29718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Rounded Rectangle 317"/>
          <p:cNvSpPr/>
          <p:nvPr/>
        </p:nvSpPr>
        <p:spPr>
          <a:xfrm>
            <a:off x="3319272" y="105156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013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P1 · Theo thời gian</a:t>
            </a:r>
          </a:p>
          <a:p>
            <a:pPr algn="ctr"/>
            <a:r>
              <a:rPr sz="1400" b="0">
                <a:solidFill>
                  <a:srgbClr val="DDE6F2"/>
                </a:solidFill>
                <a:latin typeface="Calibri"/>
              </a:rPr>
              <a:t>dùng thật được không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3483864" y="2075688"/>
            <a:ext cx="240487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  <a:latin typeface="Calibri"/>
              </a:rPr>
              <a:t>• Train giai đoạn đầu, test giai đoạn sau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  <a:latin typeface="Calibri"/>
              </a:rPr>
              <a:t>• Không xáo trộn theo thời gian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  <a:latin typeface="Calibri"/>
              </a:rPr>
              <a:t>• Cửa sổ trượt để đo drift</a:t>
            </a:r>
          </a:p>
        </p:txBody>
      </p:sp>
      <p:sp>
        <p:nvSpPr>
          <p:cNvPr id="320" name="Rounded Rectangle 319"/>
          <p:cNvSpPr/>
          <p:nvPr/>
        </p:nvSpPr>
        <p:spPr>
          <a:xfrm>
            <a:off x="6227064" y="1051560"/>
            <a:ext cx="2697480" cy="29718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Rounded Rectangle 320"/>
          <p:cNvSpPr/>
          <p:nvPr/>
        </p:nvSpPr>
        <p:spPr>
          <a:xfrm>
            <a:off x="6227064" y="105156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013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P2 · Chéo repo</a:t>
            </a:r>
          </a:p>
          <a:p>
            <a:pPr algn="ctr"/>
            <a:r>
              <a:rPr sz="1400" b="0">
                <a:solidFill>
                  <a:srgbClr val="DDE6F2"/>
                </a:solidFill>
                <a:latin typeface="Calibri"/>
              </a:rPr>
              <a:t>repo chưa thấy khi huấn luyện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6391656" y="2075688"/>
            <a:ext cx="240487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  <a:latin typeface="Calibri"/>
              </a:rPr>
              <a:t>• Train repo A, test repo B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  <a:latin typeface="Calibri"/>
              </a:rPr>
              <a:t>• Gom workflow/job về loại chung (build/test/lint/deploy)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62626"/>
                </a:solidFill>
                <a:latin typeface="Calibri"/>
              </a:rPr>
              <a:t>• Kiểm tra khả năng khái quát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9134856" y="1051560"/>
            <a:ext cx="2697480" cy="2971800"/>
          </a:xfrm>
          <a:prstGeom prst="roundRect">
            <a:avLst>
              <a:gd name="adj" fmla="val 5000"/>
            </a:avLst>
          </a:prstGeom>
          <a:solidFill>
            <a:srgbClr val="FAFBFD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ounded Rectangle 323"/>
          <p:cNvSpPr/>
          <p:nvPr/>
        </p:nvSpPr>
        <p:spPr>
          <a:xfrm>
            <a:off x="9134856" y="105156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013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P3 · Lần fail đầu tiên</a:t>
            </a:r>
          </a:p>
          <a:p>
            <a:pPr algn="ctr"/>
            <a:r>
              <a:rPr sz="1400" b="0">
                <a:solidFill>
                  <a:srgbClr val="DDE6F2"/>
                </a:solidFill>
                <a:latin typeface="Calibri"/>
              </a:rPr>
              <a:t>có hơn Parrot thật không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9299448" y="2075688"/>
            <a:ext cx="2404872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dirty="0">
                <a:solidFill>
                  <a:srgbClr val="262626"/>
                </a:solidFill>
                <a:latin typeface="Calibri"/>
              </a:rPr>
              <a:t>• Commit fail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ngay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sau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commit pass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262626"/>
                </a:solidFill>
                <a:latin typeface="Calibri"/>
              </a:rPr>
              <a:t>•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Giả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lập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không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biết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kết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quả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build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trước</a:t>
            </a:r>
            <a:endParaRPr sz="1400" dirty="0">
              <a:solidFill>
                <a:srgbClr val="262626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262626"/>
                </a:solidFill>
                <a:latin typeface="Calibri"/>
              </a:rPr>
              <a:t>• So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sánh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chỉ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diff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và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diff +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lịch</a:t>
            </a:r>
            <a:r>
              <a:rPr sz="140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dirty="0" err="1">
                <a:solidFill>
                  <a:srgbClr val="262626"/>
                </a:solidFill>
                <a:latin typeface="Calibri"/>
              </a:rPr>
              <a:t>sử</a:t>
            </a:r>
            <a:endParaRPr sz="140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26" name="Rounded Rectangle 325"/>
          <p:cNvSpPr/>
          <p:nvPr/>
        </p:nvSpPr>
        <p:spPr>
          <a:xfrm>
            <a:off x="411480" y="422452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FDECEC"/>
          </a:solidFill>
          <a:ln w="15875">
            <a:solidFill>
              <a:srgbClr val="C0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>
                <a:solidFill>
                  <a:srgbClr val="262626"/>
                </a:solidFill>
                <a:latin typeface="Calibri"/>
              </a:rPr>
              <a:t>Độ đo: F1 &amp; PR-AUC lớp fail · macro-F1 loại lỗi · % build tiết kiệm so với % fail bỏ sót · độ trễ phát hiện lỗi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411480" y="4937760"/>
            <a:ext cx="11420856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 dirty="0" err="1">
                <a:solidFill>
                  <a:srgbClr val="013364"/>
                </a:solidFill>
                <a:latin typeface="Calibri"/>
              </a:rPr>
              <a:t>Mục</a:t>
            </a:r>
            <a:r>
              <a:rPr sz="1500" b="0" i="1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013364"/>
                </a:solidFill>
                <a:latin typeface="Calibri"/>
              </a:rPr>
              <a:t>tiêu</a:t>
            </a:r>
            <a:r>
              <a:rPr sz="1500" b="0" i="1" dirty="0">
                <a:solidFill>
                  <a:srgbClr val="013364"/>
                </a:solidFill>
                <a:latin typeface="Calibri"/>
              </a:rPr>
              <a:t>: </a:t>
            </a:r>
            <a:r>
              <a:rPr lang="en-US" sz="1500" i="1" dirty="0" err="1">
                <a:solidFill>
                  <a:srgbClr val="013364"/>
                </a:solidFill>
                <a:latin typeface="Calibri"/>
              </a:rPr>
              <a:t>C</a:t>
            </a:r>
            <a:r>
              <a:rPr sz="1500" b="0" i="1" dirty="0" err="1">
                <a:solidFill>
                  <a:srgbClr val="013364"/>
                </a:solidFill>
                <a:latin typeface="Calibri"/>
              </a:rPr>
              <a:t>ải</a:t>
            </a:r>
            <a:r>
              <a:rPr sz="1500" b="0" i="1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013364"/>
                </a:solidFill>
                <a:latin typeface="Calibri"/>
              </a:rPr>
              <a:t>thiện</a:t>
            </a:r>
            <a:r>
              <a:rPr sz="1500" b="0" i="1" dirty="0">
                <a:solidFill>
                  <a:srgbClr val="013364"/>
                </a:solidFill>
                <a:latin typeface="Calibri"/>
              </a:rPr>
              <a:t> ở P1–P3, </a:t>
            </a:r>
            <a:r>
              <a:rPr sz="1500" b="0" i="1" dirty="0" err="1">
                <a:solidFill>
                  <a:srgbClr val="013364"/>
                </a:solidFill>
                <a:latin typeface="Calibri"/>
              </a:rPr>
              <a:t>đặc</a:t>
            </a:r>
            <a:r>
              <a:rPr sz="1500" b="0" i="1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013364"/>
                </a:solidFill>
                <a:latin typeface="Calibri"/>
              </a:rPr>
              <a:t>biệt</a:t>
            </a:r>
            <a:r>
              <a:rPr sz="1500" b="0" i="1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013364"/>
                </a:solidFill>
                <a:latin typeface="Calibri"/>
              </a:rPr>
              <a:t>là</a:t>
            </a:r>
            <a:r>
              <a:rPr sz="1500" b="0" i="1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013364"/>
                </a:solidFill>
                <a:latin typeface="Calibri"/>
              </a:rPr>
              <a:t>lần</a:t>
            </a:r>
            <a:r>
              <a:rPr sz="1500" b="0" i="1" dirty="0">
                <a:solidFill>
                  <a:srgbClr val="013364"/>
                </a:solidFill>
                <a:latin typeface="Calibri"/>
              </a:rPr>
              <a:t> fail </a:t>
            </a:r>
            <a:r>
              <a:rPr sz="1500" b="0" i="1" dirty="0" err="1">
                <a:solidFill>
                  <a:srgbClr val="013364"/>
                </a:solidFill>
                <a:latin typeface="Calibri"/>
              </a:rPr>
              <a:t>đầu</a:t>
            </a:r>
            <a:r>
              <a:rPr sz="1500" b="0" i="1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0" i="1" dirty="0" err="1">
                <a:solidFill>
                  <a:srgbClr val="013364"/>
                </a:solidFill>
                <a:latin typeface="Calibri"/>
              </a:rPr>
              <a:t>tiên</a:t>
            </a:r>
            <a:r>
              <a:rPr sz="1500" b="0" i="1" dirty="0">
                <a:solidFill>
                  <a:srgbClr val="013364"/>
                </a:solidFill>
                <a:latin typeface="Calibri"/>
              </a:rPr>
              <a:t> (P3).</a:t>
            </a:r>
          </a:p>
        </p:txBody>
      </p:sp>
    </p:spTree>
    <p:extLst>
      <p:ext uri="{BB962C8B-B14F-4D97-AF65-F5344CB8AC3E}">
        <p14:creationId xmlns:p14="http://schemas.microsoft.com/office/powerpoint/2010/main" val="126194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762BE-05C2-5392-BB3F-C147F4DCF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Shape 2">
            <a:extLst>
              <a:ext uri="{FF2B5EF4-FFF2-40B4-BE49-F238E27FC236}">
                <a16:creationId xmlns:a16="http://schemas.microsoft.com/office/drawing/2014/main" id="{4D3D4E23-1F23-DF6C-98DE-0A0D23705FCA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6. Luồng dự đoán</a:t>
            </a:r>
          </a:p>
        </p:txBody>
      </p:sp>
      <p:sp>
        <p:nvSpPr>
          <p:cNvPr id="314" name="Rounded Rectangle 313"/>
          <p:cNvSpPr/>
          <p:nvPr/>
        </p:nvSpPr>
        <p:spPr>
          <a:xfrm>
            <a:off x="365760" y="960120"/>
            <a:ext cx="11475720" cy="1783080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 w="12700">
            <a:solidFill>
              <a:srgbClr val="8C9BB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TextBox 314"/>
          <p:cNvSpPr txBox="1"/>
          <p:nvPr/>
        </p:nvSpPr>
        <p:spPr>
          <a:xfrm>
            <a:off x="475488" y="996696"/>
            <a:ext cx="112014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 dirty="0">
                <a:solidFill>
                  <a:srgbClr val="013364"/>
                </a:solidFill>
                <a:latin typeface="Calibri"/>
              </a:rPr>
              <a:t>Offline: </a:t>
            </a:r>
            <a:r>
              <a:rPr sz="1500" b="1" i="0" dirty="0" err="1">
                <a:solidFill>
                  <a:srgbClr val="013364"/>
                </a:solidFill>
                <a:latin typeface="Calibri"/>
              </a:rPr>
              <a:t>dữ</a:t>
            </a:r>
            <a:r>
              <a:rPr sz="1500" b="1" i="0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013364"/>
                </a:solidFill>
                <a:latin typeface="Calibri"/>
              </a:rPr>
              <a:t>liệu</a:t>
            </a:r>
            <a:r>
              <a:rPr sz="1500" b="1" i="0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013364"/>
                </a:solidFill>
                <a:latin typeface="Calibri"/>
              </a:rPr>
              <a:t>GHARuns</a:t>
            </a:r>
            <a:r>
              <a:rPr lang="en-US" sz="1500" b="1" dirty="0">
                <a:solidFill>
                  <a:srgbClr val="013364"/>
                </a:solidFill>
                <a:latin typeface="Calibri"/>
              </a:rPr>
              <a:t> + GitHub workflows</a:t>
            </a:r>
            <a:r>
              <a:rPr sz="1500" b="1" i="0" dirty="0">
                <a:solidFill>
                  <a:srgbClr val="013364"/>
                </a:solidFill>
                <a:latin typeface="Calibri"/>
              </a:rPr>
              <a:t>, </a:t>
            </a:r>
            <a:r>
              <a:rPr sz="1500" b="1" i="0" dirty="0" err="1">
                <a:solidFill>
                  <a:srgbClr val="013364"/>
                </a:solidFill>
                <a:latin typeface="Calibri"/>
              </a:rPr>
              <a:t>gán</a:t>
            </a:r>
            <a:r>
              <a:rPr sz="1500" b="1" i="0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013364"/>
                </a:solidFill>
                <a:latin typeface="Calibri"/>
              </a:rPr>
              <a:t>nhãn</a:t>
            </a:r>
            <a:r>
              <a:rPr sz="1500" b="1" i="0" dirty="0">
                <a:solidFill>
                  <a:srgbClr val="013364"/>
                </a:solidFill>
                <a:latin typeface="Calibri"/>
              </a:rPr>
              <a:t>, </a:t>
            </a:r>
            <a:r>
              <a:rPr sz="1500" b="1" i="0" dirty="0" err="1">
                <a:solidFill>
                  <a:srgbClr val="013364"/>
                </a:solidFill>
                <a:latin typeface="Calibri"/>
              </a:rPr>
              <a:t>huấn</a:t>
            </a:r>
            <a:r>
              <a:rPr sz="1500" b="1" i="0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013364"/>
                </a:solidFill>
                <a:latin typeface="Calibri"/>
              </a:rPr>
              <a:t>luyện</a:t>
            </a:r>
            <a:r>
              <a:rPr sz="1500" b="1" i="0" dirty="0">
                <a:solidFill>
                  <a:srgbClr val="013364"/>
                </a:solidFill>
                <a:latin typeface="Calibri"/>
              </a:rPr>
              <a:t> &amp; </a:t>
            </a:r>
            <a:r>
              <a:rPr sz="1500" b="1" i="0" dirty="0" err="1">
                <a:solidFill>
                  <a:srgbClr val="013364"/>
                </a:solidFill>
                <a:latin typeface="Calibri"/>
              </a:rPr>
              <a:t>chọn</a:t>
            </a:r>
            <a:r>
              <a:rPr sz="1500" b="1" i="0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013364"/>
                </a:solidFill>
                <a:latin typeface="Calibri"/>
              </a:rPr>
              <a:t>mô</a:t>
            </a:r>
            <a:r>
              <a:rPr sz="1500" b="1" i="0" dirty="0">
                <a:solidFill>
                  <a:srgbClr val="013364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013364"/>
                </a:solidFill>
                <a:latin typeface="Calibri"/>
              </a:rPr>
              <a:t>hình</a:t>
            </a:r>
            <a:endParaRPr sz="1500" b="1" i="0" dirty="0">
              <a:solidFill>
                <a:srgbClr val="013364"/>
              </a:solidFill>
              <a:latin typeface="Calibri"/>
            </a:endParaRPr>
          </a:p>
        </p:txBody>
      </p:sp>
      <p:sp>
        <p:nvSpPr>
          <p:cNvPr id="316" name="Rounded Rectangle 315"/>
          <p:cNvSpPr/>
          <p:nvPr/>
        </p:nvSpPr>
        <p:spPr>
          <a:xfrm>
            <a:off x="365760" y="3611880"/>
            <a:ext cx="11475720" cy="1783080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 w="12700">
            <a:solidFill>
              <a:srgbClr val="8C9BB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TextBox 316"/>
          <p:cNvSpPr txBox="1"/>
          <p:nvPr/>
        </p:nvSpPr>
        <p:spPr>
          <a:xfrm>
            <a:off x="475488" y="3648456"/>
            <a:ext cx="112014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13364"/>
                </a:solidFill>
                <a:latin typeface="Calibri"/>
              </a:rPr>
              <a:t>Khi có push / PR: dự đoán trước khi chạy CI</a:t>
            </a:r>
          </a:p>
        </p:txBody>
      </p:sp>
      <p:sp>
        <p:nvSpPr>
          <p:cNvPr id="318" name="Rounded Rectangle 317"/>
          <p:cNvSpPr/>
          <p:nvPr/>
        </p:nvSpPr>
        <p:spPr>
          <a:xfrm>
            <a:off x="502920" y="141732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vi-VN" sz="1400" b="1" dirty="0">
                <a:solidFill>
                  <a:srgbClr val="262626"/>
                </a:solidFill>
                <a:latin typeface="Calibri"/>
              </a:rPr>
              <a:t>GHARuns</a:t>
            </a:r>
            <a:r>
              <a:rPr lang="en-US" sz="1400" b="1" dirty="0">
                <a:solidFill>
                  <a:srgbClr val="262626"/>
                </a:solidFill>
                <a:latin typeface="Calibri"/>
              </a:rPr>
              <a:t> + GitHub workflows</a:t>
            </a:r>
            <a:endParaRPr lang="vi-VN" sz="1400" b="1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319" name="Rounded Rectangle 318"/>
          <p:cNvSpPr/>
          <p:nvPr/>
        </p:nvSpPr>
        <p:spPr>
          <a:xfrm>
            <a:off x="2788920" y="141732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dirty="0" err="1">
                <a:solidFill>
                  <a:srgbClr val="262626"/>
                </a:solidFill>
                <a:latin typeface="Calibri"/>
              </a:rPr>
              <a:t>Gán</a:t>
            </a:r>
            <a:r>
              <a:rPr sz="1400" b="1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262626"/>
                </a:solidFill>
                <a:latin typeface="Calibri"/>
              </a:rPr>
              <a:t>nhãn</a:t>
            </a:r>
            <a:endParaRPr sz="1200" b="0" dirty="0">
              <a:solidFill>
                <a:srgbClr val="595959"/>
              </a:solidFill>
              <a:latin typeface="Calibri"/>
            </a:endParaRPr>
          </a:p>
        </p:txBody>
      </p:sp>
      <p:sp>
        <p:nvSpPr>
          <p:cNvPr id="320" name="Rounded Rectangle 319"/>
          <p:cNvSpPr/>
          <p:nvPr/>
        </p:nvSpPr>
        <p:spPr>
          <a:xfrm>
            <a:off x="5074920" y="141732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1400" b="1" dirty="0">
                <a:solidFill>
                  <a:srgbClr val="262626"/>
                </a:solidFill>
                <a:latin typeface="Calibri"/>
              </a:rPr>
              <a:t>Embedding Code Diff</a:t>
            </a:r>
            <a:endParaRPr sz="1400" b="1" dirty="0">
              <a:solidFill>
                <a:srgbClr val="262626"/>
              </a:solidFill>
              <a:latin typeface="Calibri"/>
            </a:endParaRPr>
          </a:p>
          <a:p>
            <a:pPr algn="ctr"/>
            <a:r>
              <a:rPr sz="1200" b="0" dirty="0" err="1">
                <a:solidFill>
                  <a:srgbClr val="595959"/>
                </a:solidFill>
                <a:latin typeface="Calibri"/>
              </a:rPr>
              <a:t>CodeBERT</a:t>
            </a:r>
            <a:endParaRPr sz="1200" b="0" dirty="0">
              <a:solidFill>
                <a:srgbClr val="595959"/>
              </a:solidFill>
              <a:latin typeface="Calibri"/>
            </a:endParaRPr>
          </a:p>
        </p:txBody>
      </p:sp>
      <p:sp>
        <p:nvSpPr>
          <p:cNvPr id="321" name="Rounded Rectangle 320"/>
          <p:cNvSpPr/>
          <p:nvPr/>
        </p:nvSpPr>
        <p:spPr>
          <a:xfrm>
            <a:off x="7360920" y="141732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dirty="0" err="1">
                <a:solidFill>
                  <a:srgbClr val="262626"/>
                </a:solidFill>
                <a:latin typeface="Calibri"/>
              </a:rPr>
              <a:t>Huấn</a:t>
            </a:r>
            <a:r>
              <a:rPr sz="1400" b="1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262626"/>
                </a:solidFill>
                <a:latin typeface="Calibri"/>
              </a:rPr>
              <a:t>luyện</a:t>
            </a:r>
            <a:r>
              <a:rPr sz="1400" b="1" dirty="0">
                <a:solidFill>
                  <a:srgbClr val="262626"/>
                </a:solidFill>
                <a:latin typeface="Calibri"/>
              </a:rPr>
              <a:t> HCL</a:t>
            </a:r>
          </a:p>
          <a:p>
            <a:pPr algn="ctr"/>
            <a:r>
              <a:rPr sz="1200" b="0" dirty="0">
                <a:solidFill>
                  <a:srgbClr val="595959"/>
                </a:solidFill>
                <a:latin typeface="Calibri"/>
              </a:rPr>
              <a:t>loss </a:t>
            </a:r>
            <a:r>
              <a:rPr sz="1200" b="0" dirty="0" err="1">
                <a:solidFill>
                  <a:srgbClr val="595959"/>
                </a:solidFill>
                <a:latin typeface="Calibri"/>
              </a:rPr>
              <a:t>phân</a:t>
            </a:r>
            <a:r>
              <a:rPr sz="1200" b="0" dirty="0">
                <a:solidFill>
                  <a:srgbClr val="595959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95959"/>
                </a:solidFill>
                <a:latin typeface="Calibri"/>
              </a:rPr>
              <a:t>cấp</a:t>
            </a:r>
            <a:r>
              <a:rPr sz="1200" b="0" dirty="0">
                <a:solidFill>
                  <a:srgbClr val="595959"/>
                </a:solidFill>
                <a:latin typeface="Calibri"/>
              </a:rPr>
              <a:t> + </a:t>
            </a:r>
            <a:r>
              <a:rPr sz="1200" b="0" dirty="0" err="1">
                <a:solidFill>
                  <a:srgbClr val="595959"/>
                </a:solidFill>
                <a:latin typeface="Calibri"/>
              </a:rPr>
              <a:t>lịch</a:t>
            </a:r>
            <a:r>
              <a:rPr sz="1200" b="0" dirty="0">
                <a:solidFill>
                  <a:srgbClr val="595959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95959"/>
                </a:solidFill>
                <a:latin typeface="Calibri"/>
              </a:rPr>
              <a:t>sử</a:t>
            </a:r>
            <a:endParaRPr sz="1200" b="0" dirty="0">
              <a:solidFill>
                <a:srgbClr val="595959"/>
              </a:solidFill>
              <a:latin typeface="Calibri"/>
            </a:endParaRPr>
          </a:p>
        </p:txBody>
      </p:sp>
      <p:sp>
        <p:nvSpPr>
          <p:cNvPr id="322" name="Rounded Rectangle 321"/>
          <p:cNvSpPr/>
          <p:nvPr/>
        </p:nvSpPr>
        <p:spPr>
          <a:xfrm>
            <a:off x="9646920" y="141732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dirty="0">
                <a:solidFill>
                  <a:srgbClr val="262626"/>
                </a:solidFill>
                <a:latin typeface="Calibri"/>
              </a:rPr>
              <a:t>SHAP explainer</a:t>
            </a:r>
          </a:p>
        </p:txBody>
      </p:sp>
      <p:cxnSp>
        <p:nvCxnSpPr>
          <p:cNvPr id="323" name="Connector 322"/>
          <p:cNvCxnSpPr/>
          <p:nvPr/>
        </p:nvCxnSpPr>
        <p:spPr>
          <a:xfrm>
            <a:off x="2377439" y="1897380"/>
            <a:ext cx="411481" cy="0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4663440" y="1897380"/>
            <a:ext cx="411480" cy="0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5" name="Rounded Rectangle 324"/>
          <p:cNvSpPr/>
          <p:nvPr/>
        </p:nvSpPr>
        <p:spPr>
          <a:xfrm>
            <a:off x="502920" y="406908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dirty="0">
                <a:solidFill>
                  <a:srgbClr val="262626"/>
                </a:solidFill>
                <a:latin typeface="Calibri"/>
              </a:rPr>
              <a:t>Push / Pull request</a:t>
            </a:r>
          </a:p>
          <a:p>
            <a:pPr algn="ctr"/>
            <a:r>
              <a:rPr sz="1200" b="0" dirty="0">
                <a:solidFill>
                  <a:srgbClr val="595959"/>
                </a:solidFill>
                <a:latin typeface="Calibri"/>
              </a:rPr>
              <a:t>GitHub webhook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2788920" y="406908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dirty="0" err="1">
                <a:solidFill>
                  <a:srgbClr val="262626"/>
                </a:solidFill>
                <a:latin typeface="Calibri"/>
              </a:rPr>
              <a:t>Lấy</a:t>
            </a:r>
            <a:r>
              <a:rPr sz="1400" b="1" dirty="0">
                <a:solidFill>
                  <a:srgbClr val="262626"/>
                </a:solidFill>
                <a:latin typeface="Calibri"/>
              </a:rPr>
              <a:t> diff + metadata</a:t>
            </a:r>
          </a:p>
          <a:p>
            <a:pPr algn="ctr"/>
            <a:r>
              <a:rPr sz="1200" b="0" dirty="0">
                <a:solidFill>
                  <a:srgbClr val="595959"/>
                </a:solidFill>
                <a:latin typeface="Calibri"/>
              </a:rPr>
              <a:t>hunk, file, </a:t>
            </a:r>
            <a:r>
              <a:rPr sz="1200" b="0" dirty="0" err="1">
                <a:solidFill>
                  <a:srgbClr val="595959"/>
                </a:solidFill>
                <a:latin typeface="Calibri"/>
              </a:rPr>
              <a:t>lịch</a:t>
            </a:r>
            <a:r>
              <a:rPr sz="1200" b="0" dirty="0">
                <a:solidFill>
                  <a:srgbClr val="595959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95959"/>
                </a:solidFill>
                <a:latin typeface="Calibri"/>
              </a:rPr>
              <a:t>sử</a:t>
            </a:r>
            <a:r>
              <a:rPr sz="1200" b="0" dirty="0">
                <a:solidFill>
                  <a:srgbClr val="595959"/>
                </a:solidFill>
                <a:latin typeface="Calibri"/>
              </a:rPr>
              <a:t> build</a:t>
            </a:r>
          </a:p>
        </p:txBody>
      </p:sp>
      <p:sp>
        <p:nvSpPr>
          <p:cNvPr id="327" name="Rounded Rectangle 326"/>
          <p:cNvSpPr/>
          <p:nvPr/>
        </p:nvSpPr>
        <p:spPr>
          <a:xfrm>
            <a:off x="5074920" y="406908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dirty="0" err="1">
                <a:solidFill>
                  <a:srgbClr val="262626"/>
                </a:solidFill>
                <a:latin typeface="Calibri"/>
              </a:rPr>
              <a:t>Encoder phân cấp</a:t>
            </a:r>
          </a:p>
          <a:p>
            <a:pPr algn="ctr"/>
            <a:r>
              <a:rPr sz="1200" b="0" dirty="0" err="1">
                <a:solidFill>
                  <a:srgbClr val="595959"/>
                </a:solidFill>
                <a:latin typeface="Calibri"/>
              </a:rPr>
              <a:t>hunk → file → commit</a:t>
            </a:r>
            <a:endParaRPr sz="1200" b="0" dirty="0">
              <a:solidFill>
                <a:srgbClr val="595959"/>
              </a:solidFill>
              <a:latin typeface="Calibri"/>
            </a:endParaRPr>
          </a:p>
        </p:txBody>
      </p:sp>
      <p:sp>
        <p:nvSpPr>
          <p:cNvPr id="328" name="Rounded Rectangle 327"/>
          <p:cNvSpPr/>
          <p:nvPr/>
        </p:nvSpPr>
        <p:spPr>
          <a:xfrm>
            <a:off x="7360920" y="406908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dirty="0">
                <a:solidFill>
                  <a:srgbClr val="262626"/>
                </a:solidFill>
                <a:latin typeface="Calibri"/>
              </a:rPr>
              <a:t>Bộ dự đoán HCL</a:t>
            </a:r>
          </a:p>
          <a:p>
            <a:pPr algn="ctr"/>
            <a:r>
              <a:rPr sz="1200" dirty="0">
                <a:solidFill>
                  <a:srgbClr val="595959"/>
                </a:solidFill>
                <a:latin typeface="Calibri"/>
              </a:rPr>
              <a:t>xác suất fail + loại lỗi</a:t>
            </a:r>
          </a:p>
        </p:txBody>
      </p:sp>
      <p:sp>
        <p:nvSpPr>
          <p:cNvPr id="329" name="Rounded Rectangle 328"/>
          <p:cNvSpPr/>
          <p:nvPr/>
        </p:nvSpPr>
        <p:spPr>
          <a:xfrm>
            <a:off x="9646920" y="4069080"/>
            <a:ext cx="1874519" cy="96012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262626"/>
                </a:solidFill>
                <a:latin typeface="Calibri"/>
              </a:rPr>
              <a:t>Bot comment PR</a:t>
            </a:r>
          </a:p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lý do, thứ tự chạy job</a:t>
            </a:r>
          </a:p>
        </p:txBody>
      </p:sp>
      <p:cxnSp>
        <p:nvCxnSpPr>
          <p:cNvPr id="330" name="Connector 329"/>
          <p:cNvCxnSpPr/>
          <p:nvPr/>
        </p:nvCxnSpPr>
        <p:spPr>
          <a:xfrm>
            <a:off x="2377439" y="4549140"/>
            <a:ext cx="411481" cy="0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4663440" y="4549140"/>
            <a:ext cx="411480" cy="0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6949440" y="4549140"/>
            <a:ext cx="411480" cy="0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9235440" y="4549140"/>
            <a:ext cx="411480" cy="0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6012179" y="2377440"/>
            <a:ext cx="0" cy="1691640"/>
          </a:xfrm>
          <a:prstGeom prst="line">
            <a:avLst/>
          </a:prstGeom>
          <a:ln w="19050">
            <a:solidFill>
              <a:srgbClr val="C014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5" name="TextBox 334"/>
          <p:cNvSpPr txBox="1"/>
          <p:nvPr/>
        </p:nvSpPr>
        <p:spPr>
          <a:xfrm>
            <a:off x="6085331" y="297180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1">
                <a:solidFill>
                  <a:srgbClr val="C0141B"/>
                </a:solidFill>
                <a:latin typeface="Calibri"/>
              </a:rPr>
              <a:t>encoder</a:t>
            </a:r>
          </a:p>
        </p:txBody>
      </p:sp>
      <p:cxnSp>
        <p:nvCxnSpPr>
          <p:cNvPr id="336" name="Connector 335"/>
          <p:cNvCxnSpPr/>
          <p:nvPr/>
        </p:nvCxnSpPr>
        <p:spPr>
          <a:xfrm>
            <a:off x="8298180" y="2377440"/>
            <a:ext cx="0" cy="1691640"/>
          </a:xfrm>
          <a:prstGeom prst="line">
            <a:avLst/>
          </a:prstGeom>
          <a:ln w="19050">
            <a:solidFill>
              <a:srgbClr val="C014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TextBox 336"/>
          <p:cNvSpPr txBox="1"/>
          <p:nvPr/>
        </p:nvSpPr>
        <p:spPr>
          <a:xfrm>
            <a:off x="8371332" y="297180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1">
                <a:solidFill>
                  <a:srgbClr val="C0141B"/>
                </a:solidFill>
                <a:latin typeface="Calibri"/>
              </a:rPr>
              <a:t>mô hình tốt nhất</a:t>
            </a:r>
          </a:p>
        </p:txBody>
      </p:sp>
      <p:cxnSp>
        <p:nvCxnSpPr>
          <p:cNvPr id="338" name="Connector 337"/>
          <p:cNvCxnSpPr/>
          <p:nvPr/>
        </p:nvCxnSpPr>
        <p:spPr>
          <a:xfrm>
            <a:off x="10584180" y="2377440"/>
            <a:ext cx="0" cy="1691640"/>
          </a:xfrm>
          <a:prstGeom prst="line">
            <a:avLst/>
          </a:prstGeom>
          <a:ln w="19050">
            <a:solidFill>
              <a:srgbClr val="C014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9" name="TextBox 338"/>
          <p:cNvSpPr txBox="1"/>
          <p:nvPr/>
        </p:nvSpPr>
        <p:spPr>
          <a:xfrm>
            <a:off x="10657332" y="297180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1">
                <a:solidFill>
                  <a:srgbClr val="C0141B"/>
                </a:solidFill>
                <a:latin typeface="Calibri"/>
              </a:rPr>
              <a:t>giải thích</a:t>
            </a:r>
          </a:p>
        </p:txBody>
      </p:sp>
    </p:spTree>
    <p:extLst>
      <p:ext uri="{BB962C8B-B14F-4D97-AF65-F5344CB8AC3E}">
        <p14:creationId xmlns:p14="http://schemas.microsoft.com/office/powerpoint/2010/main" val="4442113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966B-1DE5-52D5-A077-5120E269C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Shape 1">
            <a:extLst>
              <a:ext uri="{FF2B5EF4-FFF2-40B4-BE49-F238E27FC236}">
                <a16:creationId xmlns:a16="http://schemas.microsoft.com/office/drawing/2014/main" id="{E269349D-DB91-DDDA-D3AD-13FE0661EF77}"/>
              </a:ext>
            </a:extLst>
          </p:cNvPr>
          <p:cNvSpPr txBox="1"/>
          <p:nvPr/>
        </p:nvSpPr>
        <p:spPr>
          <a:xfrm>
            <a:off x="338760" y="1058760"/>
            <a:ext cx="6400800" cy="4908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vi-VN" sz="1800" b="1" i="0"/>
              <a:t>Tầng 1 (pass/fail): </a:t>
            </a:r>
            <a:r>
              <a:rPr lang="vi-VN" sz="1800" b="0" i="0"/>
              <a:t>embedding của build pass và build fail luôn bị đẩy xa nhau.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vi-VN" sz="1800" b="1" i="0"/>
              <a:t>Tầng 2 (loại lỗi): </a:t>
            </a:r>
            <a:r>
              <a:rPr lang="vi-VN" sz="1800" b="0" i="0"/>
              <a:t>trong nhóm fail, các build cùng loại lỗi được gom gần nhau hơn.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vi-VN" sz="1800" b="1" i="0"/>
              <a:t>Input phân cấp: </a:t>
            </a:r>
            <a:r>
              <a:rPr lang="vi-VN" sz="1800" b="0" i="0"/>
              <a:t>dòng → hunk → file → commit (attention), ghép thêm feature lịch sử build.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vi-VN" sz="1800" b="1" i="0"/>
              <a:t>Loss: </a:t>
            </a:r>
            <a:r>
              <a:rPr lang="vi-VN" sz="1800" b="0" i="0"/>
              <a:t>L = L_cls + λ₁·L_pass/fail + λ₂·L_loại lỗi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vi-VN" sz="1800" b="1" i="0"/>
              <a:t>Kỳ vọng học được: </a:t>
            </a:r>
            <a:r>
              <a:rPr lang="vi-VN" sz="1800" b="0" i="0"/>
              <a:t>đổi chữ ký method → compile; đổi logic không sửa test → test; sai format/checkstyle → lint.</a:t>
            </a:r>
          </a:p>
        </p:txBody>
      </p:sp>
      <p:sp>
        <p:nvSpPr>
          <p:cNvPr id="313" name="TextShape 2">
            <a:extLst>
              <a:ext uri="{FF2B5EF4-FFF2-40B4-BE49-F238E27FC236}">
                <a16:creationId xmlns:a16="http://schemas.microsoft.com/office/drawing/2014/main" id="{9BBE9FD3-A9D5-71FE-72E3-672B6138213C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7. Mô hình HCL: học theo cây loại lỗi</a:t>
            </a:r>
            <a:endParaRPr lang="en-US" sz="3200" spc="-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00" name="Tree Box 500"/>
          <p:cNvSpPr/>
          <p:nvPr/>
        </p:nvSpPr>
        <p:spPr>
          <a:xfrm>
            <a:off x="8001000" y="1117600"/>
            <a:ext cx="1905000" cy="508000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txBody>
          <a:bodyPr wrap="square" lIns="45720" tIns="27432" rIns="45720" bIns="27432" rtlCol="0" anchor="ctr">
            <a:normAutofit/>
          </a:bodyPr>
          <a:lstStyle/>
          <a:p>
            <a:pPr algn="ctr"/>
            <a:r>
              <a:rPr lang="vi-VN" sz="1300" b="1">
                <a:solidFill>
                  <a:srgbClr val="262626"/>
                </a:solidFill>
                <a:latin typeface="Calibri"/>
              </a:rPr>
              <a:t>Lần build (commit)</a:t>
            </a:r>
          </a:p>
        </p:txBody>
      </p:sp>
      <p:cxnSp>
        <p:nvCxnSpPr>
          <p:cNvPr id="501" name="Tree Line 501"/>
          <p:cNvCxnSpPr/>
          <p:nvPr/>
        </p:nvCxnSpPr>
        <p:spPr>
          <a:xfrm>
            <a:off x="8953500" y="1625600"/>
            <a:ext cx="0" cy="228600"/>
          </a:xfrm>
          <a:prstGeom prst="line">
            <a:avLst/>
          </a:prstGeom>
          <a:ln w="15875">
            <a:solidFill>
              <a:srgbClr val="013364"/>
            </a:solidFill>
          </a:ln>
        </p:spPr>
      </p:cxnSp>
      <p:cxnSp>
        <p:nvCxnSpPr>
          <p:cNvPr id="502" name="Tree Line 502"/>
          <p:cNvCxnSpPr/>
          <p:nvPr/>
        </p:nvCxnSpPr>
        <p:spPr>
          <a:xfrm>
            <a:off x="7823200" y="1854200"/>
            <a:ext cx="2273300" cy="0"/>
          </a:xfrm>
          <a:prstGeom prst="line">
            <a:avLst/>
          </a:prstGeom>
          <a:ln w="15875">
            <a:solidFill>
              <a:srgbClr val="013364"/>
            </a:solidFill>
          </a:ln>
        </p:spPr>
      </p:cxnSp>
      <p:cxnSp>
        <p:nvCxnSpPr>
          <p:cNvPr id="503" name="Tree Line 503"/>
          <p:cNvCxnSpPr/>
          <p:nvPr/>
        </p:nvCxnSpPr>
        <p:spPr>
          <a:xfrm>
            <a:off x="7823200" y="1854200"/>
            <a:ext cx="0" cy="254000"/>
          </a:xfrm>
          <a:prstGeom prst="line">
            <a:avLst/>
          </a:prstGeom>
          <a:ln w="15875">
            <a:solidFill>
              <a:srgbClr val="013364"/>
            </a:solidFill>
          </a:ln>
        </p:spPr>
      </p:cxnSp>
      <p:cxnSp>
        <p:nvCxnSpPr>
          <p:cNvPr id="504" name="Tree Line 504"/>
          <p:cNvCxnSpPr/>
          <p:nvPr/>
        </p:nvCxnSpPr>
        <p:spPr>
          <a:xfrm>
            <a:off x="10096500" y="1854200"/>
            <a:ext cx="0" cy="254000"/>
          </a:xfrm>
          <a:prstGeom prst="line">
            <a:avLst/>
          </a:prstGeom>
          <a:ln w="15875">
            <a:solidFill>
              <a:srgbClr val="013364"/>
            </a:solidFill>
          </a:ln>
        </p:spPr>
      </p:cxnSp>
      <p:sp>
        <p:nvSpPr>
          <p:cNvPr id="505" name="Tree Box 505"/>
          <p:cNvSpPr/>
          <p:nvPr/>
        </p:nvSpPr>
        <p:spPr>
          <a:xfrm>
            <a:off x="7188200" y="2108200"/>
            <a:ext cx="1270000" cy="558800"/>
          </a:xfrm>
          <a:prstGeom prst="roundRect">
            <a:avLst>
              <a:gd name="adj" fmla="val 12000"/>
            </a:avLst>
          </a:prstGeom>
          <a:solidFill>
            <a:srgbClr val="E8F3EA"/>
          </a:solidFill>
          <a:ln w="15875">
            <a:solidFill>
              <a:srgbClr val="2E7D32"/>
            </a:solidFill>
          </a:ln>
          <a:effectLst/>
        </p:spPr>
        <p:txBody>
          <a:bodyPr wrap="square" lIns="45720" tIns="27432" rIns="45720" bIns="27432" rtlCol="0" anchor="ctr">
            <a:normAutofit/>
          </a:bodyPr>
          <a:lstStyle/>
          <a:p>
            <a:pPr algn="ctr"/>
            <a:r>
              <a:rPr lang="vi-VN" sz="1300" b="1">
                <a:solidFill>
                  <a:srgbClr val="262626"/>
                </a:solidFill>
                <a:latin typeface="Calibri"/>
              </a:rPr>
              <a:t>pass</a:t>
            </a:r>
          </a:p>
        </p:txBody>
      </p:sp>
      <p:sp>
        <p:nvSpPr>
          <p:cNvPr id="506" name="Tree Box 506"/>
          <p:cNvSpPr/>
          <p:nvPr/>
        </p:nvSpPr>
        <p:spPr>
          <a:xfrm>
            <a:off x="9398000" y="2108200"/>
            <a:ext cx="1397000" cy="558800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 w="15875">
            <a:solidFill>
              <a:srgbClr val="C00000"/>
            </a:solidFill>
          </a:ln>
          <a:effectLst/>
        </p:spPr>
        <p:txBody>
          <a:bodyPr wrap="square" lIns="45720" tIns="27432" rIns="45720" bIns="27432" rtlCol="0" anchor="ctr">
            <a:normAutofit/>
          </a:bodyPr>
          <a:lstStyle/>
          <a:p>
            <a:pPr algn="ctr"/>
            <a:r>
              <a:rPr lang="vi-VN" sz="1300" b="1">
                <a:solidFill>
                  <a:srgbClr val="262626"/>
                </a:solidFill>
                <a:latin typeface="Calibri"/>
              </a:rPr>
              <a:t>fail</a:t>
            </a:r>
          </a:p>
        </p:txBody>
      </p:sp>
      <p:cxnSp>
        <p:nvCxnSpPr>
          <p:cNvPr id="507" name="Tree Line 507"/>
          <p:cNvCxnSpPr/>
          <p:nvPr/>
        </p:nvCxnSpPr>
        <p:spPr>
          <a:xfrm>
            <a:off x="10096500" y="2667000"/>
            <a:ext cx="0" cy="660400"/>
          </a:xfrm>
          <a:prstGeom prst="line">
            <a:avLst/>
          </a:prstGeom>
          <a:ln w="15875">
            <a:solidFill>
              <a:srgbClr val="013364"/>
            </a:solidFill>
          </a:ln>
        </p:spPr>
      </p:cxnSp>
      <p:cxnSp>
        <p:nvCxnSpPr>
          <p:cNvPr id="508" name="Tree Line 508"/>
          <p:cNvCxnSpPr/>
          <p:nvPr/>
        </p:nvCxnSpPr>
        <p:spPr>
          <a:xfrm>
            <a:off x="7721600" y="3327400"/>
            <a:ext cx="3543300" cy="0"/>
          </a:xfrm>
          <a:prstGeom prst="line">
            <a:avLst/>
          </a:prstGeom>
          <a:ln w="15875">
            <a:solidFill>
              <a:srgbClr val="013364"/>
            </a:solidFill>
          </a:ln>
        </p:spPr>
      </p:cxnSp>
      <p:cxnSp>
        <p:nvCxnSpPr>
          <p:cNvPr id="509" name="Tree Line 509"/>
          <p:cNvCxnSpPr/>
          <p:nvPr/>
        </p:nvCxnSpPr>
        <p:spPr>
          <a:xfrm>
            <a:off x="7721600" y="3327400"/>
            <a:ext cx="0" cy="254000"/>
          </a:xfrm>
          <a:prstGeom prst="line">
            <a:avLst/>
          </a:prstGeom>
          <a:ln w="15875">
            <a:solidFill>
              <a:srgbClr val="013364"/>
            </a:solidFill>
          </a:ln>
        </p:spPr>
      </p:cxnSp>
      <p:cxnSp>
        <p:nvCxnSpPr>
          <p:cNvPr id="510" name="Tree Line 510"/>
          <p:cNvCxnSpPr/>
          <p:nvPr/>
        </p:nvCxnSpPr>
        <p:spPr>
          <a:xfrm>
            <a:off x="8902700" y="3327400"/>
            <a:ext cx="0" cy="254000"/>
          </a:xfrm>
          <a:prstGeom prst="line">
            <a:avLst/>
          </a:prstGeom>
          <a:ln w="15875">
            <a:solidFill>
              <a:srgbClr val="013364"/>
            </a:solidFill>
          </a:ln>
        </p:spPr>
      </p:cxnSp>
      <p:cxnSp>
        <p:nvCxnSpPr>
          <p:cNvPr id="511" name="Tree Line 511"/>
          <p:cNvCxnSpPr/>
          <p:nvPr/>
        </p:nvCxnSpPr>
        <p:spPr>
          <a:xfrm>
            <a:off x="10083800" y="3327400"/>
            <a:ext cx="0" cy="254000"/>
          </a:xfrm>
          <a:prstGeom prst="line">
            <a:avLst/>
          </a:prstGeom>
          <a:ln w="15875">
            <a:solidFill>
              <a:srgbClr val="013364"/>
            </a:solidFill>
          </a:ln>
        </p:spPr>
      </p:cxnSp>
      <p:cxnSp>
        <p:nvCxnSpPr>
          <p:cNvPr id="512" name="Tree Line 512"/>
          <p:cNvCxnSpPr/>
          <p:nvPr/>
        </p:nvCxnSpPr>
        <p:spPr>
          <a:xfrm>
            <a:off x="11264900" y="3327400"/>
            <a:ext cx="0" cy="254000"/>
          </a:xfrm>
          <a:prstGeom prst="line">
            <a:avLst/>
          </a:prstGeom>
          <a:ln w="15875">
            <a:solidFill>
              <a:srgbClr val="013364"/>
            </a:solidFill>
          </a:ln>
        </p:spPr>
      </p:cxnSp>
      <p:sp>
        <p:nvSpPr>
          <p:cNvPr id="513" name="Tree Box 513"/>
          <p:cNvSpPr/>
          <p:nvPr/>
        </p:nvSpPr>
        <p:spPr>
          <a:xfrm>
            <a:off x="7175500" y="3581400"/>
            <a:ext cx="1092200" cy="736600"/>
          </a:xfrm>
          <a:prstGeom prst="roundRect">
            <a:avLst>
              <a:gd name="adj" fmla="val 12000"/>
            </a:avLst>
          </a:prstGeom>
          <a:solidFill>
            <a:srgbClr val="FDF5F5"/>
          </a:solidFill>
          <a:ln w="15875">
            <a:solidFill>
              <a:srgbClr val="C00000"/>
            </a:solidFill>
          </a:ln>
          <a:effectLst/>
        </p:spPr>
        <p:txBody>
          <a:bodyPr wrap="square" lIns="45720" tIns="27432" rIns="45720" bIns="27432" rtlCol="0" anchor="ctr">
            <a:normAutofit/>
          </a:bodyPr>
          <a:lstStyle/>
          <a:p>
            <a:pPr algn="ctr"/>
            <a:r>
              <a:rPr lang="vi-VN" sz="1300" b="1">
                <a:solidFill>
                  <a:srgbClr val="262626"/>
                </a:solidFill>
                <a:latin typeface="Calibri"/>
              </a:rPr>
              <a:t>compile</a:t>
            </a:r>
          </a:p>
          <a:p>
            <a:pPr algn="ctr"/>
            <a:r>
              <a:rPr lang="vi-VN" sz="1000" b="0">
                <a:solidFill>
                  <a:srgbClr val="595959"/>
                </a:solidFill>
                <a:latin typeface="Calibri"/>
              </a:rPr>
              <a:t>18% commit fail</a:t>
            </a:r>
          </a:p>
        </p:txBody>
      </p:sp>
      <p:sp>
        <p:nvSpPr>
          <p:cNvPr id="514" name="Tree Box 514"/>
          <p:cNvSpPr/>
          <p:nvPr/>
        </p:nvSpPr>
        <p:spPr>
          <a:xfrm>
            <a:off x="8356600" y="3581400"/>
            <a:ext cx="1092200" cy="736600"/>
          </a:xfrm>
          <a:prstGeom prst="roundRect">
            <a:avLst>
              <a:gd name="adj" fmla="val 12000"/>
            </a:avLst>
          </a:prstGeom>
          <a:solidFill>
            <a:srgbClr val="FDF5F5"/>
          </a:solidFill>
          <a:ln w="15875">
            <a:solidFill>
              <a:srgbClr val="C00000"/>
            </a:solidFill>
          </a:ln>
          <a:effectLst/>
        </p:spPr>
        <p:txBody>
          <a:bodyPr wrap="square" lIns="45720" tIns="27432" rIns="45720" bIns="27432" rtlCol="0" anchor="ctr">
            <a:normAutofit/>
          </a:bodyPr>
          <a:lstStyle/>
          <a:p>
            <a:pPr algn="ctr"/>
            <a:r>
              <a:rPr lang="vi-VN" sz="1300" b="1">
                <a:solidFill>
                  <a:srgbClr val="262626"/>
                </a:solidFill>
                <a:latin typeface="Calibri"/>
              </a:rPr>
              <a:t>test</a:t>
            </a:r>
          </a:p>
          <a:p>
            <a:pPr algn="ctr"/>
            <a:r>
              <a:rPr lang="vi-VN" sz="1000" b="0">
                <a:solidFill>
                  <a:srgbClr val="595959"/>
                </a:solidFill>
                <a:latin typeface="Calibri"/>
              </a:rPr>
              <a:t>72% commit fail</a:t>
            </a:r>
          </a:p>
        </p:txBody>
      </p:sp>
      <p:sp>
        <p:nvSpPr>
          <p:cNvPr id="515" name="Tree Box 515"/>
          <p:cNvSpPr/>
          <p:nvPr/>
        </p:nvSpPr>
        <p:spPr>
          <a:xfrm>
            <a:off x="9537700" y="3581400"/>
            <a:ext cx="1092200" cy="736600"/>
          </a:xfrm>
          <a:prstGeom prst="roundRect">
            <a:avLst>
              <a:gd name="adj" fmla="val 12000"/>
            </a:avLst>
          </a:prstGeom>
          <a:solidFill>
            <a:srgbClr val="FDF5F5"/>
          </a:solidFill>
          <a:ln w="15875">
            <a:solidFill>
              <a:srgbClr val="C00000"/>
            </a:solidFill>
          </a:ln>
          <a:effectLst/>
        </p:spPr>
        <p:txBody>
          <a:bodyPr wrap="square" lIns="45720" tIns="27432" rIns="45720" bIns="27432" rtlCol="0" anchor="ctr">
            <a:normAutofit/>
          </a:bodyPr>
          <a:lstStyle/>
          <a:p>
            <a:pPr algn="ctr"/>
            <a:r>
              <a:rPr lang="vi-VN" sz="1300" b="1">
                <a:solidFill>
                  <a:srgbClr val="262626"/>
                </a:solidFill>
                <a:latin typeface="Calibri"/>
              </a:rPr>
              <a:t>lint</a:t>
            </a:r>
          </a:p>
          <a:p>
            <a:pPr algn="ctr"/>
            <a:r>
              <a:rPr lang="vi-VN" sz="1000" b="0">
                <a:solidFill>
                  <a:srgbClr val="595959"/>
                </a:solidFill>
                <a:latin typeface="Calibri"/>
              </a:rPr>
              <a:t>4% commit fail</a:t>
            </a:r>
          </a:p>
        </p:txBody>
      </p:sp>
      <p:sp>
        <p:nvSpPr>
          <p:cNvPr id="516" name="Tree Box 516"/>
          <p:cNvSpPr/>
          <p:nvPr/>
        </p:nvSpPr>
        <p:spPr>
          <a:xfrm>
            <a:off x="10718800" y="3581400"/>
            <a:ext cx="1092200" cy="736600"/>
          </a:xfrm>
          <a:prstGeom prst="roundRect">
            <a:avLst>
              <a:gd name="adj" fmla="val 12000"/>
            </a:avLst>
          </a:prstGeom>
          <a:solidFill>
            <a:srgbClr val="FDF5F5"/>
          </a:solidFill>
          <a:ln w="15875">
            <a:solidFill>
              <a:srgbClr val="C00000"/>
            </a:solidFill>
          </a:ln>
          <a:effectLst/>
        </p:spPr>
        <p:txBody>
          <a:bodyPr wrap="square" lIns="45720" tIns="27432" rIns="45720" bIns="27432" rtlCol="0" anchor="ctr">
            <a:normAutofit/>
          </a:bodyPr>
          <a:lstStyle/>
          <a:p>
            <a:pPr algn="ctr"/>
            <a:r>
              <a:rPr lang="vi-VN" sz="1300" b="1">
                <a:solidFill>
                  <a:srgbClr val="262626"/>
                </a:solidFill>
                <a:latin typeface="Calibri"/>
              </a:rPr>
              <a:t>infra/flaky</a:t>
            </a:r>
          </a:p>
          <a:p>
            <a:pPr algn="ctr"/>
            <a:r>
              <a:rPr lang="vi-VN" sz="1000" b="0">
                <a:solidFill>
                  <a:srgbClr val="595959"/>
                </a:solidFill>
                <a:latin typeface="Calibri"/>
              </a:rPr>
              <a:t>2% commit fail</a:t>
            </a:r>
          </a:p>
        </p:txBody>
      </p:sp>
      <p:sp>
        <p:nvSpPr>
          <p:cNvPr id="517" name="Tree Text 517"/>
          <p:cNvSpPr txBox="1"/>
          <p:nvPr/>
        </p:nvSpPr>
        <p:spPr>
          <a:xfrm>
            <a:off x="11049000" y="2222500"/>
            <a:ext cx="889000" cy="381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vi-VN" sz="1100" b="1" i="0">
                <a:solidFill>
                  <a:srgbClr val="013364"/>
                </a:solidFill>
                <a:latin typeface="Calibri"/>
              </a:rPr>
              <a:t>Tầng 1</a:t>
            </a:r>
          </a:p>
        </p:txBody>
      </p:sp>
      <p:sp>
        <p:nvSpPr>
          <p:cNvPr id="518" name="Tree Text 518"/>
          <p:cNvSpPr txBox="1"/>
          <p:nvPr/>
        </p:nvSpPr>
        <p:spPr>
          <a:xfrm>
            <a:off x="7188200" y="3048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vi-VN" sz="1100" b="1" i="0">
                <a:solidFill>
                  <a:srgbClr val="013364"/>
                </a:solidFill>
                <a:latin typeface="Calibri"/>
              </a:rPr>
              <a:t>Tầng 2</a:t>
            </a:r>
          </a:p>
        </p:txBody>
      </p:sp>
      <p:sp>
        <p:nvSpPr>
          <p:cNvPr id="519" name="Tree Text 519"/>
          <p:cNvSpPr txBox="1"/>
          <p:nvPr/>
        </p:nvSpPr>
        <p:spPr>
          <a:xfrm>
            <a:off x="7188200" y="4470400"/>
            <a:ext cx="46990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vi-VN" sz="1100" b="1" i="0">
                <a:solidFill>
                  <a:srgbClr val="404040"/>
                </a:solidFill>
                <a:latin typeface="Calibri"/>
              </a:rPr>
              <a:t>Tầng 1: </a:t>
            </a:r>
            <a:r>
              <a:rPr lang="vi-VN" sz="1100" b="0" i="0">
                <a:solidFill>
                  <a:srgbClr val="404040"/>
                </a:solidFill>
                <a:latin typeface="Calibri"/>
              </a:rPr>
              <a:t>pass ↔ fail luôn xa nhau.  </a:t>
            </a:r>
            <a:r>
              <a:rPr lang="vi-VN" sz="1100" b="1" i="0">
                <a:solidFill>
                  <a:srgbClr val="404040"/>
                </a:solidFill>
                <a:latin typeface="Calibri"/>
              </a:rPr>
              <a:t>Tầng 2: </a:t>
            </a:r>
            <a:r>
              <a:rPr lang="vi-VN" sz="1100" b="0" i="0">
                <a:solidFill>
                  <a:srgbClr val="404040"/>
                </a:solidFill>
                <a:latin typeface="Calibri"/>
              </a:rPr>
              <a:t>cùng loại lỗi gom gần nhau. Tỉ lệ theo GHARuns, 6 repo Java.</a:t>
            </a:r>
          </a:p>
        </p:txBody>
      </p:sp>
    </p:spTree>
    <p:extLst>
      <p:ext uri="{BB962C8B-B14F-4D97-AF65-F5344CB8AC3E}">
        <p14:creationId xmlns:p14="http://schemas.microsoft.com/office/powerpoint/2010/main" val="19628514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875E-97EE-CEDB-703E-BF87DACC5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Shape 2">
            <a:extLst>
              <a:ext uri="{FF2B5EF4-FFF2-40B4-BE49-F238E27FC236}">
                <a16:creationId xmlns:a16="http://schemas.microsoft.com/office/drawing/2014/main" id="{CB47BE62-47EB-47C6-3242-C1F1EA85DFBC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8. Kiến trúc hệ thống</a:t>
            </a:r>
          </a:p>
        </p:txBody>
      </p:sp>
      <p:sp>
        <p:nvSpPr>
          <p:cNvPr id="314" name="Rounded Rectangle 313"/>
          <p:cNvSpPr/>
          <p:nvPr/>
        </p:nvSpPr>
        <p:spPr>
          <a:xfrm>
            <a:off x="320040" y="960120"/>
            <a:ext cx="2697480" cy="424281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 w="12700">
            <a:solidFill>
              <a:srgbClr val="8C9BB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TextBox 314"/>
          <p:cNvSpPr txBox="1"/>
          <p:nvPr/>
        </p:nvSpPr>
        <p:spPr>
          <a:xfrm>
            <a:off x="429768" y="996696"/>
            <a:ext cx="24231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13364"/>
                </a:solidFill>
                <a:latin typeface="Calibri"/>
              </a:rPr>
              <a:t>Khối thu thập</a:t>
            </a:r>
          </a:p>
        </p:txBody>
      </p:sp>
      <p:sp>
        <p:nvSpPr>
          <p:cNvPr id="316" name="Rounded Rectangle 315"/>
          <p:cNvSpPr/>
          <p:nvPr/>
        </p:nvSpPr>
        <p:spPr>
          <a:xfrm>
            <a:off x="3246120" y="960120"/>
            <a:ext cx="2697480" cy="424281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 w="12700">
            <a:solidFill>
              <a:srgbClr val="8C9BB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TextBox 316"/>
          <p:cNvSpPr txBox="1"/>
          <p:nvPr/>
        </p:nvSpPr>
        <p:spPr>
          <a:xfrm>
            <a:off x="3355848" y="996696"/>
            <a:ext cx="24231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13364"/>
                </a:solidFill>
                <a:latin typeface="Calibri"/>
              </a:rPr>
              <a:t>Khối học máy</a:t>
            </a:r>
          </a:p>
        </p:txBody>
      </p:sp>
      <p:sp>
        <p:nvSpPr>
          <p:cNvPr id="318" name="Rounded Rectangle 317"/>
          <p:cNvSpPr/>
          <p:nvPr/>
        </p:nvSpPr>
        <p:spPr>
          <a:xfrm>
            <a:off x="6172200" y="960120"/>
            <a:ext cx="2697480" cy="424281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 w="12700">
            <a:solidFill>
              <a:srgbClr val="8C9BB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TextBox 318"/>
          <p:cNvSpPr txBox="1"/>
          <p:nvPr/>
        </p:nvSpPr>
        <p:spPr>
          <a:xfrm>
            <a:off x="6281928" y="996696"/>
            <a:ext cx="24231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13364"/>
                </a:solidFill>
                <a:latin typeface="Calibri"/>
              </a:rPr>
              <a:t>Khối phục vụ</a:t>
            </a:r>
          </a:p>
        </p:txBody>
      </p:sp>
      <p:sp>
        <p:nvSpPr>
          <p:cNvPr id="320" name="Rounded Rectangle 319"/>
          <p:cNvSpPr/>
          <p:nvPr/>
        </p:nvSpPr>
        <p:spPr>
          <a:xfrm>
            <a:off x="9098280" y="960120"/>
            <a:ext cx="2697480" cy="424281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 w="12700">
            <a:solidFill>
              <a:srgbClr val="8C9BB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TextBox 320"/>
          <p:cNvSpPr txBox="1"/>
          <p:nvPr/>
        </p:nvSpPr>
        <p:spPr>
          <a:xfrm>
            <a:off x="9208007" y="996696"/>
            <a:ext cx="24231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13364"/>
                </a:solidFill>
                <a:latin typeface="Calibri"/>
              </a:rPr>
              <a:t>Khối tích hợp &amp; hiển thị</a:t>
            </a:r>
          </a:p>
        </p:txBody>
      </p:sp>
      <p:sp>
        <p:nvSpPr>
          <p:cNvPr id="322" name="Rounded Rectangle 321"/>
          <p:cNvSpPr/>
          <p:nvPr/>
        </p:nvSpPr>
        <p:spPr>
          <a:xfrm>
            <a:off x="548640" y="1508760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Calibri"/>
              </a:rPr>
              <a:t>GHARuns (Zenodo)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runs, jobs, steps (Parquet)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548640" y="2441448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Calibri"/>
              </a:rPr>
              <a:t>git clone (blob:none)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git show → diff</a:t>
            </a:r>
          </a:p>
        </p:txBody>
      </p:sp>
      <p:sp>
        <p:nvSpPr>
          <p:cNvPr id="324" name="Rounded Rectangle 323"/>
          <p:cNvSpPr/>
          <p:nvPr/>
        </p:nvSpPr>
        <p:spPr>
          <a:xfrm>
            <a:off x="548640" y="3374136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Calibri"/>
              </a:rPr>
              <a:t>GitHub API (mẫu)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log để kiểm chứng nhãn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3474720" y="1508760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Calibri"/>
              </a:rPr>
              <a:t>Xử lý &amp; gán nhãn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DuckDB: nhãn, lịch sử, feature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3474720" y="2441448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dirty="0">
                <a:solidFill>
                  <a:srgbClr val="262626"/>
                </a:solidFill>
                <a:latin typeface="Calibri"/>
              </a:rPr>
              <a:t>Encoder </a:t>
            </a:r>
            <a:r>
              <a:rPr sz="1300" b="1" dirty="0" err="1">
                <a:solidFill>
                  <a:srgbClr val="262626"/>
                </a:solidFill>
                <a:latin typeface="Calibri"/>
              </a:rPr>
              <a:t>phân</a:t>
            </a:r>
            <a:r>
              <a:rPr sz="1300" b="1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1" dirty="0" err="1">
                <a:solidFill>
                  <a:srgbClr val="262626"/>
                </a:solidFill>
                <a:latin typeface="Calibri"/>
              </a:rPr>
              <a:t>cấp</a:t>
            </a:r>
            <a:endParaRPr sz="1300" b="1" dirty="0">
              <a:solidFill>
                <a:srgbClr val="262626"/>
              </a:solidFill>
              <a:latin typeface="Calibri"/>
            </a:endParaRPr>
          </a:p>
          <a:p>
            <a:pPr algn="ctr"/>
            <a:r>
              <a:rPr sz="1100" b="0" dirty="0" err="1">
                <a:solidFill>
                  <a:srgbClr val="595959"/>
                </a:solidFill>
                <a:latin typeface="Calibri"/>
              </a:rPr>
              <a:t>CodeBERT</a:t>
            </a:r>
            <a:r>
              <a:rPr sz="1100" b="0" dirty="0">
                <a:solidFill>
                  <a:srgbClr val="595959"/>
                </a:solidFill>
                <a:latin typeface="Calibri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Calibri"/>
              </a:rPr>
              <a:t>UniXcoder</a:t>
            </a:r>
            <a:endParaRPr sz="1100" b="0" dirty="0">
              <a:solidFill>
                <a:srgbClr val="595959"/>
              </a:solidFill>
              <a:latin typeface="Calibri"/>
            </a:endParaRPr>
          </a:p>
        </p:txBody>
      </p:sp>
      <p:sp>
        <p:nvSpPr>
          <p:cNvPr id="327" name="Rounded Rectangle 326"/>
          <p:cNvSpPr/>
          <p:nvPr/>
        </p:nvSpPr>
        <p:spPr>
          <a:xfrm>
            <a:off x="3474720" y="3374136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Calibri"/>
              </a:rPr>
              <a:t>HCL head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phân loại + contrastive 2 tầng</a:t>
            </a:r>
          </a:p>
        </p:txBody>
      </p:sp>
      <p:sp>
        <p:nvSpPr>
          <p:cNvPr id="328" name="Rounded Rectangle 327"/>
          <p:cNvSpPr/>
          <p:nvPr/>
        </p:nvSpPr>
        <p:spPr>
          <a:xfrm>
            <a:off x="3474720" y="4306824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Calibri"/>
              </a:rPr>
              <a:t>Model registry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checkpoint + cấu hình</a:t>
            </a:r>
          </a:p>
        </p:txBody>
      </p:sp>
      <p:sp>
        <p:nvSpPr>
          <p:cNvPr id="329" name="Rounded Rectangle 328"/>
          <p:cNvSpPr/>
          <p:nvPr/>
        </p:nvSpPr>
        <p:spPr>
          <a:xfrm>
            <a:off x="6400800" y="1508760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Calibri"/>
              </a:rPr>
              <a:t>FastAPI /predict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xác suất fail + loại lỗi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6400800" y="2441448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vi-VN" sz="1300" b="1" dirty="0">
                <a:solidFill>
                  <a:srgbClr val="262626"/>
                </a:solidFill>
                <a:latin typeface="Calibri"/>
              </a:rPr>
              <a:t>SHAP</a:t>
            </a:r>
          </a:p>
          <a:p>
            <a:pPr algn="ctr"/>
            <a:r>
              <a:rPr lang="vi-VN" sz="1100" b="0" dirty="0">
                <a:solidFill>
                  <a:srgbClr val="595959"/>
                </a:solidFill>
                <a:latin typeface="Calibri"/>
              </a:rPr>
              <a:t>giải thích dự đoán</a:t>
            </a:r>
          </a:p>
        </p:txBody>
      </p:sp>
      <p:sp>
        <p:nvSpPr>
          <p:cNvPr id="331" name="Rounded Rectangle 330"/>
          <p:cNvSpPr/>
          <p:nvPr/>
        </p:nvSpPr>
        <p:spPr>
          <a:xfrm>
            <a:off x="6400800" y="3374136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Calibri"/>
              </a:rPr>
              <a:t>Lưu kết quả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dự đoán + kết quả build thật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9326880" y="1508760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Calibri"/>
              </a:rPr>
              <a:t>GitHub webhook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push / pull request</a:t>
            </a:r>
          </a:p>
        </p:txBody>
      </p:sp>
      <p:sp>
        <p:nvSpPr>
          <p:cNvPr id="333" name="Rounded Rectangle 332"/>
          <p:cNvSpPr/>
          <p:nvPr/>
        </p:nvSpPr>
        <p:spPr>
          <a:xfrm>
            <a:off x="9326880" y="2441448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Calibri"/>
              </a:rPr>
              <a:t>Bot comment PR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xác suất, loại lỗi, lý do</a:t>
            </a:r>
          </a:p>
        </p:txBody>
      </p:sp>
      <p:sp>
        <p:nvSpPr>
          <p:cNvPr id="334" name="Rounded Rectangle 333"/>
          <p:cNvSpPr/>
          <p:nvPr/>
        </p:nvSpPr>
        <p:spPr>
          <a:xfrm>
            <a:off x="9326880" y="3374136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dirty="0">
                <a:solidFill>
                  <a:srgbClr val="262626"/>
                </a:solidFill>
                <a:latin typeface="Calibri"/>
              </a:rPr>
              <a:t>Dashboard</a:t>
            </a:r>
          </a:p>
          <a:p>
            <a:pPr algn="ctr"/>
            <a:r>
              <a:rPr sz="1100" b="0" dirty="0">
                <a:solidFill>
                  <a:srgbClr val="595959"/>
                </a:solidFill>
                <a:latin typeface="Calibri"/>
              </a:rPr>
              <a:t>so sánh baseline, P0–P3</a:t>
            </a:r>
          </a:p>
        </p:txBody>
      </p:sp>
      <p:cxnSp>
        <p:nvCxnSpPr>
          <p:cNvPr id="335" name="Connector 334"/>
          <p:cNvCxnSpPr/>
          <p:nvPr/>
        </p:nvCxnSpPr>
        <p:spPr>
          <a:xfrm>
            <a:off x="1668780" y="2221991"/>
            <a:ext cx="0" cy="219457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668780" y="3154680"/>
            <a:ext cx="0" cy="219456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4594860" y="2221991"/>
            <a:ext cx="0" cy="219457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4594860" y="3154680"/>
            <a:ext cx="0" cy="219456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0447019" y="2221991"/>
            <a:ext cx="0" cy="219457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0447019" y="3154680"/>
            <a:ext cx="0" cy="219456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4594860" y="4087368"/>
            <a:ext cx="0" cy="219456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7520940" y="2221991"/>
            <a:ext cx="0" cy="219457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7520940" y="3154680"/>
            <a:ext cx="0" cy="219456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2788920" y="1865376"/>
            <a:ext cx="685800" cy="1865376"/>
          </a:xfrm>
          <a:prstGeom prst="line">
            <a:avLst/>
          </a:prstGeom>
          <a:ln w="22225">
            <a:solidFill>
              <a:srgbClr val="C014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tangle 344"/>
          <p:cNvSpPr/>
          <p:nvPr/>
        </p:nvSpPr>
        <p:spPr>
          <a:xfrm>
            <a:off x="2802636" y="2670048"/>
            <a:ext cx="658368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C0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900" b="1">
                <a:solidFill>
                  <a:srgbClr val="C0141B"/>
                </a:solidFill>
                <a:latin typeface="Calibri"/>
              </a:rPr>
              <a:t>① dữ liệu</a:t>
            </a:r>
          </a:p>
        </p:txBody>
      </p:sp>
      <p:cxnSp>
        <p:nvCxnSpPr>
          <p:cNvPr id="346" name="Connector 345"/>
          <p:cNvCxnSpPr/>
          <p:nvPr/>
        </p:nvCxnSpPr>
        <p:spPr>
          <a:xfrm flipV="1">
            <a:off x="5715000" y="1865376"/>
            <a:ext cx="685800" cy="1865376"/>
          </a:xfrm>
          <a:prstGeom prst="line">
            <a:avLst/>
          </a:prstGeom>
          <a:ln w="22225">
            <a:solidFill>
              <a:srgbClr val="C014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7" name="Rectangle 346"/>
          <p:cNvSpPr/>
          <p:nvPr/>
        </p:nvSpPr>
        <p:spPr>
          <a:xfrm>
            <a:off x="5728716" y="2670048"/>
            <a:ext cx="658368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C0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900" b="1">
                <a:solidFill>
                  <a:srgbClr val="C0141B"/>
                </a:solidFill>
                <a:latin typeface="Calibri"/>
              </a:rPr>
              <a:t>② model</a:t>
            </a:r>
          </a:p>
        </p:txBody>
      </p:sp>
      <p:cxnSp>
        <p:nvCxnSpPr>
          <p:cNvPr id="348" name="Connector 347"/>
          <p:cNvCxnSpPr/>
          <p:nvPr/>
        </p:nvCxnSpPr>
        <p:spPr>
          <a:xfrm>
            <a:off x="8641080" y="1865376"/>
            <a:ext cx="685800" cy="0"/>
          </a:xfrm>
          <a:prstGeom prst="line">
            <a:avLst/>
          </a:prstGeom>
          <a:ln w="22225">
            <a:solidFill>
              <a:srgbClr val="C0141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ctangle 348"/>
          <p:cNvSpPr/>
          <p:nvPr/>
        </p:nvSpPr>
        <p:spPr>
          <a:xfrm>
            <a:off x="8654796" y="1737360"/>
            <a:ext cx="658368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C014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900" b="1">
                <a:solidFill>
                  <a:srgbClr val="C0141B"/>
                </a:solidFill>
                <a:latin typeface="Calibri"/>
              </a:rPr>
              <a:t>③ dự đoán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9326880" y="4325112"/>
            <a:ext cx="2240280" cy="713232"/>
          </a:xfrm>
          <a:prstGeom prst="roundRect">
            <a:avLst>
              <a:gd name="adj" fmla="val 12000"/>
            </a:avLst>
          </a:prstGeom>
          <a:solidFill>
            <a:srgbClr val="E8EEF6"/>
          </a:solidFill>
          <a:ln w="15875">
            <a:solidFill>
              <a:srgbClr val="0133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dirty="0">
                <a:solidFill>
                  <a:srgbClr val="262626"/>
                </a:solidFill>
                <a:latin typeface="Calibri"/>
              </a:rPr>
              <a:t>Developer / DevOps</a:t>
            </a:r>
          </a:p>
          <a:p>
            <a:pPr algn="ctr"/>
            <a:r>
              <a:rPr sz="1100" dirty="0" err="1">
                <a:solidFill>
                  <a:srgbClr val="595959"/>
                </a:solidFill>
                <a:latin typeface="Calibri"/>
              </a:rPr>
              <a:t>review PR, ưu tiên job</a:t>
            </a:r>
            <a:endParaRPr sz="1100" dirty="0">
              <a:solidFill>
                <a:srgbClr val="595959"/>
              </a:solidFill>
              <a:latin typeface="Calibri"/>
            </a:endParaRPr>
          </a:p>
        </p:txBody>
      </p:sp>
      <p:cxnSp>
        <p:nvCxnSpPr>
          <p:cNvPr id="351" name="Connector 350"/>
          <p:cNvCxnSpPr/>
          <p:nvPr/>
        </p:nvCxnSpPr>
        <p:spPr>
          <a:xfrm>
            <a:off x="10447019" y="4087368"/>
            <a:ext cx="0" cy="237744"/>
          </a:xfrm>
          <a:prstGeom prst="line">
            <a:avLst/>
          </a:prstGeom>
          <a:ln w="19050">
            <a:solidFill>
              <a:srgbClr val="0133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93911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0E0C4-4DAC-FF29-C456-D714E2011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Shape 1">
            <a:extLst>
              <a:ext uri="{FF2B5EF4-FFF2-40B4-BE49-F238E27FC236}">
                <a16:creationId xmlns:a16="http://schemas.microsoft.com/office/drawing/2014/main" id="{9CD2AEEB-7E7C-F7CA-326F-DBF27F5334A9}"/>
              </a:ext>
            </a:extLst>
          </p:cNvPr>
          <p:cNvSpPr txBox="1"/>
          <p:nvPr/>
        </p:nvSpPr>
        <p:spPr>
          <a:xfrm>
            <a:off x="338760" y="1058760"/>
            <a:ext cx="11514240" cy="4908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endParaRPr lang="en-US" sz="28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TextShape 2">
            <a:extLst>
              <a:ext uri="{FF2B5EF4-FFF2-40B4-BE49-F238E27FC236}">
                <a16:creationId xmlns:a16="http://schemas.microsoft.com/office/drawing/2014/main" id="{2291A77C-F9DB-F58B-5EFD-65DEB2EF3F55}"/>
              </a:ext>
            </a:extLst>
          </p:cNvPr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US" sz="3200" b="0" i="0" spc="-1">
                <a:solidFill>
                  <a:schemeClr val="bg1"/>
                </a:solidFill>
                <a:latin typeface="Calibri"/>
              </a:rPr>
              <a:t>9. Kế hoạch thực hiện</a:t>
            </a:r>
            <a:endParaRPr lang="en-US" sz="3200" spc="-1" dirty="0">
              <a:solidFill>
                <a:schemeClr val="bg1"/>
              </a:solidFill>
              <a:latin typeface="Calibri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2DBCEA9-F1F0-F76A-78CE-A275AE64F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284500"/>
              </p:ext>
            </p:extLst>
          </p:nvPr>
        </p:nvGraphicFramePr>
        <p:xfrm>
          <a:off x="338760" y="1846962"/>
          <a:ext cx="11514241" cy="3164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134">
                  <a:extLst>
                    <a:ext uri="{9D8B030D-6E8A-4147-A177-3AD203B41FA5}">
                      <a16:colId xmlns:a16="http://schemas.microsoft.com/office/drawing/2014/main" val="2801464827"/>
                    </a:ext>
                  </a:extLst>
                </a:gridCol>
                <a:gridCol w="2887218">
                  <a:extLst>
                    <a:ext uri="{9D8B030D-6E8A-4147-A177-3AD203B41FA5}">
                      <a16:colId xmlns:a16="http://schemas.microsoft.com/office/drawing/2014/main" val="2144023698"/>
                    </a:ext>
                  </a:extLst>
                </a:gridCol>
                <a:gridCol w="3219983">
                  <a:extLst>
                    <a:ext uri="{9D8B030D-6E8A-4147-A177-3AD203B41FA5}">
                      <a16:colId xmlns:a16="http://schemas.microsoft.com/office/drawing/2014/main" val="4079731762"/>
                    </a:ext>
                  </a:extLst>
                </a:gridCol>
                <a:gridCol w="3159906">
                  <a:extLst>
                    <a:ext uri="{9D8B030D-6E8A-4147-A177-3AD203B41FA5}">
                      <a16:colId xmlns:a16="http://schemas.microsoft.com/office/drawing/2014/main" val="3786912315"/>
                    </a:ext>
                  </a:extLst>
                </a:gridCol>
              </a:tblGrid>
              <a:tr h="977901"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latin typeface="Calibri"/>
                        </a:rPr>
                        <a:t>Sprint 1 (tuần 1–5)</a:t>
                      </a:r>
                      <a:endParaRPr lang="vi-V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latin typeface="Calibri"/>
                        </a:rPr>
                        <a:t>Sprint 2 (tuần 6–10)</a:t>
                      </a:r>
                      <a:endParaRPr lang="vi-V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latin typeface="Calibri"/>
                        </a:rPr>
                        <a:t>Sprint 3 (tuần 11–14)</a:t>
                      </a:r>
                      <a:endParaRPr lang="vi-VN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6761698"/>
                  </a:ext>
                </a:extLst>
              </a:tr>
              <a:tr h="1208273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latin typeface="Calibri"/>
                        </a:rPr>
                        <a:t>Công việc</a:t>
                      </a:r>
                      <a:endParaRPr lang="vi-V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latin typeface="Calibri"/>
                        </a:rPr>
                        <a:t>L</a:t>
                      </a:r>
                      <a:r>
                        <a:rPr lang="vi-VN" sz="1500" b="0" i="0" dirty="0">
                          <a:latin typeface="Calibri"/>
                        </a:rPr>
                        <a:t>ọc GHARuns + </a:t>
                      </a:r>
                      <a:r>
                        <a:rPr lang="en-US" sz="1500" b="0" i="0" dirty="0">
                          <a:latin typeface="Calibri"/>
                        </a:rPr>
                        <a:t>Crawl GitHub</a:t>
                      </a:r>
                      <a:r>
                        <a:rPr lang="vi-VN" sz="1500" b="0" i="0" dirty="0">
                          <a:latin typeface="Calibri"/>
                        </a:rPr>
                        <a:t>; lấy diff</a:t>
                      </a:r>
                      <a:r>
                        <a:rPr lang="en-US" sz="1500" b="0" i="0" dirty="0">
                          <a:latin typeface="Calibri"/>
                        </a:rPr>
                        <a:t> repository</a:t>
                      </a:r>
                      <a:r>
                        <a:rPr lang="vi-VN" sz="1500" b="0" i="0" dirty="0">
                          <a:latin typeface="Calibri"/>
                        </a:rPr>
                        <a:t>; </a:t>
                      </a:r>
                      <a:r>
                        <a:rPr lang="en-US" sz="1500" b="0" i="0" dirty="0" err="1">
                          <a:latin typeface="Calibri"/>
                        </a:rPr>
                        <a:t>chạy</a:t>
                      </a:r>
                      <a:r>
                        <a:rPr lang="en-US" sz="1500" b="0" i="0" dirty="0">
                          <a:latin typeface="Calibri"/>
                        </a:rPr>
                        <a:t> </a:t>
                      </a:r>
                      <a:r>
                        <a:rPr lang="vi-VN" sz="1500" b="0" i="0" dirty="0">
                          <a:latin typeface="Calibri"/>
                        </a:rPr>
                        <a:t>baseline Parrot/LR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 b="0" i="0" dirty="0" err="1">
                          <a:latin typeface="Calibri"/>
                        </a:rPr>
                        <a:t>Chạy</a:t>
                      </a:r>
                      <a:r>
                        <a:rPr lang="en-US" sz="1500" b="0" i="0" dirty="0">
                          <a:latin typeface="Calibri"/>
                        </a:rPr>
                        <a:t> b</a:t>
                      </a:r>
                      <a:r>
                        <a:rPr lang="vi-VN" sz="1500" b="0" i="0" dirty="0">
                          <a:latin typeface="Calibri"/>
                        </a:rPr>
                        <a:t>aseline XGBoost, CodeBERT, GitSense; encoder phân cấp + hierarchical contrastive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sz="1500" b="0" i="0" dirty="0">
                          <a:latin typeface="Calibri"/>
                        </a:rPr>
                        <a:t>Đánh giá P0–P3, ablation, trực quan hóa embedding; API + bot PR; báo cáo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4453253"/>
                  </a:ext>
                </a:extLst>
              </a:tr>
              <a:tr h="977901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 err="1">
                          <a:latin typeface="Calibri"/>
                        </a:rPr>
                        <a:t>Sản phẩm</a:t>
                      </a:r>
                      <a:endParaRPr lang="vi-V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vi-VN" sz="1500" b="0" i="0" dirty="0">
                          <a:latin typeface="Calibri"/>
                        </a:rPr>
                        <a:t>Dataset commit có nhãn loại lỗi + kết quả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sz="1500" b="0" i="0" dirty="0">
                          <a:latin typeface="Calibri"/>
                        </a:rPr>
                        <a:t>HCL chạy được, bảng so sánh với baseline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sz="1500" b="0" i="0" dirty="0">
                          <a:latin typeface="Calibri"/>
                        </a:rPr>
                        <a:t>Demo bot comment trên PR + báo cáo kết quả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562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236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CustomShape 1"/>
          <p:cNvSpPr/>
          <p:nvPr/>
        </p:nvSpPr>
        <p:spPr>
          <a:xfrm>
            <a:off x="5756400" y="2824200"/>
            <a:ext cx="5136480" cy="970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90000"/>
              </a:lnSpc>
            </a:pPr>
            <a:r>
              <a:rPr lang="en-US" sz="6000" b="1" strike="noStrike" spc="-1">
                <a:solidFill>
                  <a:srgbClr val="C00000"/>
                </a:solidFill>
                <a:latin typeface="Lato"/>
                <a:ea typeface="Lato"/>
              </a:rPr>
              <a:t>THANK YOU !</a:t>
            </a:r>
            <a:endParaRPr lang="en-US" sz="6000" b="0" strike="noStrike" spc="-1"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832</TotalTime>
  <Words>1770</Words>
  <Application>Microsoft Office PowerPoint</Application>
  <PresentationFormat>Widescreen</PresentationFormat>
  <Paragraphs>282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Calibri</vt:lpstr>
      <vt:lpstr>Lato</vt:lpstr>
      <vt:lpstr>Symbol</vt:lpstr>
      <vt:lpstr>Wingdings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Đánh giá rủi ro ATTT bằng AI - ML trước tấn công Out-of-Domain</dc:title>
  <dc:subject/>
  <dc:creator>Hoàng Đức Anh</dc:creator>
  <dc:description/>
  <cp:lastModifiedBy>anh Pham</cp:lastModifiedBy>
  <cp:revision>16</cp:revision>
  <dcterms:created xsi:type="dcterms:W3CDTF">2020-12-31T09:57:48Z</dcterms:created>
  <dcterms:modified xsi:type="dcterms:W3CDTF">2026-10-07T11:06:23Z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ntentTypeId">
    <vt:lpwstr>0x0101004F531634775FD1439D5B67291EFE2AD4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9</vt:i4>
  </property>
</Properties>
</file>