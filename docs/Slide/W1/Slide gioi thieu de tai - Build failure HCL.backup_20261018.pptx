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739" r:id="rId4"/>
  </p:sldMasterIdLst>
  <p:sldIdLst>
    <p:sldId id="256" r:id="rId5"/>
    <p:sldId id="257" r:id="rId6"/>
    <p:sldId id="259" r:id="rId7"/>
    <p:sldId id="271" r:id="rId8"/>
    <p:sldId id="265" r:id="rId9"/>
    <p:sldId id="276" r:id="rId10"/>
    <p:sldId id="266" r:id="rId11"/>
    <p:sldId id="277" r:id="rId12"/>
    <p:sldId id="274" r:id="rId13"/>
    <p:sldId id="275" r:id="rId14"/>
    <p:sldId id="268" r:id="rId15"/>
    <p:sldId id="269" r:id="rId16"/>
    <p:sldId id="270" r:id="rId17"/>
    <p:sldId id="273" r:id="rId18"/>
    <p:sldId id="264" r:id="rId19"/>
    <p:sldId id="278" r:id="rId20"/>
    <p:sldId id="279" r:id="rId21"/>
  </p:sldIdLst>
  <p:sldSz cx="12192000" cy="6858000"/>
  <p:notesSz cx="7559675" cy="10691813"/>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9"/>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7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FFFFFF"/>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FFFFFF"/>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FFFFFF"/>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77" name="PlaceHolder 2"/>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1:……………………………………..</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26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 name="Picture 3" descr="Text&#10;&#10;Description automatically generated"/>
          <p:cNvPicPr/>
          <p:nvPr/>
        </p:nvPicPr>
        <p:blipFill>
          <a:blip r:embed="rId2"/>
          <a:stretch/>
        </p:blipFill>
        <p:spPr>
          <a:xfrm>
            <a:off x="392040" y="271440"/>
            <a:ext cx="3174120" cy="1153080"/>
          </a:xfrm>
          <a:prstGeom prst="rect">
            <a:avLst/>
          </a:prstGeom>
          <a:ln>
            <a:noFill/>
          </a:ln>
        </p:spPr>
      </p:pic>
      <p:sp>
        <p:nvSpPr>
          <p:cNvPr id="307" name="CustomShape 1"/>
          <p:cNvSpPr/>
          <p:nvPr/>
        </p:nvSpPr>
        <p:spPr>
          <a:xfrm>
            <a:off x="695520" y="2741387"/>
            <a:ext cx="9520196" cy="1565141"/>
          </a:xfrm>
          <a:prstGeom prst="rect">
            <a:avLst/>
          </a:prstGeom>
          <a:noFill/>
          <a:ln>
            <a:noFill/>
          </a:ln>
        </p:spPr>
        <p:style>
          <a:lnRef idx="0">
            <a:scrgbClr r="0" g="0" b="0"/>
          </a:lnRef>
          <a:fillRef idx="0">
            <a:scrgbClr r="0" g="0" b="0"/>
          </a:fillRef>
          <a:effectRef idx="0">
            <a:scrgbClr r="0" g="0" b="0"/>
          </a:effectRef>
          <a:fontRef idx="minor"/>
        </p:style>
        <p:txBody>
          <a:bodyPr/>
          <a:lstStyle/>
          <a:p>
            <a:r>
              <a:rPr lang="en-US" sz="4400" b="0" i="0">
                <a:solidFill>
                  <a:srgbClr val="FF0000"/>
                </a:solidFill>
              </a:rPr>
              <a:t>Dự đoán lỗi build CI/CD bằng Hierarchical Contrastive Learning</a:t>
            </a:r>
            <a:endParaRPr lang="en-US" sz="4400" b="1" dirty="0">
              <a:solidFill>
                <a:srgbClr val="FF0000"/>
              </a:solidFill>
            </a:endParaRPr>
          </a:p>
        </p:txBody>
      </p:sp>
      <p:sp>
        <p:nvSpPr>
          <p:cNvPr id="308" name="CustomShape 2"/>
          <p:cNvSpPr/>
          <p:nvPr/>
        </p:nvSpPr>
        <p:spPr>
          <a:xfrm>
            <a:off x="695520" y="3403080"/>
            <a:ext cx="6095520" cy="222336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sp>
        <p:nvSpPr>
          <p:cNvPr id="309" name="CustomShape 3"/>
          <p:cNvSpPr/>
          <p:nvPr/>
        </p:nvSpPr>
        <p:spPr>
          <a:xfrm>
            <a:off x="6962400" y="3269880"/>
            <a:ext cx="4329000" cy="136944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sp>
        <p:nvSpPr>
          <p:cNvPr id="310" name="TextBox 309"/>
          <p:cNvSpPr txBox="1"/>
          <p:nvPr/>
        </p:nvSpPr>
        <p:spPr>
          <a:xfrm>
            <a:off x="731520" y="4526280"/>
            <a:ext cx="6035040" cy="731520"/>
          </a:xfrm>
          <a:prstGeom prst="rect">
            <a:avLst/>
          </a:prstGeom>
          <a:noFill/>
        </p:spPr>
        <p:txBody>
          <a:bodyPr wrap="square" lIns="0" tIns="0" rIns="0" bIns="0">
            <a:spAutoFit/>
          </a:bodyPr>
          <a:lstStyle/>
          <a:p>
            <a:pPr algn="l"/>
            <a:r>
              <a:rPr sz="1800" b="0" i="0">
                <a:solidFill>
                  <a:srgbClr val="262626"/>
                </a:solidFill>
                <a:latin typeface="Calibri"/>
              </a:rPr>
              <a:t>Sinh viên: Phạm Đức Anh – 20235008</a:t>
            </a:r>
          </a:p>
          <a:p>
            <a:r>
              <a:rPr sz="1800">
                <a:solidFill>
                  <a:srgbClr val="262626"/>
                </a:solidFill>
                <a:latin typeface="Calibri"/>
              </a:rPr>
              <a:t>GVHD: TS Vũ Thị Hương Giang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TextShape 1"/>
          <p:cNvSpPr txBox="1"/>
          <p:nvPr/>
        </p:nvSpPr>
        <p:spPr>
          <a:xfrm>
            <a:off x="338760" y="1058760"/>
            <a:ext cx="11514240" cy="4908600"/>
          </a:xfrm>
          <a:prstGeom prst="rect">
            <a:avLst/>
          </a:prstGeom>
          <a:noFill/>
          <a:ln>
            <a:noFill/>
          </a:ln>
        </p:spPr>
        <p:txBody>
          <a:bodyPr lIns="90000" tIns="45000" rIns="90000" bIns="45000">
            <a:noAutofit/>
          </a:bodyPr>
          <a:lstStyle/>
          <a:p>
            <a:pPr marL="514350" indent="-514350">
              <a:buAutoNum type="arabicPeriod"/>
            </a:pPr>
            <a:r>
              <a:rPr lang="en-US" sz="2800" b="0" i="0" strike="noStrike" spc="-1">
                <a:solidFill>
                  <a:srgbClr val="000000"/>
                </a:solidFill>
                <a:latin typeface="Calibri"/>
              </a:rPr>
              <a:t>Bối cảnh &amp; định hướng của đề tài</a:t>
            </a:r>
            <a:endParaRPr lang="en-US" sz="2800" b="0" strike="noStrike" spc="-1" dirty="0">
              <a:solidFill>
                <a:srgbClr val="000000"/>
              </a:solidFill>
              <a:latin typeface="Calibri"/>
            </a:endParaRPr>
          </a:p>
          <a:p>
            <a:pPr marL="514350" indent="-514350">
              <a:buAutoNum type="arabicPeriod"/>
            </a:pPr>
            <a:r>
              <a:rPr lang="vi-VN" sz="2800" b="0" i="0" spc="-1">
                <a:solidFill>
                  <a:srgbClr val="000000"/>
                </a:solidFill>
                <a:latin typeface="Calibri"/>
              </a:rPr>
              <a:t>Vì sao dự đoán pass/fail hiện tại chưa đủ</a:t>
            </a:r>
            <a:endParaRPr lang="en-US" sz="2800" spc="-1" dirty="0">
              <a:solidFill>
                <a:srgbClr val="000000"/>
              </a:solidFill>
              <a:latin typeface="Calibri"/>
            </a:endParaRPr>
          </a:p>
          <a:p>
            <a:pPr marL="514350" indent="-514350">
              <a:buAutoNum type="arabicPeriod"/>
            </a:pPr>
            <a:r>
              <a:rPr lang="vi-VN" sz="2800" b="0" i="0" spc="-1">
                <a:solidFill>
                  <a:srgbClr val="000000"/>
                </a:solidFill>
                <a:latin typeface="Calibri"/>
              </a:rPr>
              <a:t>Khảo sát dữ liệu</a:t>
            </a:r>
            <a:endParaRPr lang="en-US" sz="2800" spc="-1" dirty="0">
              <a:solidFill>
                <a:srgbClr val="000000"/>
              </a:solidFill>
              <a:latin typeface="Calibri"/>
            </a:endParaRPr>
          </a:p>
          <a:p>
            <a:pPr marL="514350" indent="-514350">
              <a:buAutoNum type="arabicPeriod"/>
            </a:pPr>
            <a:r>
              <a:rPr lang="vi-VN" sz="2800" b="0" i="0" spc="-1">
                <a:solidFill>
                  <a:srgbClr val="000000"/>
                </a:solidFill>
                <a:latin typeface="Calibri"/>
              </a:rPr>
              <a:t>Khảo sát phương pháp</a:t>
            </a:r>
            <a:endParaRPr lang="en-US" sz="2800" spc="-1" dirty="0">
              <a:solidFill>
                <a:srgbClr val="000000"/>
              </a:solidFill>
              <a:latin typeface="Calibri"/>
            </a:endParaRPr>
          </a:p>
          <a:p>
            <a:pPr marL="514350" indent="-514350">
              <a:buAutoNum type="arabicPeriod"/>
            </a:pPr>
            <a:r>
              <a:rPr lang="vi-VN" sz="2800" b="0" i="0" spc="-1">
                <a:solidFill>
                  <a:srgbClr val="000000"/>
                </a:solidFill>
                <a:latin typeface="Calibri"/>
              </a:rPr>
              <a:t>Giao thức đánh giá</a:t>
            </a:r>
            <a:endParaRPr lang="en-US" sz="2800" spc="-1" dirty="0">
              <a:solidFill>
                <a:srgbClr val="000000"/>
              </a:solidFill>
              <a:latin typeface="Calibri"/>
            </a:endParaRPr>
          </a:p>
          <a:p>
            <a:pPr marL="514350" indent="-514350">
              <a:buAutoNum type="arabicPeriod"/>
            </a:pPr>
            <a:r>
              <a:rPr lang="vi-VN" sz="2800" b="0" i="0" spc="-1">
                <a:solidFill>
                  <a:srgbClr val="000000"/>
                </a:solidFill>
                <a:latin typeface="Calibri"/>
              </a:rPr>
              <a:t>Luồng dự đoán</a:t>
            </a:r>
            <a:endParaRPr lang="en-US" sz="2800" spc="-1" dirty="0">
              <a:solidFill>
                <a:srgbClr val="000000"/>
              </a:solidFill>
              <a:latin typeface="Calibri"/>
            </a:endParaRPr>
          </a:p>
          <a:p>
            <a:pPr marL="514350" indent="-514350">
              <a:buAutoNum type="arabicPeriod"/>
            </a:pPr>
            <a:r>
              <a:rPr lang="en-US" sz="2800" b="0" i="0" spc="-1">
                <a:solidFill>
                  <a:srgbClr val="000000"/>
                </a:solidFill>
                <a:latin typeface="Calibri"/>
              </a:rPr>
              <a:t>Mô hình HCL</a:t>
            </a:r>
            <a:endParaRPr lang="en-US" sz="2800" spc="-1" dirty="0">
              <a:solidFill>
                <a:srgbClr val="000000"/>
              </a:solidFill>
              <a:latin typeface="Calibri"/>
            </a:endParaRPr>
          </a:p>
          <a:p>
            <a:pPr marL="514350" indent="-514350">
              <a:buAutoNum type="arabicPeriod"/>
            </a:pPr>
            <a:r>
              <a:rPr lang="en-US" sz="2800" b="0" i="0" spc="-1">
                <a:solidFill>
                  <a:srgbClr val="000000"/>
                </a:solidFill>
                <a:latin typeface="Calibri"/>
              </a:rPr>
              <a:t>Kiến trúc hệ thống</a:t>
            </a:r>
            <a:endParaRPr lang="en-US" sz="2800" spc="-1" dirty="0">
              <a:solidFill>
                <a:srgbClr val="000000"/>
              </a:solidFill>
              <a:latin typeface="Calibri"/>
            </a:endParaRPr>
          </a:p>
          <a:p>
            <a:pPr marL="514350" indent="-514350">
              <a:buAutoNum type="arabicPeriod"/>
            </a:pPr>
            <a:r>
              <a:rPr lang="en-US" sz="2800" b="0" i="0" spc="-1">
                <a:solidFill>
                  <a:srgbClr val="000000"/>
                </a:solidFill>
                <a:latin typeface="Calibri"/>
              </a:rPr>
              <a:t>Kế hoạch thực hiện</a:t>
            </a:r>
            <a:endParaRPr lang="en-US" sz="2800" spc="-1" dirty="0">
              <a:solidFill>
                <a:srgbClr val="000000"/>
              </a:solidFill>
              <a:latin typeface="Calibri"/>
            </a:endParaRPr>
          </a:p>
        </p:txBody>
      </p:sp>
      <p:sp>
        <p:nvSpPr>
          <p:cNvPr id="313" name="TextShape 2"/>
          <p:cNvSpPr txBox="1"/>
          <p:nvPr/>
        </p:nvSpPr>
        <p:spPr>
          <a:xfrm>
            <a:off x="338760" y="112680"/>
            <a:ext cx="11514240" cy="435600"/>
          </a:xfrm>
          <a:prstGeom prst="rect">
            <a:avLst/>
          </a:prstGeom>
          <a:noFill/>
          <a:ln>
            <a:noFill/>
          </a:ln>
        </p:spPr>
        <p:txBody>
          <a:bodyPr lIns="90000" tIns="45000" rIns="90000" bIns="45000">
            <a:noAutofit/>
          </a:bodyPr>
          <a:lstStyle/>
          <a:p>
            <a:r>
              <a:rPr lang="en-US" sz="3200" b="0" strike="noStrike" spc="-1" dirty="0" err="1">
                <a:solidFill>
                  <a:schemeClr val="bg1"/>
                </a:solidFill>
                <a:latin typeface="Calibri"/>
              </a:rPr>
              <a:t>Nội</a:t>
            </a:r>
            <a:r>
              <a:rPr lang="en-US" sz="3200" b="0" strike="noStrike" spc="-1" dirty="0">
                <a:solidFill>
                  <a:schemeClr val="bg1"/>
                </a:solidFill>
                <a:latin typeface="Calibri"/>
              </a:rPr>
              <a:t> dung </a:t>
            </a:r>
            <a:r>
              <a:rPr lang="en-US" sz="3200" b="0" strike="noStrike" spc="-1" dirty="0" err="1">
                <a:solidFill>
                  <a:schemeClr val="bg1"/>
                </a:solidFill>
                <a:latin typeface="Calibri"/>
              </a:rPr>
              <a:t>trình</a:t>
            </a:r>
            <a:r>
              <a:rPr lang="en-US" sz="3200" b="0" strike="noStrike" spc="-1" dirty="0">
                <a:solidFill>
                  <a:schemeClr val="bg1"/>
                </a:solidFill>
                <a:latin typeface="Calibri"/>
              </a:rPr>
              <a:t> </a:t>
            </a:r>
            <a:r>
              <a:rPr lang="en-US" sz="3200" b="0" strike="noStrike" spc="-1" dirty="0" err="1">
                <a:solidFill>
                  <a:schemeClr val="bg1"/>
                </a:solidFill>
                <a:latin typeface="Calibri"/>
              </a:rPr>
              <a:t>bày</a:t>
            </a:r>
            <a:r>
              <a:rPr lang="en-US" sz="3200" b="0" strike="noStrike" spc="-1" dirty="0">
                <a:solidFill>
                  <a:schemeClr val="bg1"/>
                </a:solidFill>
                <a:latin typeface="Calibri"/>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D5CD2-7D37-1454-5286-EE64F2A1824C}"/>
            </a:ext>
          </a:extLst>
        </p:cNvPr>
        <p:cNvGrpSpPr/>
        <p:nvPr/>
      </p:nvGrpSpPr>
      <p:grpSpPr>
        <a:xfrm>
          <a:off x="0" y="0"/>
          <a:ext cx="0" cy="0"/>
          <a:chOff x="0" y="0"/>
          <a:chExt cx="0" cy="0"/>
        </a:xfrm>
      </p:grpSpPr>
      <p:sp>
        <p:nvSpPr>
          <p:cNvPr id="6" name="TextShape 2">
            <a:extLst>
              <a:ext uri="{FF2B5EF4-FFF2-40B4-BE49-F238E27FC236}">
                <a16:creationId xmlns:a16="http://schemas.microsoft.com/office/drawing/2014/main" id="{67C8EC74-9B72-E685-078E-E2E702AEC283}"/>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1. Bối cảnh &amp; định hướng của đề tài</a:t>
            </a:r>
            <a:endParaRPr lang="en-US" sz="3200" spc="-1" dirty="0">
              <a:solidFill>
                <a:schemeClr val="bg1"/>
              </a:solidFill>
              <a:latin typeface="Calibri"/>
            </a:endParaRPr>
          </a:p>
        </p:txBody>
      </p:sp>
      <p:sp>
        <p:nvSpPr>
          <p:cNvPr id="10" name="TextShape 1">
            <a:extLst>
              <a:ext uri="{FF2B5EF4-FFF2-40B4-BE49-F238E27FC236}">
                <a16:creationId xmlns:a16="http://schemas.microsoft.com/office/drawing/2014/main" id="{026E228F-0E49-F883-0738-2171A18643ED}"/>
              </a:ext>
            </a:extLst>
          </p:cNvPr>
          <p:cNvSpPr txBox="1"/>
          <p:nvPr/>
        </p:nvSpPr>
        <p:spPr>
          <a:xfrm>
            <a:off x="338760" y="1058760"/>
            <a:ext cx="11514240" cy="4908600"/>
          </a:xfrm>
          <a:prstGeom prst="rect">
            <a:avLst/>
          </a:prstGeom>
          <a:noFill/>
          <a:ln>
            <a:noFill/>
          </a:ln>
        </p:spPr>
        <p:txBody>
          <a:bodyPr lIns="90000" tIns="45000" rIns="90000" bIns="45000">
            <a:noAutofit/>
          </a:bodyPr>
          <a:lstStyle/>
          <a:p>
            <a:pPr marL="342900" lvl="0" indent="-342900">
              <a:buFont typeface="Arial" panose="020B0604020202020204" pitchFamily="34" charset="0"/>
              <a:buChar char="•"/>
            </a:pPr>
            <a:r>
              <a:rPr lang="vi-VN" sz="1900" b="1" i="0" dirty="0"/>
              <a:t>CI tốn kém: </a:t>
            </a:r>
            <a:r>
              <a:rPr lang="vi-VN" sz="1900" b="0" i="0" dirty="0"/>
              <a:t>Google, Mozilla tốn hàng triệu USD mỗi năm; Ubisoft có hàng nghìn build/ngày, mỗi build 10–30 phút.</a:t>
            </a:r>
          </a:p>
          <a:p>
            <a:pPr marL="342900" lvl="0" indent="-342900">
              <a:buFont typeface="Arial" panose="020B0604020202020204" pitchFamily="34" charset="0"/>
              <a:buChar char="•"/>
            </a:pPr>
            <a:r>
              <a:rPr lang="vi-VN" sz="1900" b="1" i="0" dirty="0"/>
              <a:t>Build prediction: </a:t>
            </a:r>
            <a:r>
              <a:rPr lang="vi-VN" sz="1900" b="0" i="0" dirty="0"/>
              <a:t>đoán pass/fail trước khi chạy (diff + metadata) để bỏ qua build gần như chắc chắn pass, chạy job rủi ro trước, cảnh báo sớm khi review PR.</a:t>
            </a:r>
          </a:p>
          <a:p>
            <a:pPr marL="342900" lvl="0" indent="-342900">
              <a:buFont typeface="Arial" panose="020B0604020202020204" pitchFamily="34" charset="0"/>
              <a:buChar char="•"/>
            </a:pPr>
            <a:r>
              <a:rPr lang="vi-VN" sz="1900" b="1" i="0" dirty="0"/>
              <a:t>Phần dễ: </a:t>
            </a:r>
            <a:r>
              <a:rPr lang="vi-VN" sz="1900" b="0" i="0" dirty="0"/>
              <a:t>code liên quan không đổi → paths filter, cache build. Phần khó là khi </a:t>
            </a:r>
            <a:r>
              <a:rPr lang="vi-VN" sz="1900" b="1" i="1" dirty="0"/>
              <a:t>code có thay đổi</a:t>
            </a:r>
            <a:r>
              <a:rPr lang="vi-VN" sz="1900" b="0" i="0" dirty="0"/>
              <a:t> </a:t>
            </a:r>
          </a:p>
          <a:p>
            <a:pPr marL="342900" lvl="0" indent="-342900">
              <a:buFont typeface="Arial" panose="020B0604020202020204" pitchFamily="34" charset="0"/>
              <a:buChar char="•"/>
            </a:pPr>
            <a:r>
              <a:rPr lang="vi-VN" sz="1900" b="1" i="0" dirty="0"/>
              <a:t>Định hướng: </a:t>
            </a:r>
            <a:r>
              <a:rPr lang="vi-VN" sz="1900" b="0" i="0" dirty="0"/>
              <a:t>đọc nội dung diff theo cấu trúc phân cấp và dùng </a:t>
            </a:r>
            <a:r>
              <a:rPr lang="vi-VN" sz="1900" b="1" i="1" dirty="0"/>
              <a:t>loại lỗi</a:t>
            </a:r>
            <a:r>
              <a:rPr lang="vi-VN" sz="1900" b="0" i="0" dirty="0"/>
              <a:t> làm tín hiệu huấn luyện, thay vì chỉ học pass/fail.</a:t>
            </a:r>
          </a:p>
        </p:txBody>
      </p:sp>
    </p:spTree>
    <p:extLst>
      <p:ext uri="{BB962C8B-B14F-4D97-AF65-F5344CB8AC3E}">
        <p14:creationId xmlns:p14="http://schemas.microsoft.com/office/powerpoint/2010/main" val="4118732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484459-AC26-7D01-CC7E-AC7FD8F15425}"/>
              </a:ext>
            </a:extLst>
          </p:cNvPr>
          <p:cNvSpPr>
            <a:spLocks noGrp="1"/>
          </p:cNvSpPr>
          <p:nvPr>
            <p:ph type="body"/>
          </p:nvPr>
        </p:nvSpPr>
        <p:spPr>
          <a:xfrm>
            <a:off x="605760" y="1238865"/>
            <a:ext cx="5354280" cy="2103120"/>
          </a:xfrm>
        </p:spPr>
        <p:txBody>
          <a:bodyPr>
            <a:normAutofit/>
          </a:bodyPr>
          <a:lstStyle/>
          <a:p>
            <a:r>
              <a:rPr lang="vi-VN" sz="2000" b="1" i="0" dirty="0"/>
              <a:t>Kết quả hiện tại trông tốt vì:</a:t>
            </a:r>
            <a:endParaRPr lang="en-US" sz="2000" b="1" dirty="0"/>
          </a:p>
          <a:p>
            <a:pPr marL="285750" lvl="1" indent="-285750">
              <a:buFont typeface="Arial" panose="020B0604020202020204" pitchFamily="34" charset="0"/>
              <a:buChar char="•"/>
            </a:pPr>
            <a:r>
              <a:rPr lang="vi-VN" sz="2000" b="0" i="0" dirty="0"/>
              <a:t>~87% build pass; ~52% fail là fail liên tiếp</a:t>
            </a:r>
            <a:endParaRPr lang="en-US" sz="2000" dirty="0"/>
          </a:p>
          <a:p>
            <a:pPr marL="285750" lvl="1" indent="-285750">
              <a:buFont typeface="Arial" panose="020B0604020202020204" pitchFamily="34" charset="0"/>
              <a:buChar char="•"/>
            </a:pPr>
            <a:r>
              <a:rPr lang="vi-VN" sz="2000" b="0" i="0" dirty="0"/>
              <a:t>76% build lặp lại kết quả build trước</a:t>
            </a:r>
            <a:endParaRPr lang="en-US" sz="2000" dirty="0"/>
          </a:p>
          <a:p>
            <a:pPr marL="285750" lvl="1" indent="-285750">
              <a:buFont typeface="Arial" panose="020B0604020202020204" pitchFamily="34" charset="0"/>
              <a:buChar char="•"/>
            </a:pPr>
            <a:r>
              <a:rPr lang="vi-VN" sz="2000" b="0" i="0" dirty="0"/>
              <a:t>Parrot: F1</a:t>
            </a:r>
            <a:r>
              <a:rPr lang="en-US" sz="2000" b="0" i="0" dirty="0"/>
              <a:t> </a:t>
            </a:r>
            <a:r>
              <a:rPr lang="en-US" sz="2000" b="0" i="0" dirty="0" err="1"/>
              <a:t>của</a:t>
            </a:r>
            <a:r>
              <a:rPr lang="en-US" sz="2000" b="0" i="0" dirty="0"/>
              <a:t> </a:t>
            </a:r>
            <a:r>
              <a:rPr lang="en-US" sz="2000" b="0" i="0" dirty="0" err="1"/>
              <a:t>lớp</a:t>
            </a:r>
            <a:r>
              <a:rPr lang="en-US" sz="2000" b="0" i="0" dirty="0"/>
              <a:t> </a:t>
            </a:r>
            <a:r>
              <a:rPr lang="vi-VN" sz="2000" b="0" i="0" dirty="0"/>
              <a:t>fail 0,42, SOTA chỉ 0,48–0,50</a:t>
            </a:r>
            <a:endParaRPr lang="en-US" sz="2000" dirty="0"/>
          </a:p>
          <a:p>
            <a:pPr marL="285750" lvl="1" indent="-285750">
              <a:buFont typeface="Arial" panose="020B0604020202020204" pitchFamily="34" charset="0"/>
              <a:buChar char="•"/>
            </a:pPr>
            <a:r>
              <a:rPr lang="vi-VN" sz="2000" b="0" i="0" dirty="0"/>
              <a:t>Chủ yếu </a:t>
            </a:r>
            <a:r>
              <a:rPr lang="en-US" sz="2000" b="0" i="0" dirty="0" err="1"/>
              <a:t>đọc</a:t>
            </a:r>
            <a:r>
              <a:rPr lang="en-US" sz="2000" b="0" i="0" dirty="0"/>
              <a:t> metadata</a:t>
            </a:r>
            <a:r>
              <a:rPr lang="vi-VN" sz="2000" b="0" i="0" dirty="0"/>
              <a:t>, chưa đọc nội dung</a:t>
            </a:r>
          </a:p>
        </p:txBody>
      </p:sp>
      <p:sp>
        <p:nvSpPr>
          <p:cNvPr id="4" name="Text Placeholder 3">
            <a:extLst>
              <a:ext uri="{FF2B5EF4-FFF2-40B4-BE49-F238E27FC236}">
                <a16:creationId xmlns:a16="http://schemas.microsoft.com/office/drawing/2014/main" id="{274E94D2-1C4F-3EC9-7D74-F6EBD3CBC7EF}"/>
              </a:ext>
            </a:extLst>
          </p:cNvPr>
          <p:cNvSpPr>
            <a:spLocks noGrp="1"/>
          </p:cNvSpPr>
          <p:nvPr>
            <p:ph type="body"/>
          </p:nvPr>
        </p:nvSpPr>
        <p:spPr>
          <a:xfrm>
            <a:off x="6095880" y="1238865"/>
            <a:ext cx="5354280" cy="2103120"/>
          </a:xfrm>
        </p:spPr>
        <p:txBody>
          <a:bodyPr>
            <a:normAutofit/>
          </a:bodyPr>
          <a:lstStyle/>
          <a:p>
            <a:r>
              <a:rPr lang="vi-VN" sz="2000" b="1" i="0" dirty="0"/>
              <a:t>Khi dùng thật:</a:t>
            </a:r>
            <a:endParaRPr lang="en-US" sz="2000" b="1" dirty="0"/>
          </a:p>
          <a:p>
            <a:pPr marL="285750" lvl="1" indent="-285750">
              <a:buFont typeface="Arial" panose="020B0604020202020204" pitchFamily="34" charset="0"/>
              <a:buChar char="•"/>
            </a:pPr>
            <a:r>
              <a:rPr lang="vi-VN" sz="2000" b="0" i="0" dirty="0"/>
              <a:t>Parrot luôn sai ở lần fail đầu tiên</a:t>
            </a:r>
            <a:endParaRPr lang="en-US" sz="2000" dirty="0"/>
          </a:p>
          <a:p>
            <a:pPr marL="285750" lvl="1" indent="-285750">
              <a:buFont typeface="Arial" panose="020B0604020202020204" pitchFamily="34" charset="0"/>
              <a:buChar char="•"/>
            </a:pPr>
            <a:r>
              <a:rPr lang="vi-VN" sz="2000" b="0" i="0" dirty="0"/>
              <a:t>Build trước bị bỏ qua → không biết kết quả</a:t>
            </a:r>
            <a:endParaRPr lang="en-US" sz="2000" dirty="0"/>
          </a:p>
          <a:p>
            <a:pPr marL="285750" lvl="1" indent="-285750">
              <a:buFont typeface="Arial" panose="020B0604020202020204" pitchFamily="34" charset="0"/>
              <a:buChar char="•"/>
            </a:pPr>
            <a:r>
              <a:rPr lang="vi-VN" sz="2000" b="0" i="0" dirty="0"/>
              <a:t>~60% số ca SOTA không hơn Parrot rõ</a:t>
            </a:r>
            <a:endParaRPr lang="en-US" sz="2000" dirty="0"/>
          </a:p>
          <a:p>
            <a:pPr marL="285750" lvl="1" indent="-285750">
              <a:buFont typeface="Arial" panose="020B0604020202020204" pitchFamily="34" charset="0"/>
              <a:buChar char="•"/>
            </a:pPr>
            <a:r>
              <a:rPr lang="vi-VN" sz="2000" b="0" i="0" dirty="0"/>
              <a:t>Chỉ nói pass/fail, không nói hỏng kiểu gì</a:t>
            </a:r>
            <a:endParaRPr lang="vi-VN" sz="2000" dirty="0"/>
          </a:p>
        </p:txBody>
      </p:sp>
      <p:sp>
        <p:nvSpPr>
          <p:cNvPr id="6" name="TextShape 2">
            <a:extLst>
              <a:ext uri="{FF2B5EF4-FFF2-40B4-BE49-F238E27FC236}">
                <a16:creationId xmlns:a16="http://schemas.microsoft.com/office/drawing/2014/main" id="{41B43F65-50EC-310F-1B6A-B2C5A1926458}"/>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2. Vì sao dự đoán pass/fail hiện tại chưa đủ</a:t>
            </a:r>
            <a:endParaRPr lang="en-US" sz="3200" spc="-1" dirty="0">
              <a:solidFill>
                <a:schemeClr val="bg1"/>
              </a:solidFill>
              <a:latin typeface="Calibri"/>
            </a:endParaRPr>
          </a:p>
        </p:txBody>
      </p:sp>
      <p:sp>
        <p:nvSpPr>
          <p:cNvPr id="7" name="Rounded Rectangle 6"/>
          <p:cNvSpPr/>
          <p:nvPr/>
        </p:nvSpPr>
        <p:spPr>
          <a:xfrm>
            <a:off x="603504" y="3840480"/>
            <a:ext cx="10881360" cy="685800"/>
          </a:xfrm>
          <a:prstGeom prst="roundRect">
            <a:avLst>
              <a:gd name="adj" fmla="val 12000"/>
            </a:avLst>
          </a:prstGeom>
          <a:solidFill>
            <a:srgbClr val="FDECEC"/>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a:solidFill>
                  <a:srgbClr val="013364"/>
                </a:solidFill>
                <a:latin typeface="Calibri"/>
              </a:rPr>
              <a:t>→ Cần mô hình đọc được nội dung thay đổi, đánh giá trên lần fail đầu tiên và có cấu trúc theo loại lỗi</a:t>
            </a:r>
          </a:p>
        </p:txBody>
      </p:sp>
    </p:spTree>
    <p:extLst>
      <p:ext uri="{BB962C8B-B14F-4D97-AF65-F5344CB8AC3E}">
        <p14:creationId xmlns:p14="http://schemas.microsoft.com/office/powerpoint/2010/main" val="2667425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E0C4-4DAC-FF29-C456-D714E20113B7}"/>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9CD2AEEB-7E7C-F7CA-326F-DBF27F5334A9}"/>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spc="-1" dirty="0">
              <a:solidFill>
                <a:srgbClr val="000000"/>
              </a:solidFill>
              <a:latin typeface="Calibri"/>
            </a:endParaRPr>
          </a:p>
        </p:txBody>
      </p:sp>
      <p:sp>
        <p:nvSpPr>
          <p:cNvPr id="313" name="TextShape 2">
            <a:extLst>
              <a:ext uri="{FF2B5EF4-FFF2-40B4-BE49-F238E27FC236}">
                <a16:creationId xmlns:a16="http://schemas.microsoft.com/office/drawing/2014/main" id="{2291A77C-F9DB-F58B-5EFD-65DEB2EF3F55}"/>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2. (tiếp) Kiểm chứng: Parrot so với SOTA</a:t>
            </a:r>
            <a:endParaRPr lang="en-US" sz="3200" spc="-1" dirty="0">
              <a:solidFill>
                <a:schemeClr val="bg1"/>
              </a:solidFill>
              <a:latin typeface="Calibri"/>
            </a:endParaRPr>
          </a:p>
        </p:txBody>
      </p:sp>
      <p:graphicFrame>
        <p:nvGraphicFramePr>
          <p:cNvPr id="900" name="Parrot Table 1"/>
          <p:cNvGraphicFramePr>
            <a:graphicFrameLocks noGrp="1"/>
          </p:cNvGraphicFramePr>
          <p:nvPr>
            <p:extLst>
              <p:ext uri="{D42A27DB-BD31-4B8C-83A1-F6EECF244321}">
                <p14:modId xmlns:p14="http://schemas.microsoft.com/office/powerpoint/2010/main" val="946141600"/>
              </p:ext>
            </p:extLst>
          </p:nvPr>
        </p:nvGraphicFramePr>
        <p:xfrm>
          <a:off x="457200" y="1552678"/>
          <a:ext cx="11277600" cy="157480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393700">
                <a:tc>
                  <a:txBody>
                    <a:bodyPr/>
                    <a:lstStyle/>
                    <a:p>
                      <a:pPr algn="ctr"/>
                      <a:r>
                        <a:rPr lang="vi-VN" sz="1500" b="1" i="0" dirty="0">
                          <a:solidFill>
                            <a:srgbClr val="FFFFFF"/>
                          </a:solidFill>
                          <a:latin typeface="Calibri"/>
                        </a:rPr>
                        <a:t>Open-source (22 project)</a:t>
                      </a:r>
                      <a:endParaRPr lang="vi-VN" sz="1500"/>
                    </a:p>
                  </a:txBody>
                  <a:tcPr marL="45720" marR="45720" marT="22860" marB="22860" anchor="ctr"/>
                </a:tc>
                <a:tc>
                  <a:txBody>
                    <a:bodyPr/>
                    <a:lstStyle/>
                    <a:p>
                      <a:pPr algn="ctr"/>
                      <a:r>
                        <a:rPr lang="vi-VN" sz="1500" b="1" i="0" dirty="0">
                          <a:solidFill>
                            <a:srgbClr val="FFFFFF"/>
                          </a:solidFill>
                          <a:latin typeface="Calibri"/>
                        </a:rPr>
                        <a:t>F1-fail</a:t>
                      </a:r>
                      <a:endParaRPr lang="vi-VN" sz="1500"/>
                    </a:p>
                  </a:txBody>
                  <a:tcPr marL="45720" marR="45720" marT="22860" marB="22860" anchor="ctr"/>
                </a:tc>
                <a:tc>
                  <a:txBody>
                    <a:bodyPr/>
                    <a:lstStyle/>
                    <a:p>
                      <a:pPr algn="ctr"/>
                      <a:r>
                        <a:rPr lang="vi-VN" sz="1500" b="1" i="0" dirty="0">
                          <a:solidFill>
                            <a:srgbClr val="FFFFFF"/>
                          </a:solidFill>
                          <a:latin typeface="Calibri"/>
                        </a:rPr>
                        <a:t>Recall-fail</a:t>
                      </a:r>
                      <a:endParaRPr lang="vi-VN" sz="1500"/>
                    </a:p>
                  </a:txBody>
                  <a:tcPr marL="45720" marR="45720" marT="22860" marB="22860" anchor="ctr"/>
                </a:tc>
                <a:tc>
                  <a:txBody>
                    <a:bodyPr/>
                    <a:lstStyle/>
                    <a:p>
                      <a:pPr algn="ctr"/>
                      <a:r>
                        <a:rPr lang="vi-VN" sz="1500" b="1" i="0" dirty="0">
                          <a:solidFill>
                            <a:srgbClr val="FFFFFF"/>
                          </a:solidFill>
                          <a:latin typeface="Calibri"/>
                        </a:rPr>
                        <a:t>Precision-fail</a:t>
                      </a:r>
                      <a:endParaRPr lang="vi-VN" sz="1500"/>
                    </a:p>
                  </a:txBody>
                  <a:tcPr marL="45720" marR="45720" marT="22860" marB="22860" anchor="ctr"/>
                </a:tc>
                <a:tc>
                  <a:txBody>
                    <a:bodyPr/>
                    <a:lstStyle/>
                    <a:p>
                      <a:pPr algn="ctr"/>
                      <a:r>
                        <a:rPr lang="vi-VN" sz="1500" b="1" i="0" dirty="0">
                          <a:solidFill>
                            <a:srgbClr val="FFFFFF"/>
                          </a:solidFill>
                          <a:latin typeface="Calibri"/>
                        </a:rPr>
                        <a:t>AUC</a:t>
                      </a:r>
                      <a:endParaRPr lang="vi-VN" sz="1500"/>
                    </a:p>
                  </a:txBody>
                  <a:tcPr marL="45720" marR="45720" marT="22860" marB="22860" anchor="ctr"/>
                </a:tc>
                <a:tc>
                  <a:txBody>
                    <a:bodyPr/>
                    <a:lstStyle/>
                    <a:p>
                      <a:pPr algn="ctr"/>
                      <a:r>
                        <a:rPr lang="vi-VN" sz="1500" b="1" i="0" dirty="0">
                          <a:solidFill>
                            <a:srgbClr val="FFFFFF"/>
                          </a:solidFill>
                          <a:latin typeface="Calibri"/>
                        </a:rPr>
                        <a:t>Gain</a:t>
                      </a:r>
                      <a:endParaRPr lang="vi-VN" sz="1500"/>
                    </a:p>
                  </a:txBody>
                  <a:tcPr marL="45720" marR="45720" marT="22860" marB="22860" anchor="ctr"/>
                </a:tc>
                <a:extLst>
                  <a:ext uri="{0D108BD9-81ED-4DB2-BD59-A6C34878D82A}">
                    <a16:rowId xmlns:a16="http://schemas.microsoft.com/office/drawing/2014/main" val="10000"/>
                  </a:ext>
                </a:extLst>
              </a:tr>
              <a:tr h="393700">
                <a:tc>
                  <a:txBody>
                    <a:bodyPr/>
                    <a:lstStyle/>
                    <a:p>
                      <a:pPr algn="l"/>
                      <a:r>
                        <a:rPr lang="vi-VN" sz="1500" b="1" i="0" dirty="0">
                          <a:solidFill>
                            <a:srgbClr val="333333"/>
                          </a:solidFill>
                          <a:latin typeface="Calibri"/>
                        </a:rPr>
                        <a:t>Parrot</a:t>
                      </a:r>
                      <a:endParaRPr lang="vi-VN" sz="1500"/>
                    </a:p>
                  </a:txBody>
                  <a:tcPr marL="45720" marR="45720" marT="22860" marB="22860" anchor="ctr"/>
                </a:tc>
                <a:tc>
                  <a:txBody>
                    <a:bodyPr/>
                    <a:lstStyle/>
                    <a:p>
                      <a:pPr algn="ctr"/>
                      <a:r>
                        <a:rPr lang="vi-VN" sz="1500" b="0" i="0" dirty="0">
                          <a:solidFill>
                            <a:srgbClr val="333333"/>
                          </a:solidFill>
                          <a:latin typeface="Calibri"/>
                        </a:rPr>
                        <a:t>.421</a:t>
                      </a:r>
                      <a:endParaRPr lang="vi-VN" sz="1500"/>
                    </a:p>
                  </a:txBody>
                  <a:tcPr marL="45720" marR="45720" marT="22860" marB="22860" anchor="ctr"/>
                </a:tc>
                <a:tc>
                  <a:txBody>
                    <a:bodyPr/>
                    <a:lstStyle/>
                    <a:p>
                      <a:pPr algn="ctr"/>
                      <a:r>
                        <a:rPr lang="vi-VN" sz="1500" b="0" i="0" dirty="0">
                          <a:solidFill>
                            <a:srgbClr val="333333"/>
                          </a:solidFill>
                          <a:latin typeface="Calibri"/>
                        </a:rPr>
                        <a:t>.422</a:t>
                      </a:r>
                      <a:endParaRPr lang="vi-VN" sz="1500"/>
                    </a:p>
                  </a:txBody>
                  <a:tcPr marL="45720" marR="45720" marT="22860" marB="22860" anchor="ctr"/>
                </a:tc>
                <a:tc>
                  <a:txBody>
                    <a:bodyPr/>
                    <a:lstStyle/>
                    <a:p>
                      <a:pPr algn="ctr"/>
                      <a:r>
                        <a:rPr lang="vi-VN" sz="1500" b="0" i="0" dirty="0">
                          <a:solidFill>
                            <a:srgbClr val="333333"/>
                          </a:solidFill>
                          <a:latin typeface="Calibri"/>
                        </a:rPr>
                        <a:t>.420</a:t>
                      </a:r>
                      <a:endParaRPr lang="vi-VN" sz="1500"/>
                    </a:p>
                  </a:txBody>
                  <a:tcPr marL="45720" marR="45720" marT="22860" marB="22860" anchor="ctr"/>
                </a:tc>
                <a:tc>
                  <a:txBody>
                    <a:bodyPr/>
                    <a:lstStyle/>
                    <a:p>
                      <a:pPr algn="ctr"/>
                      <a:r>
                        <a:rPr lang="vi-VN" sz="1500" b="0" i="0" dirty="0">
                          <a:solidFill>
                            <a:srgbClr val="333333"/>
                          </a:solidFill>
                          <a:latin typeface="Calibri"/>
                        </a:rPr>
                        <a:t>.610</a:t>
                      </a:r>
                      <a:endParaRPr lang="vi-VN" sz="1500"/>
                    </a:p>
                  </a:txBody>
                  <a:tcPr marL="45720" marR="45720" marT="22860" marB="22860" anchor="ctr"/>
                </a:tc>
                <a:tc>
                  <a:txBody>
                    <a:bodyPr/>
                    <a:lstStyle/>
                    <a:p>
                      <a:pPr algn="ctr"/>
                      <a:r>
                        <a:rPr lang="vi-VN" sz="1500" b="1" i="0" dirty="0">
                          <a:solidFill>
                            <a:srgbClr val="333333"/>
                          </a:solidFill>
                          <a:latin typeface="Calibri"/>
                        </a:rPr>
                        <a:t>178.0</a:t>
                      </a:r>
                      <a:endParaRPr lang="vi-VN" sz="1500"/>
                    </a:p>
                  </a:txBody>
                  <a:tcPr marL="45720" marR="45720" marT="22860" marB="22860" anchor="ctr"/>
                </a:tc>
                <a:extLst>
                  <a:ext uri="{0D108BD9-81ED-4DB2-BD59-A6C34878D82A}">
                    <a16:rowId xmlns:a16="http://schemas.microsoft.com/office/drawing/2014/main" val="10001"/>
                  </a:ext>
                </a:extLst>
              </a:tr>
              <a:tr h="393700">
                <a:tc>
                  <a:txBody>
                    <a:bodyPr/>
                    <a:lstStyle/>
                    <a:p>
                      <a:pPr algn="l"/>
                      <a:r>
                        <a:rPr lang="vi-VN" sz="1500" b="0" i="0" dirty="0">
                          <a:solidFill>
                            <a:srgbClr val="333333"/>
                          </a:solidFill>
                          <a:latin typeface="Calibri"/>
                        </a:rPr>
                        <a:t>BuildFast</a:t>
                      </a:r>
                      <a:endParaRPr lang="vi-VN" sz="1500"/>
                    </a:p>
                  </a:txBody>
                  <a:tcPr marL="45720" marR="45720" marT="22860" marB="22860" anchor="ctr"/>
                </a:tc>
                <a:tc>
                  <a:txBody>
                    <a:bodyPr/>
                    <a:lstStyle/>
                    <a:p>
                      <a:pPr algn="ctr"/>
                      <a:r>
                        <a:rPr lang="vi-VN" sz="1500" b="0" i="0" dirty="0">
                          <a:solidFill>
                            <a:srgbClr val="333333"/>
                          </a:solidFill>
                          <a:latin typeface="Calibri"/>
                        </a:rPr>
                        <a:t>.478</a:t>
                      </a:r>
                      <a:endParaRPr lang="vi-VN" sz="1500"/>
                    </a:p>
                  </a:txBody>
                  <a:tcPr marL="45720" marR="45720" marT="22860" marB="22860" anchor="ctr"/>
                </a:tc>
                <a:tc>
                  <a:txBody>
                    <a:bodyPr/>
                    <a:lstStyle/>
                    <a:p>
                      <a:pPr algn="ctr"/>
                      <a:r>
                        <a:rPr lang="vi-VN" sz="1500" b="0" i="0" dirty="0">
                          <a:solidFill>
                            <a:srgbClr val="333333"/>
                          </a:solidFill>
                          <a:latin typeface="Calibri"/>
                        </a:rPr>
                        <a:t>.583</a:t>
                      </a:r>
                      <a:endParaRPr lang="vi-VN" sz="1500"/>
                    </a:p>
                  </a:txBody>
                  <a:tcPr marL="45720" marR="45720" marT="22860" marB="22860" anchor="ctr"/>
                </a:tc>
                <a:tc>
                  <a:txBody>
                    <a:bodyPr/>
                    <a:lstStyle/>
                    <a:p>
                      <a:pPr algn="ctr"/>
                      <a:r>
                        <a:rPr lang="vi-VN" sz="1500" b="0" i="0" dirty="0">
                          <a:solidFill>
                            <a:srgbClr val="333333"/>
                          </a:solidFill>
                          <a:latin typeface="Calibri"/>
                        </a:rPr>
                        <a:t>.457</a:t>
                      </a:r>
                      <a:endParaRPr lang="vi-VN" sz="1500"/>
                    </a:p>
                  </a:txBody>
                  <a:tcPr marL="45720" marR="45720" marT="22860" marB="22860" anchor="ctr"/>
                </a:tc>
                <a:tc>
                  <a:txBody>
                    <a:bodyPr/>
                    <a:lstStyle/>
                    <a:p>
                      <a:pPr algn="ctr"/>
                      <a:r>
                        <a:rPr lang="vi-VN" sz="1500" b="0" i="0" dirty="0">
                          <a:solidFill>
                            <a:srgbClr val="333333"/>
                          </a:solidFill>
                          <a:latin typeface="Calibri"/>
                        </a:rPr>
                        <a:t>.723</a:t>
                      </a:r>
                      <a:endParaRPr lang="vi-VN" sz="1500"/>
                    </a:p>
                  </a:txBody>
                  <a:tcPr marL="45720" marR="45720" marT="22860" marB="22860" anchor="ctr"/>
                </a:tc>
                <a:tc>
                  <a:txBody>
                    <a:bodyPr/>
                    <a:lstStyle/>
                    <a:p>
                      <a:pPr algn="ctr"/>
                      <a:r>
                        <a:rPr lang="vi-VN" sz="1500" b="0" i="0" dirty="0">
                          <a:solidFill>
                            <a:srgbClr val="333333"/>
                          </a:solidFill>
                          <a:latin typeface="Calibri"/>
                        </a:rPr>
                        <a:t>124.8</a:t>
                      </a:r>
                      <a:endParaRPr lang="vi-VN" sz="1500"/>
                    </a:p>
                  </a:txBody>
                  <a:tcPr marL="45720" marR="45720" marT="22860" marB="22860" anchor="ctr"/>
                </a:tc>
                <a:extLst>
                  <a:ext uri="{0D108BD9-81ED-4DB2-BD59-A6C34878D82A}">
                    <a16:rowId xmlns:a16="http://schemas.microsoft.com/office/drawing/2014/main" val="10002"/>
                  </a:ext>
                </a:extLst>
              </a:tr>
              <a:tr h="393700">
                <a:tc>
                  <a:txBody>
                    <a:bodyPr/>
                    <a:lstStyle/>
                    <a:p>
                      <a:pPr algn="l"/>
                      <a:r>
                        <a:rPr lang="vi-VN" sz="1500" b="0" i="0" dirty="0">
                          <a:solidFill>
                            <a:srgbClr val="333333"/>
                          </a:solidFill>
                          <a:latin typeface="Calibri"/>
                        </a:rPr>
                        <a:t>RavenBuild-CR</a:t>
                      </a:r>
                      <a:endParaRPr lang="vi-VN" sz="1500"/>
                    </a:p>
                  </a:txBody>
                  <a:tcPr marL="45720" marR="45720" marT="22860" marB="22860" anchor="ctr"/>
                </a:tc>
                <a:tc>
                  <a:txBody>
                    <a:bodyPr/>
                    <a:lstStyle/>
                    <a:p>
                      <a:pPr algn="ctr"/>
                      <a:r>
                        <a:rPr lang="vi-VN" sz="1500" b="1" i="0" dirty="0">
                          <a:solidFill>
                            <a:srgbClr val="333333"/>
                          </a:solidFill>
                          <a:latin typeface="Calibri"/>
                        </a:rPr>
                        <a:t>.502</a:t>
                      </a:r>
                      <a:endParaRPr lang="vi-VN" sz="1500"/>
                    </a:p>
                  </a:txBody>
                  <a:tcPr marL="45720" marR="45720" marT="22860" marB="22860" anchor="ctr"/>
                </a:tc>
                <a:tc>
                  <a:txBody>
                    <a:bodyPr/>
                    <a:lstStyle/>
                    <a:p>
                      <a:pPr algn="ctr"/>
                      <a:r>
                        <a:rPr lang="vi-VN" sz="1500" b="1" i="0" dirty="0">
                          <a:solidFill>
                            <a:srgbClr val="333333"/>
                          </a:solidFill>
                          <a:latin typeface="Calibri"/>
                        </a:rPr>
                        <a:t>.612</a:t>
                      </a:r>
                      <a:endParaRPr lang="vi-VN" sz="1500"/>
                    </a:p>
                  </a:txBody>
                  <a:tcPr marL="45720" marR="45720" marT="22860" marB="22860" anchor="ctr"/>
                </a:tc>
                <a:tc>
                  <a:txBody>
                    <a:bodyPr/>
                    <a:lstStyle/>
                    <a:p>
                      <a:pPr algn="ctr"/>
                      <a:r>
                        <a:rPr lang="vi-VN" sz="1500" b="1" i="0" dirty="0">
                          <a:solidFill>
                            <a:srgbClr val="333333"/>
                          </a:solidFill>
                          <a:latin typeface="Calibri"/>
                        </a:rPr>
                        <a:t>.489</a:t>
                      </a:r>
                      <a:endParaRPr lang="vi-VN" sz="1500"/>
                    </a:p>
                  </a:txBody>
                  <a:tcPr marL="45720" marR="45720" marT="22860" marB="22860" anchor="ctr"/>
                </a:tc>
                <a:tc>
                  <a:txBody>
                    <a:bodyPr/>
                    <a:lstStyle/>
                    <a:p>
                      <a:pPr algn="ctr"/>
                      <a:r>
                        <a:rPr lang="vi-VN" sz="1500" b="1" i="0" dirty="0">
                          <a:solidFill>
                            <a:srgbClr val="333333"/>
                          </a:solidFill>
                          <a:latin typeface="Calibri"/>
                        </a:rPr>
                        <a:t>.738</a:t>
                      </a:r>
                      <a:endParaRPr lang="vi-VN" sz="1500"/>
                    </a:p>
                  </a:txBody>
                  <a:tcPr marL="45720" marR="45720" marT="22860" marB="22860" anchor="ctr"/>
                </a:tc>
                <a:tc>
                  <a:txBody>
                    <a:bodyPr/>
                    <a:lstStyle/>
                    <a:p>
                      <a:pPr algn="ctr"/>
                      <a:r>
                        <a:rPr lang="vi-VN" sz="1500" b="0" i="0" dirty="0">
                          <a:solidFill>
                            <a:srgbClr val="333333"/>
                          </a:solidFill>
                          <a:latin typeface="Calibri"/>
                        </a:rPr>
                        <a:t>156.7</a:t>
                      </a:r>
                      <a:endParaRPr lang="vi-VN" sz="1500"/>
                    </a:p>
                  </a:txBody>
                  <a:tcPr marL="45720" marR="45720" marT="22860" marB="22860" anchor="ctr"/>
                </a:tc>
                <a:extLst>
                  <a:ext uri="{0D108BD9-81ED-4DB2-BD59-A6C34878D82A}">
                    <a16:rowId xmlns:a16="http://schemas.microsoft.com/office/drawing/2014/main" val="10003"/>
                  </a:ext>
                </a:extLst>
              </a:tr>
            </a:tbl>
          </a:graphicData>
        </a:graphic>
      </p:graphicFrame>
      <p:graphicFrame>
        <p:nvGraphicFramePr>
          <p:cNvPr id="901" name="Parrot Table 2"/>
          <p:cNvGraphicFramePr>
            <a:graphicFrameLocks noGrp="1"/>
          </p:cNvGraphicFramePr>
          <p:nvPr>
            <p:extLst>
              <p:ext uri="{D42A27DB-BD31-4B8C-83A1-F6EECF244321}">
                <p14:modId xmlns:p14="http://schemas.microsoft.com/office/powerpoint/2010/main" val="3761117779"/>
              </p:ext>
            </p:extLst>
          </p:nvPr>
        </p:nvGraphicFramePr>
        <p:xfrm>
          <a:off x="457200" y="3457678"/>
          <a:ext cx="11277600" cy="157480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393700">
                <a:tc>
                  <a:txBody>
                    <a:bodyPr/>
                    <a:lstStyle/>
                    <a:p>
                      <a:pPr algn="ctr"/>
                      <a:r>
                        <a:rPr lang="vi-VN" sz="1500" b="1" i="0" dirty="0">
                          <a:solidFill>
                            <a:srgbClr val="FFFFFF"/>
                          </a:solidFill>
                          <a:latin typeface="Calibri"/>
                        </a:rPr>
                        <a:t>Project X (game AAA, Ubisoft)</a:t>
                      </a:r>
                      <a:endParaRPr lang="vi-VN" sz="1500" dirty="0"/>
                    </a:p>
                  </a:txBody>
                  <a:tcPr marL="45720" marR="45720" marT="22860" marB="22860" anchor="ctr"/>
                </a:tc>
                <a:tc>
                  <a:txBody>
                    <a:bodyPr/>
                    <a:lstStyle/>
                    <a:p>
                      <a:pPr algn="ctr"/>
                      <a:r>
                        <a:rPr lang="vi-VN" sz="1500" b="1" i="0" dirty="0">
                          <a:solidFill>
                            <a:srgbClr val="FFFFFF"/>
                          </a:solidFill>
                          <a:latin typeface="Calibri"/>
                        </a:rPr>
                        <a:t>F1-fail</a:t>
                      </a:r>
                      <a:endParaRPr lang="vi-VN" sz="1500"/>
                    </a:p>
                  </a:txBody>
                  <a:tcPr marL="45720" marR="45720" marT="22860" marB="22860" anchor="ctr"/>
                </a:tc>
                <a:tc>
                  <a:txBody>
                    <a:bodyPr/>
                    <a:lstStyle/>
                    <a:p>
                      <a:pPr algn="ctr"/>
                      <a:r>
                        <a:rPr lang="vi-VN" sz="1500" b="1" i="0" dirty="0">
                          <a:solidFill>
                            <a:srgbClr val="FFFFFF"/>
                          </a:solidFill>
                          <a:latin typeface="Calibri"/>
                        </a:rPr>
                        <a:t>Recall-fail</a:t>
                      </a:r>
                      <a:endParaRPr lang="vi-VN" sz="1500"/>
                    </a:p>
                  </a:txBody>
                  <a:tcPr marL="45720" marR="45720" marT="22860" marB="22860" anchor="ctr"/>
                </a:tc>
                <a:tc>
                  <a:txBody>
                    <a:bodyPr/>
                    <a:lstStyle/>
                    <a:p>
                      <a:pPr algn="ctr"/>
                      <a:r>
                        <a:rPr lang="vi-VN" sz="1500" b="1" i="0" dirty="0">
                          <a:solidFill>
                            <a:srgbClr val="FFFFFF"/>
                          </a:solidFill>
                          <a:latin typeface="Calibri"/>
                        </a:rPr>
                        <a:t>Precision-fail</a:t>
                      </a:r>
                      <a:endParaRPr lang="vi-VN" sz="1500"/>
                    </a:p>
                  </a:txBody>
                  <a:tcPr marL="45720" marR="45720" marT="22860" marB="22860" anchor="ctr"/>
                </a:tc>
                <a:tc>
                  <a:txBody>
                    <a:bodyPr/>
                    <a:lstStyle/>
                    <a:p>
                      <a:pPr algn="ctr"/>
                      <a:r>
                        <a:rPr lang="vi-VN" sz="1500" b="1" i="0" dirty="0">
                          <a:solidFill>
                            <a:srgbClr val="FFFFFF"/>
                          </a:solidFill>
                          <a:latin typeface="Calibri"/>
                        </a:rPr>
                        <a:t>AUC</a:t>
                      </a:r>
                      <a:endParaRPr lang="vi-VN" sz="1500"/>
                    </a:p>
                  </a:txBody>
                  <a:tcPr marL="45720" marR="45720" marT="22860" marB="22860" anchor="ctr"/>
                </a:tc>
                <a:tc>
                  <a:txBody>
                    <a:bodyPr/>
                    <a:lstStyle/>
                    <a:p>
                      <a:pPr algn="ctr"/>
                      <a:r>
                        <a:rPr lang="vi-VN" sz="1500" b="1" i="0" dirty="0">
                          <a:solidFill>
                            <a:srgbClr val="FFFFFF"/>
                          </a:solidFill>
                          <a:latin typeface="Calibri"/>
                        </a:rPr>
                        <a:t>Gain</a:t>
                      </a:r>
                      <a:endParaRPr lang="vi-VN" sz="1500"/>
                    </a:p>
                  </a:txBody>
                  <a:tcPr marL="45720" marR="45720" marT="22860" marB="22860" anchor="ctr"/>
                </a:tc>
                <a:extLst>
                  <a:ext uri="{0D108BD9-81ED-4DB2-BD59-A6C34878D82A}">
                    <a16:rowId xmlns:a16="http://schemas.microsoft.com/office/drawing/2014/main" val="10000"/>
                  </a:ext>
                </a:extLst>
              </a:tr>
              <a:tr h="393700">
                <a:tc>
                  <a:txBody>
                    <a:bodyPr/>
                    <a:lstStyle/>
                    <a:p>
                      <a:pPr algn="l"/>
                      <a:r>
                        <a:rPr lang="vi-VN" sz="1500" b="1" i="0" dirty="0">
                          <a:solidFill>
                            <a:srgbClr val="333333"/>
                          </a:solidFill>
                          <a:latin typeface="Calibri"/>
                        </a:rPr>
                        <a:t>Parrot</a:t>
                      </a:r>
                      <a:endParaRPr lang="vi-VN" sz="1500"/>
                    </a:p>
                  </a:txBody>
                  <a:tcPr marL="45720" marR="45720" marT="22860" marB="22860" anchor="ctr"/>
                </a:tc>
                <a:tc>
                  <a:txBody>
                    <a:bodyPr/>
                    <a:lstStyle/>
                    <a:p>
                      <a:pPr algn="ctr"/>
                      <a:r>
                        <a:rPr lang="vi-VN" sz="1500" b="1" i="0" dirty="0">
                          <a:solidFill>
                            <a:srgbClr val="333333"/>
                          </a:solidFill>
                          <a:latin typeface="Calibri"/>
                        </a:rPr>
                        <a:t>.657</a:t>
                      </a:r>
                      <a:endParaRPr lang="vi-VN" sz="1500" dirty="0"/>
                    </a:p>
                  </a:txBody>
                  <a:tcPr marL="45720" marR="45720" marT="22860" marB="22860" anchor="ctr"/>
                </a:tc>
                <a:tc>
                  <a:txBody>
                    <a:bodyPr/>
                    <a:lstStyle/>
                    <a:p>
                      <a:pPr algn="ctr"/>
                      <a:r>
                        <a:rPr lang="vi-VN" sz="1500" b="1" i="0" dirty="0">
                          <a:solidFill>
                            <a:srgbClr val="333333"/>
                          </a:solidFill>
                          <a:latin typeface="Calibri"/>
                        </a:rPr>
                        <a:t>.652</a:t>
                      </a:r>
                      <a:endParaRPr lang="vi-VN" sz="1500"/>
                    </a:p>
                  </a:txBody>
                  <a:tcPr marL="45720" marR="45720" marT="22860" marB="22860" anchor="ctr"/>
                </a:tc>
                <a:tc>
                  <a:txBody>
                    <a:bodyPr/>
                    <a:lstStyle/>
                    <a:p>
                      <a:pPr algn="ctr"/>
                      <a:r>
                        <a:rPr lang="vi-VN" sz="1500" b="0" i="0" dirty="0">
                          <a:solidFill>
                            <a:srgbClr val="333333"/>
                          </a:solidFill>
                          <a:latin typeface="Calibri"/>
                        </a:rPr>
                        <a:t>.662</a:t>
                      </a:r>
                      <a:endParaRPr lang="vi-VN" sz="1500"/>
                    </a:p>
                  </a:txBody>
                  <a:tcPr marL="45720" marR="45720" marT="22860" marB="22860" anchor="ctr"/>
                </a:tc>
                <a:tc>
                  <a:txBody>
                    <a:bodyPr/>
                    <a:lstStyle/>
                    <a:p>
                      <a:pPr algn="ctr"/>
                      <a:r>
                        <a:rPr lang="vi-VN" sz="1500" b="0" i="0" dirty="0">
                          <a:solidFill>
                            <a:srgbClr val="333333"/>
                          </a:solidFill>
                          <a:latin typeface="Calibri"/>
                        </a:rPr>
                        <a:t>.810</a:t>
                      </a:r>
                      <a:endParaRPr lang="vi-VN" sz="1500"/>
                    </a:p>
                  </a:txBody>
                  <a:tcPr marL="45720" marR="45720" marT="22860" marB="22860" anchor="ctr"/>
                </a:tc>
                <a:tc>
                  <a:txBody>
                    <a:bodyPr/>
                    <a:lstStyle/>
                    <a:p>
                      <a:pPr algn="ctr"/>
                      <a:r>
                        <a:rPr lang="vi-VN" sz="1500" b="1" i="0" dirty="0">
                          <a:solidFill>
                            <a:srgbClr val="333333"/>
                          </a:solidFill>
                          <a:latin typeface="Calibri"/>
                        </a:rPr>
                        <a:t>253.6</a:t>
                      </a:r>
                      <a:endParaRPr lang="vi-VN" sz="1500"/>
                    </a:p>
                  </a:txBody>
                  <a:tcPr marL="45720" marR="45720" marT="22860" marB="22860" anchor="ctr"/>
                </a:tc>
                <a:extLst>
                  <a:ext uri="{0D108BD9-81ED-4DB2-BD59-A6C34878D82A}">
                    <a16:rowId xmlns:a16="http://schemas.microsoft.com/office/drawing/2014/main" val="10001"/>
                  </a:ext>
                </a:extLst>
              </a:tr>
              <a:tr h="393700">
                <a:tc>
                  <a:txBody>
                    <a:bodyPr/>
                    <a:lstStyle/>
                    <a:p>
                      <a:pPr algn="l"/>
                      <a:r>
                        <a:rPr lang="vi-VN" sz="1500" b="0" i="0" dirty="0">
                          <a:solidFill>
                            <a:srgbClr val="333333"/>
                          </a:solidFill>
                          <a:latin typeface="Calibri"/>
                        </a:rPr>
                        <a:t>BuildFast</a:t>
                      </a:r>
                      <a:endParaRPr lang="vi-VN" sz="1500"/>
                    </a:p>
                  </a:txBody>
                  <a:tcPr marL="45720" marR="45720" marT="22860" marB="22860" anchor="ctr"/>
                </a:tc>
                <a:tc>
                  <a:txBody>
                    <a:bodyPr/>
                    <a:lstStyle/>
                    <a:p>
                      <a:pPr algn="ctr"/>
                      <a:r>
                        <a:rPr lang="vi-VN" sz="1500" b="0" i="0" dirty="0">
                          <a:solidFill>
                            <a:srgbClr val="333333"/>
                          </a:solidFill>
                          <a:latin typeface="Calibri"/>
                        </a:rPr>
                        <a:t>.426</a:t>
                      </a:r>
                      <a:endParaRPr lang="vi-VN" sz="1500"/>
                    </a:p>
                  </a:txBody>
                  <a:tcPr marL="45720" marR="45720" marT="22860" marB="22860" anchor="ctr"/>
                </a:tc>
                <a:tc>
                  <a:txBody>
                    <a:bodyPr/>
                    <a:lstStyle/>
                    <a:p>
                      <a:pPr algn="ctr"/>
                      <a:r>
                        <a:rPr lang="vi-VN" sz="1500" b="0" i="0" dirty="0">
                          <a:solidFill>
                            <a:srgbClr val="333333"/>
                          </a:solidFill>
                          <a:latin typeface="Calibri"/>
                        </a:rPr>
                        <a:t>.296</a:t>
                      </a:r>
                      <a:endParaRPr lang="vi-VN" sz="1500"/>
                    </a:p>
                  </a:txBody>
                  <a:tcPr marL="45720" marR="45720" marT="22860" marB="22860" anchor="ctr"/>
                </a:tc>
                <a:tc>
                  <a:txBody>
                    <a:bodyPr/>
                    <a:lstStyle/>
                    <a:p>
                      <a:pPr algn="ctr"/>
                      <a:r>
                        <a:rPr lang="vi-VN" sz="1500" b="1" i="0" dirty="0">
                          <a:solidFill>
                            <a:srgbClr val="333333"/>
                          </a:solidFill>
                          <a:latin typeface="Calibri"/>
                        </a:rPr>
                        <a:t>.755</a:t>
                      </a:r>
                      <a:endParaRPr lang="vi-VN" sz="1500"/>
                    </a:p>
                  </a:txBody>
                  <a:tcPr marL="45720" marR="45720" marT="22860" marB="22860" anchor="ctr"/>
                </a:tc>
                <a:tc>
                  <a:txBody>
                    <a:bodyPr/>
                    <a:lstStyle/>
                    <a:p>
                      <a:pPr algn="ctr"/>
                      <a:r>
                        <a:rPr lang="vi-VN" sz="1500" b="0" i="0" dirty="0">
                          <a:solidFill>
                            <a:srgbClr val="333333"/>
                          </a:solidFill>
                          <a:latin typeface="Calibri"/>
                        </a:rPr>
                        <a:t>.791</a:t>
                      </a:r>
                      <a:endParaRPr lang="vi-VN" sz="1500"/>
                    </a:p>
                  </a:txBody>
                  <a:tcPr marL="45720" marR="45720" marT="22860" marB="22860" anchor="ctr"/>
                </a:tc>
                <a:tc>
                  <a:txBody>
                    <a:bodyPr/>
                    <a:lstStyle/>
                    <a:p>
                      <a:pPr algn="ctr"/>
                      <a:r>
                        <a:rPr lang="vi-VN" sz="1500" b="0" i="0" dirty="0">
                          <a:solidFill>
                            <a:srgbClr val="333333"/>
                          </a:solidFill>
                          <a:latin typeface="Calibri"/>
                        </a:rPr>
                        <a:t>217.8</a:t>
                      </a:r>
                      <a:endParaRPr lang="vi-VN" sz="1500"/>
                    </a:p>
                  </a:txBody>
                  <a:tcPr marL="45720" marR="45720" marT="22860" marB="22860" anchor="ctr"/>
                </a:tc>
                <a:extLst>
                  <a:ext uri="{0D108BD9-81ED-4DB2-BD59-A6C34878D82A}">
                    <a16:rowId xmlns:a16="http://schemas.microsoft.com/office/drawing/2014/main" val="10002"/>
                  </a:ext>
                </a:extLst>
              </a:tr>
              <a:tr h="393700">
                <a:tc>
                  <a:txBody>
                    <a:bodyPr/>
                    <a:lstStyle/>
                    <a:p>
                      <a:pPr algn="l"/>
                      <a:r>
                        <a:rPr lang="vi-VN" sz="1500" b="0" i="0" dirty="0">
                          <a:solidFill>
                            <a:srgbClr val="333333"/>
                          </a:solidFill>
                          <a:latin typeface="Calibri"/>
                        </a:rPr>
                        <a:t>RavenBuild</a:t>
                      </a:r>
                      <a:endParaRPr lang="vi-VN" sz="1500"/>
                    </a:p>
                  </a:txBody>
                  <a:tcPr marL="45720" marR="45720" marT="22860" marB="22860" anchor="ctr"/>
                </a:tc>
                <a:tc>
                  <a:txBody>
                    <a:bodyPr/>
                    <a:lstStyle/>
                    <a:p>
                      <a:pPr algn="ctr"/>
                      <a:r>
                        <a:rPr lang="vi-VN" sz="1500" b="0" i="0" dirty="0">
                          <a:solidFill>
                            <a:srgbClr val="333333"/>
                          </a:solidFill>
                          <a:latin typeface="Calibri"/>
                        </a:rPr>
                        <a:t>.638</a:t>
                      </a:r>
                      <a:endParaRPr lang="vi-VN" sz="1500"/>
                    </a:p>
                  </a:txBody>
                  <a:tcPr marL="45720" marR="45720" marT="22860" marB="22860" anchor="ctr"/>
                </a:tc>
                <a:tc>
                  <a:txBody>
                    <a:bodyPr/>
                    <a:lstStyle/>
                    <a:p>
                      <a:pPr algn="ctr"/>
                      <a:r>
                        <a:rPr lang="vi-VN" sz="1500" b="0" i="0" dirty="0">
                          <a:solidFill>
                            <a:srgbClr val="333333"/>
                          </a:solidFill>
                          <a:latin typeface="Calibri"/>
                        </a:rPr>
                        <a:t>.607</a:t>
                      </a:r>
                      <a:endParaRPr lang="vi-VN" sz="1500"/>
                    </a:p>
                  </a:txBody>
                  <a:tcPr marL="45720" marR="45720" marT="22860" marB="22860" anchor="ctr"/>
                </a:tc>
                <a:tc>
                  <a:txBody>
                    <a:bodyPr/>
                    <a:lstStyle/>
                    <a:p>
                      <a:pPr algn="ctr"/>
                      <a:r>
                        <a:rPr lang="vi-VN" sz="1500" b="0" i="0" dirty="0">
                          <a:solidFill>
                            <a:srgbClr val="333333"/>
                          </a:solidFill>
                          <a:latin typeface="Calibri"/>
                        </a:rPr>
                        <a:t>.672</a:t>
                      </a:r>
                      <a:endParaRPr lang="vi-VN" sz="1500"/>
                    </a:p>
                  </a:txBody>
                  <a:tcPr marL="45720" marR="45720" marT="22860" marB="22860" anchor="ctr"/>
                </a:tc>
                <a:tc>
                  <a:txBody>
                    <a:bodyPr/>
                    <a:lstStyle/>
                    <a:p>
                      <a:pPr algn="ctr"/>
                      <a:r>
                        <a:rPr lang="vi-VN" sz="1500" b="1" i="0" dirty="0">
                          <a:solidFill>
                            <a:srgbClr val="333333"/>
                          </a:solidFill>
                          <a:latin typeface="Calibri"/>
                        </a:rPr>
                        <a:t>.877</a:t>
                      </a:r>
                      <a:endParaRPr lang="vi-VN" sz="1500"/>
                    </a:p>
                  </a:txBody>
                  <a:tcPr marL="45720" marR="45720" marT="22860" marB="22860" anchor="ctr"/>
                </a:tc>
                <a:tc>
                  <a:txBody>
                    <a:bodyPr/>
                    <a:lstStyle/>
                    <a:p>
                      <a:pPr algn="ctr"/>
                      <a:r>
                        <a:rPr lang="vi-VN" sz="1500" b="0" i="0" dirty="0">
                          <a:solidFill>
                            <a:srgbClr val="333333"/>
                          </a:solidFill>
                          <a:latin typeface="Calibri"/>
                        </a:rPr>
                        <a:t>240.1</a:t>
                      </a:r>
                      <a:endParaRPr lang="vi-VN" sz="1500" dirty="0"/>
                    </a:p>
                  </a:txBody>
                  <a:tcPr marL="45720" marR="45720" marT="22860" marB="22860" anchor="ctr"/>
                </a:tc>
                <a:extLst>
                  <a:ext uri="{0D108BD9-81ED-4DB2-BD59-A6C34878D82A}">
                    <a16:rowId xmlns:a16="http://schemas.microsoft.com/office/drawing/2014/main" val="10003"/>
                  </a:ext>
                </a:extLst>
              </a:tr>
            </a:tbl>
          </a:graphicData>
        </a:graphic>
      </p:graphicFrame>
      <p:sp>
        <p:nvSpPr>
          <p:cNvPr id="2" name="Text 901"/>
          <p:cNvSpPr txBox="1"/>
          <p:nvPr/>
        </p:nvSpPr>
        <p:spPr>
          <a:xfrm>
            <a:off x="457080" y="5184878"/>
            <a:ext cx="11277600" cy="177800"/>
          </a:xfrm>
          <a:prstGeom prst="rect">
            <a:avLst/>
          </a:prstGeom>
          <a:noFill/>
        </p:spPr>
        <p:txBody>
          <a:bodyPr wrap="square" lIns="0" tIns="0" rIns="0" bIns="0" rtlCol="0" anchor="t">
            <a:noAutofit/>
          </a:bodyPr>
          <a:lstStyle/>
          <a:p>
            <a:pPr>
              <a:spcAft>
                <a:spcPts val="400"/>
              </a:spcAft>
              <a:buNone/>
            </a:pPr>
            <a:r>
              <a:rPr lang="vi-VN" sz="1000" b="0" i="1" dirty="0">
                <a:solidFill>
                  <a:srgbClr val="6B7280"/>
                </a:solidFill>
                <a:latin typeface="Calibri"/>
              </a:rPr>
              <a:t>Nguồn: RavenBuild (Sun, Habchi, McIntosh – FSE 2024), Bảng 8–9. In đậm: tốt nhất trong từng bối cảnh. Gain = Benefit − Cost (thời gian phản hồi tiết kiệm được trừ chi phí).</a:t>
            </a:r>
          </a:p>
        </p:txBody>
      </p:sp>
    </p:spTree>
    <p:extLst>
      <p:ext uri="{BB962C8B-B14F-4D97-AF65-F5344CB8AC3E}">
        <p14:creationId xmlns:p14="http://schemas.microsoft.com/office/powerpoint/2010/main" val="1902362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DC68-73D4-C80A-8B5B-57CB41F2F8AF}"/>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74CE9D9D-901C-692C-2FD8-79712928AD4C}"/>
              </a:ext>
            </a:extLst>
          </p:cNvPr>
          <p:cNvSpPr txBox="1"/>
          <p:nvPr/>
        </p:nvSpPr>
        <p:spPr>
          <a:xfrm>
            <a:off x="338760" y="1058760"/>
            <a:ext cx="11514240" cy="4908600"/>
          </a:xfrm>
          <a:prstGeom prst="rect">
            <a:avLst/>
          </a:prstGeom>
          <a:noFill/>
          <a:ln>
            <a:noFill/>
          </a:ln>
        </p:spPr>
        <p:txBody>
          <a:bodyPr lIns="90000" tIns="45000" rIns="90000" bIns="45000">
            <a:noAutofit/>
          </a:bodyPr>
          <a:lstStyle/>
          <a:p>
            <a:pPr marL="457200" lvl="0" indent="-457200">
              <a:buFont typeface="Arial" panose="020B0604020202020204" pitchFamily="34" charset="0"/>
              <a:buChar char="•"/>
            </a:pPr>
            <a:r>
              <a:rPr lang="vi-VN" sz="1800" b="1" i="0" dirty="0"/>
              <a:t>Crawl GitHub API (nguồn chính): </a:t>
            </a:r>
            <a:r>
              <a:rPr lang="vi-VN" sz="1800" b="0" i="0" dirty="0"/>
              <a:t>run, job, step và log của 11 repo Java Apache trong 90 ngày gần nhất → nhãn loại lỗi đọc từ log; diff lấy bằng git.</a:t>
            </a:r>
          </a:p>
          <a:p>
            <a:pPr marL="457200" lvl="0" indent="-457200">
              <a:buFont typeface="Arial" panose="020B0604020202020204" pitchFamily="34" charset="0"/>
              <a:buChar char="•"/>
            </a:pPr>
            <a:r>
              <a:rPr lang="vi-VN" sz="1800" b="1" i="0" dirty="0"/>
              <a:t>GHARuns (2026): </a:t>
            </a:r>
            <a:r>
              <a:rPr lang="vi-VN" sz="1800" b="0" i="0" dirty="0"/>
              <a:t>71,7 triệu run GitHub Actions của 46k repo; chỉ có pass/fail, không có log, diff → dùng để chọn repo và thống kê quy mô.</a:t>
            </a:r>
          </a:p>
          <a:p>
            <a:pPr marL="457200" lvl="0" indent="-457200">
              <a:buFont typeface="Arial" panose="020B0604020202020204" pitchFamily="34" charset="0"/>
              <a:buChar char="•"/>
            </a:pPr>
            <a:r>
              <a:rPr lang="vi-VN" sz="1800" b="1" i="0" dirty="0"/>
              <a:t>GHALogs (MSR 2025): </a:t>
            </a:r>
            <a:r>
              <a:rPr lang="vi-VN" sz="1800" b="0" i="0" dirty="0"/>
              <a:t>513k run có log đầy đủ nhưng chỉ 5 run gần nhất/workflow → không có chuỗi build, chỉ dùng để tham khảo log.</a:t>
            </a:r>
          </a:p>
          <a:p>
            <a:pPr marL="457200" lvl="0" indent="-457200">
              <a:buFont typeface="Arial" panose="020B0604020202020204" pitchFamily="34" charset="0"/>
              <a:buChar char="•"/>
            </a:pPr>
            <a:r>
              <a:rPr lang="vi-VN" sz="1800" b="1" i="0" dirty="0"/>
              <a:t>Dataset GitSense (ISSTA 2024): </a:t>
            </a:r>
            <a:r>
              <a:rPr lang="vi-VN" sz="1800" b="0" i="0" dirty="0"/>
              <a:t>build kèm commit artifact, công khai trên Zenodo → chạy baseline so sánh.</a:t>
            </a:r>
          </a:p>
          <a:p>
            <a:pPr marL="457200" lvl="0" indent="-457200">
              <a:buFont typeface="Arial" panose="020B0604020202020204" pitchFamily="34" charset="0"/>
              <a:buChar char="•"/>
            </a:pPr>
            <a:r>
              <a:rPr lang="vi-VN" sz="1800" b="1" i="0" dirty="0"/>
              <a:t>TravisTorrent (2017): </a:t>
            </a:r>
            <a:r>
              <a:rPr lang="vi-VN" sz="1800" b="0" i="0" dirty="0"/>
              <a:t>2,6 triệu build Travis CI, có sẵn trường suy ra loại lỗi; dùng để đối chiếu nghiên cứu cũ.</a:t>
            </a:r>
          </a:p>
        </p:txBody>
      </p:sp>
      <p:sp>
        <p:nvSpPr>
          <p:cNvPr id="313" name="TextShape 2">
            <a:extLst>
              <a:ext uri="{FF2B5EF4-FFF2-40B4-BE49-F238E27FC236}">
                <a16:creationId xmlns:a16="http://schemas.microsoft.com/office/drawing/2014/main" id="{6C0D2DE3-CD29-2D5E-CEC5-ACE2F5CF0B8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3. Khảo sát dữ liệu</a:t>
            </a:r>
            <a:endParaRPr lang="en-US" sz="3200" spc="-1" dirty="0">
              <a:solidFill>
                <a:schemeClr val="bg1"/>
              </a:solidFill>
              <a:latin typeface="Calibri"/>
            </a:endParaRPr>
          </a:p>
        </p:txBody>
      </p:sp>
    </p:spTree>
    <p:extLst>
      <p:ext uri="{BB962C8B-B14F-4D97-AF65-F5344CB8AC3E}">
        <p14:creationId xmlns:p14="http://schemas.microsoft.com/office/powerpoint/2010/main" val="126194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E0C4-4DAC-FF29-C456-D714E20113B7}"/>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9CD2AEEB-7E7C-F7CA-326F-DBF27F5334A9}"/>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spc="-1" dirty="0">
              <a:solidFill>
                <a:srgbClr val="000000"/>
              </a:solidFill>
              <a:latin typeface="Calibri"/>
            </a:endParaRPr>
          </a:p>
        </p:txBody>
      </p:sp>
      <p:sp>
        <p:nvSpPr>
          <p:cNvPr id="313" name="TextShape 2">
            <a:extLst>
              <a:ext uri="{FF2B5EF4-FFF2-40B4-BE49-F238E27FC236}">
                <a16:creationId xmlns:a16="http://schemas.microsoft.com/office/drawing/2014/main" id="{2291A77C-F9DB-F58B-5EFD-65DEB2EF3F55}"/>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dirty="0">
                <a:solidFill>
                  <a:schemeClr val="bg1"/>
                </a:solidFill>
                <a:latin typeface="Calibri"/>
              </a:rPr>
              <a:t>3. (</a:t>
            </a:r>
            <a:r>
              <a:rPr lang="en-US" sz="3200" b="0" i="0" spc="-1" dirty="0" err="1">
                <a:solidFill>
                  <a:schemeClr val="bg1"/>
                </a:solidFill>
                <a:latin typeface="Calibri"/>
              </a:rPr>
              <a:t>tiếp</a:t>
            </a:r>
            <a:r>
              <a:rPr lang="en-US" sz="3200" b="0" i="0" spc="-1" dirty="0">
                <a:solidFill>
                  <a:schemeClr val="bg1"/>
                </a:solidFill>
                <a:latin typeface="Calibri"/>
              </a:rPr>
              <a:t>) </a:t>
            </a:r>
            <a:r>
              <a:rPr lang="en-US" sz="3200" b="0" i="0" spc="-1" dirty="0" err="1">
                <a:solidFill>
                  <a:schemeClr val="bg1"/>
                </a:solidFill>
                <a:latin typeface="Calibri"/>
              </a:rPr>
              <a:t>Dữ</a:t>
            </a:r>
            <a:r>
              <a:rPr lang="en-US" sz="3200" b="0" i="0" spc="-1" dirty="0">
                <a:solidFill>
                  <a:schemeClr val="bg1"/>
                </a:solidFill>
                <a:latin typeface="Calibri"/>
              </a:rPr>
              <a:t> </a:t>
            </a:r>
            <a:r>
              <a:rPr lang="en-US" sz="3200" b="0" i="0" spc="-1" dirty="0" err="1">
                <a:solidFill>
                  <a:schemeClr val="bg1"/>
                </a:solidFill>
                <a:latin typeface="Calibri"/>
              </a:rPr>
              <a:t>liệu</a:t>
            </a:r>
            <a:r>
              <a:rPr lang="en-US" sz="3200" spc="-1" dirty="0">
                <a:solidFill>
                  <a:schemeClr val="bg1"/>
                </a:solidFill>
                <a:latin typeface="Calibri"/>
              </a:rPr>
              <a:t> </a:t>
            </a:r>
            <a:r>
              <a:rPr lang="en-US" sz="3200" b="0" i="0" spc="-1" dirty="0" err="1">
                <a:solidFill>
                  <a:schemeClr val="bg1"/>
                </a:solidFill>
                <a:latin typeface="Calibri"/>
              </a:rPr>
              <a:t>thu</a:t>
            </a:r>
            <a:r>
              <a:rPr lang="en-US" sz="3200" b="0" i="0" spc="-1" dirty="0">
                <a:solidFill>
                  <a:schemeClr val="bg1"/>
                </a:solidFill>
                <a:latin typeface="Calibri"/>
              </a:rPr>
              <a:t> </a:t>
            </a:r>
            <a:r>
              <a:rPr lang="en-US" sz="3200" b="0" i="0" spc="-1" dirty="0" err="1">
                <a:solidFill>
                  <a:schemeClr val="bg1"/>
                </a:solidFill>
                <a:latin typeface="Calibri"/>
              </a:rPr>
              <a:t>thập</a:t>
            </a:r>
            <a:r>
              <a:rPr lang="en-US" sz="3200" b="0" i="0" spc="-1" dirty="0">
                <a:solidFill>
                  <a:schemeClr val="bg1"/>
                </a:solidFill>
                <a:latin typeface="Calibri"/>
              </a:rPr>
              <a:t>: 11 repo Java </a:t>
            </a:r>
            <a:r>
              <a:rPr lang="en-US" sz="3200" b="0" i="0" spc="-1" dirty="0" err="1">
                <a:solidFill>
                  <a:schemeClr val="bg1"/>
                </a:solidFill>
                <a:latin typeface="Calibri"/>
              </a:rPr>
              <a:t>của</a:t>
            </a:r>
            <a:r>
              <a:rPr lang="en-US" sz="3200" b="0" i="0" spc="-1" dirty="0">
                <a:solidFill>
                  <a:schemeClr val="bg1"/>
                </a:solidFill>
                <a:latin typeface="Calibri"/>
              </a:rPr>
              <a:t> Apache</a:t>
            </a:r>
            <a:endParaRPr lang="en-US" sz="3200" spc="-1" dirty="0">
              <a:solidFill>
                <a:schemeClr val="bg1"/>
              </a:solidFill>
              <a:latin typeface="Calibri"/>
            </a:endParaRPr>
          </a:p>
        </p:txBody>
      </p:sp>
      <p:graphicFrame>
        <p:nvGraphicFramePr>
          <p:cNvPr id="950" name="GHARuns Repo Table"/>
          <p:cNvGraphicFramePr>
            <a:graphicFrameLocks noGrp="1"/>
          </p:cNvGraphicFramePr>
          <p:nvPr>
            <p:extLst>
              <p:ext uri="{D42A27DB-BD31-4B8C-83A1-F6EECF244321}">
                <p14:modId xmlns:p14="http://schemas.microsoft.com/office/powerpoint/2010/main" val="3945229883"/>
              </p:ext>
            </p:extLst>
          </p:nvPr>
        </p:nvGraphicFramePr>
        <p:xfrm>
          <a:off x="575400" y="1150000"/>
          <a:ext cx="6604000" cy="371475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tblGrid>
              <a:tr h="285750">
                <a:tc>
                  <a:txBody>
                    <a:bodyPr/>
                    <a:lstStyle/>
                    <a:p>
                      <a:pPr algn="ctr"/>
                      <a:r>
                        <a:rPr lang="vi-VN" sz="1150" b="1" i="0" dirty="0">
                          <a:solidFill>
                            <a:srgbClr val="FFFFFF"/>
                          </a:solidFill>
                          <a:latin typeface="Calibri"/>
                        </a:rPr>
                        <a:t>Repo</a:t>
                      </a:r>
                      <a:endParaRPr lang="vi-VN" sz="1150"/>
                    </a:p>
                  </a:txBody>
                  <a:tcPr marL="45720" marR="45720" marT="22860" marB="22860" anchor="ctr"/>
                </a:tc>
                <a:tc>
                  <a:txBody>
                    <a:bodyPr/>
                    <a:lstStyle/>
                    <a:p>
                      <a:pPr algn="ctr"/>
                      <a:r>
                        <a:rPr lang="vi-VN" sz="1150" b="1" i="0" dirty="0">
                          <a:solidFill>
                            <a:srgbClr val="FFFFFF"/>
                          </a:solidFill>
                          <a:latin typeface="Calibri"/>
                        </a:rPr>
                        <a:t>Commit</a:t>
                      </a:r>
                      <a:endParaRPr lang="vi-VN" sz="1150"/>
                    </a:p>
                  </a:txBody>
                  <a:tcPr marL="45720" marR="45720" marT="22860" marB="22860" anchor="ctr"/>
                </a:tc>
                <a:tc>
                  <a:txBody>
                    <a:bodyPr/>
                    <a:lstStyle/>
                    <a:p>
                      <a:pPr algn="ctr"/>
                      <a:r>
                        <a:rPr lang="vi-VN" sz="1150" b="1" i="0" dirty="0">
                          <a:solidFill>
                            <a:srgbClr val="FFFFFF"/>
                          </a:solidFill>
                          <a:latin typeface="Calibri"/>
                        </a:rPr>
                        <a:t>Commit fail</a:t>
                      </a:r>
                      <a:endParaRPr lang="vi-VN" sz="1150"/>
                    </a:p>
                  </a:txBody>
                  <a:tcPr marL="45720" marR="45720" marT="22860" marB="22860" anchor="ctr"/>
                </a:tc>
                <a:tc>
                  <a:txBody>
                    <a:bodyPr/>
                    <a:lstStyle/>
                    <a:p>
                      <a:pPr algn="ctr"/>
                      <a:r>
                        <a:rPr lang="vi-VN" sz="1150" b="1" i="0" dirty="0">
                          <a:solidFill>
                            <a:srgbClr val="FFFFFF"/>
                          </a:solidFill>
                          <a:latin typeface="Calibri"/>
                        </a:rPr>
                        <a:t>Tỉ lệ fail</a:t>
                      </a:r>
                      <a:endParaRPr lang="vi-VN" sz="1150"/>
                    </a:p>
                  </a:txBody>
                  <a:tcPr marL="45720" marR="45720" marT="22860" marB="22860" anchor="ctr"/>
                </a:tc>
                <a:tc>
                  <a:txBody>
                    <a:bodyPr/>
                    <a:lstStyle/>
                    <a:p>
                      <a:pPr algn="ctr"/>
                      <a:r>
                        <a:rPr lang="vi-VN" sz="1150" b="1" i="0" dirty="0">
                          <a:solidFill>
                            <a:srgbClr val="FFFFFF"/>
                          </a:solidFill>
                          <a:latin typeface="Calibri"/>
                        </a:rPr>
                        <a:t>Lần fail đầu</a:t>
                      </a:r>
                      <a:endParaRPr lang="vi-VN" sz="1150"/>
                    </a:p>
                  </a:txBody>
                  <a:tcPr marL="45720" marR="45720" marT="22860" marB="22860" anchor="ctr"/>
                </a:tc>
                <a:extLst>
                  <a:ext uri="{0D108BD9-81ED-4DB2-BD59-A6C34878D82A}">
                    <a16:rowId xmlns:a16="http://schemas.microsoft.com/office/drawing/2014/main" val="10000"/>
                  </a:ext>
                </a:extLst>
              </a:tr>
              <a:tr h="285750">
                <a:tc>
                  <a:txBody>
                    <a:bodyPr/>
                    <a:lstStyle/>
                    <a:p>
                      <a:pPr algn="l"/>
                      <a:r>
                        <a:rPr lang="vi-VN" sz="1150" b="0" i="0" dirty="0">
                          <a:solidFill>
                            <a:srgbClr val="333333"/>
                          </a:solidFill>
                          <a:latin typeface="Calibri"/>
                        </a:rPr>
                        <a:t>apache/paimon</a:t>
                      </a:r>
                      <a:endParaRPr lang="vi-VN" sz="1150"/>
                    </a:p>
                  </a:txBody>
                  <a:tcPr marL="45720" marR="45720" marT="22860" marB="22860" anchor="ctr"/>
                </a:tc>
                <a:tc>
                  <a:txBody>
                    <a:bodyPr/>
                    <a:lstStyle/>
                    <a:p>
                      <a:pPr algn="ctr"/>
                      <a:r>
                        <a:rPr lang="vi-VN" sz="1150" b="0" i="0" dirty="0">
                          <a:solidFill>
                            <a:srgbClr val="333333"/>
                          </a:solidFill>
                          <a:latin typeface="Calibri"/>
                        </a:rPr>
                        <a:t>5.457</a:t>
                      </a:r>
                      <a:endParaRPr lang="vi-VN" sz="1150"/>
                    </a:p>
                  </a:txBody>
                  <a:tcPr marL="45720" marR="45720" marT="22860" marB="22860" anchor="ctr"/>
                </a:tc>
                <a:tc>
                  <a:txBody>
                    <a:bodyPr/>
                    <a:lstStyle/>
                    <a:p>
                      <a:pPr algn="ctr"/>
                      <a:r>
                        <a:rPr lang="vi-VN" sz="1150" b="0" i="0" dirty="0">
                          <a:solidFill>
                            <a:srgbClr val="333333"/>
                          </a:solidFill>
                          <a:latin typeface="Calibri"/>
                        </a:rPr>
                        <a:t>1.539</a:t>
                      </a:r>
                      <a:endParaRPr lang="vi-VN" sz="1150"/>
                    </a:p>
                  </a:txBody>
                  <a:tcPr marL="45720" marR="45720" marT="22860" marB="22860" anchor="ctr"/>
                </a:tc>
                <a:tc>
                  <a:txBody>
                    <a:bodyPr/>
                    <a:lstStyle/>
                    <a:p>
                      <a:pPr algn="ctr"/>
                      <a:r>
                        <a:rPr lang="vi-VN" sz="1150" b="0" i="0" dirty="0">
                          <a:solidFill>
                            <a:srgbClr val="333333"/>
                          </a:solidFill>
                          <a:latin typeface="Calibri"/>
                        </a:rPr>
                        <a:t>28,2%</a:t>
                      </a:r>
                      <a:endParaRPr lang="vi-VN" sz="1150"/>
                    </a:p>
                  </a:txBody>
                  <a:tcPr marL="45720" marR="45720" marT="22860" marB="22860" anchor="ctr"/>
                </a:tc>
                <a:tc>
                  <a:txBody>
                    <a:bodyPr/>
                    <a:lstStyle/>
                    <a:p>
                      <a:pPr algn="ctr"/>
                      <a:r>
                        <a:rPr lang="vi-VN" sz="1150" b="1" i="0" dirty="0">
                          <a:solidFill>
                            <a:srgbClr val="333333"/>
                          </a:solidFill>
                          <a:latin typeface="Calibri"/>
                        </a:rPr>
                        <a:t>1.023</a:t>
                      </a:r>
                      <a:endParaRPr lang="vi-VN" sz="1150"/>
                    </a:p>
                  </a:txBody>
                  <a:tcPr marL="45720" marR="45720" marT="22860" marB="22860" anchor="ctr"/>
                </a:tc>
                <a:extLst>
                  <a:ext uri="{0D108BD9-81ED-4DB2-BD59-A6C34878D82A}">
                    <a16:rowId xmlns:a16="http://schemas.microsoft.com/office/drawing/2014/main" val="10001"/>
                  </a:ext>
                </a:extLst>
              </a:tr>
              <a:tr h="285750">
                <a:tc>
                  <a:txBody>
                    <a:bodyPr/>
                    <a:lstStyle/>
                    <a:p>
                      <a:pPr algn="l"/>
                      <a:r>
                        <a:rPr lang="vi-VN" sz="1150" b="0" i="0" dirty="0">
                          <a:solidFill>
                            <a:srgbClr val="333333"/>
                          </a:solidFill>
                          <a:latin typeface="Calibri"/>
                        </a:rPr>
                        <a:t>apache/pinot</a:t>
                      </a:r>
                      <a:endParaRPr lang="vi-VN" sz="1150"/>
                    </a:p>
                  </a:txBody>
                  <a:tcPr marL="45720" marR="45720" marT="22860" marB="22860" anchor="ctr"/>
                </a:tc>
                <a:tc>
                  <a:txBody>
                    <a:bodyPr/>
                    <a:lstStyle/>
                    <a:p>
                      <a:pPr algn="ctr"/>
                      <a:r>
                        <a:rPr lang="vi-VN" sz="1150" b="0" i="0" dirty="0">
                          <a:solidFill>
                            <a:srgbClr val="333333"/>
                          </a:solidFill>
                          <a:latin typeface="Calibri"/>
                        </a:rPr>
                        <a:t>3.835</a:t>
                      </a:r>
                      <a:endParaRPr lang="vi-VN" sz="1150"/>
                    </a:p>
                  </a:txBody>
                  <a:tcPr marL="45720" marR="45720" marT="22860" marB="22860" anchor="ctr"/>
                </a:tc>
                <a:tc>
                  <a:txBody>
                    <a:bodyPr/>
                    <a:lstStyle/>
                    <a:p>
                      <a:pPr algn="ctr"/>
                      <a:r>
                        <a:rPr lang="vi-VN" sz="1150" b="0" i="0" dirty="0">
                          <a:solidFill>
                            <a:srgbClr val="333333"/>
                          </a:solidFill>
                          <a:latin typeface="Calibri"/>
                        </a:rPr>
                        <a:t>903</a:t>
                      </a:r>
                      <a:endParaRPr lang="vi-VN" sz="1150"/>
                    </a:p>
                  </a:txBody>
                  <a:tcPr marL="45720" marR="45720" marT="22860" marB="22860" anchor="ctr"/>
                </a:tc>
                <a:tc>
                  <a:txBody>
                    <a:bodyPr/>
                    <a:lstStyle/>
                    <a:p>
                      <a:pPr algn="ctr"/>
                      <a:r>
                        <a:rPr lang="vi-VN" sz="1150" b="0" i="0" dirty="0">
                          <a:solidFill>
                            <a:srgbClr val="333333"/>
                          </a:solidFill>
                          <a:latin typeface="Calibri"/>
                        </a:rPr>
                        <a:t>23,5%</a:t>
                      </a:r>
                      <a:endParaRPr lang="vi-VN" sz="1150"/>
                    </a:p>
                  </a:txBody>
                  <a:tcPr marL="45720" marR="45720" marT="22860" marB="22860" anchor="ctr"/>
                </a:tc>
                <a:tc>
                  <a:txBody>
                    <a:bodyPr/>
                    <a:lstStyle/>
                    <a:p>
                      <a:pPr algn="ctr"/>
                      <a:r>
                        <a:rPr lang="vi-VN" sz="1150" b="1" i="0" dirty="0">
                          <a:solidFill>
                            <a:srgbClr val="333333"/>
                          </a:solidFill>
                          <a:latin typeface="Calibri"/>
                        </a:rPr>
                        <a:t>507</a:t>
                      </a:r>
                      <a:endParaRPr lang="vi-VN" sz="1150"/>
                    </a:p>
                  </a:txBody>
                  <a:tcPr marL="45720" marR="45720" marT="22860" marB="22860" anchor="ctr"/>
                </a:tc>
                <a:extLst>
                  <a:ext uri="{0D108BD9-81ED-4DB2-BD59-A6C34878D82A}">
                    <a16:rowId xmlns:a16="http://schemas.microsoft.com/office/drawing/2014/main" val="10002"/>
                  </a:ext>
                </a:extLst>
              </a:tr>
              <a:tr h="285750">
                <a:tc>
                  <a:txBody>
                    <a:bodyPr/>
                    <a:lstStyle/>
                    <a:p>
                      <a:pPr algn="l"/>
                      <a:r>
                        <a:rPr lang="vi-VN" sz="1150" b="0" i="0" dirty="0">
                          <a:solidFill>
                            <a:srgbClr val="333333"/>
                          </a:solidFill>
                          <a:latin typeface="Calibri"/>
                        </a:rPr>
                        <a:t>apache/gravitino</a:t>
                      </a:r>
                      <a:endParaRPr lang="vi-VN" sz="1150"/>
                    </a:p>
                  </a:txBody>
                  <a:tcPr marL="45720" marR="45720" marT="22860" marB="22860" anchor="ctr"/>
                </a:tc>
                <a:tc>
                  <a:txBody>
                    <a:bodyPr/>
                    <a:lstStyle/>
                    <a:p>
                      <a:pPr algn="ctr"/>
                      <a:r>
                        <a:rPr lang="vi-VN" sz="1150" b="0" i="0" dirty="0">
                          <a:solidFill>
                            <a:srgbClr val="333333"/>
                          </a:solidFill>
                          <a:latin typeface="Calibri"/>
                        </a:rPr>
                        <a:t>3.788</a:t>
                      </a:r>
                      <a:endParaRPr lang="vi-VN" sz="1150"/>
                    </a:p>
                  </a:txBody>
                  <a:tcPr marL="45720" marR="45720" marT="22860" marB="22860" anchor="ctr"/>
                </a:tc>
                <a:tc>
                  <a:txBody>
                    <a:bodyPr/>
                    <a:lstStyle/>
                    <a:p>
                      <a:pPr algn="ctr"/>
                      <a:r>
                        <a:rPr lang="vi-VN" sz="1150" b="0" i="0" dirty="0">
                          <a:solidFill>
                            <a:srgbClr val="333333"/>
                          </a:solidFill>
                          <a:latin typeface="Calibri"/>
                        </a:rPr>
                        <a:t>791</a:t>
                      </a:r>
                      <a:endParaRPr lang="vi-VN" sz="1150"/>
                    </a:p>
                  </a:txBody>
                  <a:tcPr marL="45720" marR="45720" marT="22860" marB="22860" anchor="ctr"/>
                </a:tc>
                <a:tc>
                  <a:txBody>
                    <a:bodyPr/>
                    <a:lstStyle/>
                    <a:p>
                      <a:pPr algn="ctr"/>
                      <a:r>
                        <a:rPr lang="vi-VN" sz="1150" b="0" i="0" dirty="0">
                          <a:solidFill>
                            <a:srgbClr val="333333"/>
                          </a:solidFill>
                          <a:latin typeface="Calibri"/>
                        </a:rPr>
                        <a:t>20,9%</a:t>
                      </a:r>
                      <a:endParaRPr lang="vi-VN" sz="1150"/>
                    </a:p>
                  </a:txBody>
                  <a:tcPr marL="45720" marR="45720" marT="22860" marB="22860" anchor="ctr"/>
                </a:tc>
                <a:tc>
                  <a:txBody>
                    <a:bodyPr/>
                    <a:lstStyle/>
                    <a:p>
                      <a:pPr algn="ctr"/>
                      <a:r>
                        <a:rPr lang="vi-VN" sz="1150" b="1" i="0" dirty="0">
                          <a:solidFill>
                            <a:srgbClr val="333333"/>
                          </a:solidFill>
                          <a:latin typeface="Calibri"/>
                        </a:rPr>
                        <a:t>557</a:t>
                      </a:r>
                      <a:endParaRPr lang="vi-VN" sz="1150"/>
                    </a:p>
                  </a:txBody>
                  <a:tcPr marL="45720" marR="45720" marT="22860" marB="22860" anchor="ctr"/>
                </a:tc>
                <a:extLst>
                  <a:ext uri="{0D108BD9-81ED-4DB2-BD59-A6C34878D82A}">
                    <a16:rowId xmlns:a16="http://schemas.microsoft.com/office/drawing/2014/main" val="10003"/>
                  </a:ext>
                </a:extLst>
              </a:tr>
              <a:tr h="285750">
                <a:tc>
                  <a:txBody>
                    <a:bodyPr/>
                    <a:lstStyle/>
                    <a:p>
                      <a:pPr algn="l"/>
                      <a:r>
                        <a:rPr lang="vi-VN" sz="1150" b="0" i="0" dirty="0">
                          <a:solidFill>
                            <a:srgbClr val="333333"/>
                          </a:solidFill>
                          <a:latin typeface="Calibri"/>
                        </a:rPr>
                        <a:t>apache/ozone</a:t>
                      </a:r>
                      <a:endParaRPr lang="vi-VN" sz="1150"/>
                    </a:p>
                  </a:txBody>
                  <a:tcPr marL="45720" marR="45720" marT="22860" marB="22860" anchor="ctr"/>
                </a:tc>
                <a:tc>
                  <a:txBody>
                    <a:bodyPr/>
                    <a:lstStyle/>
                    <a:p>
                      <a:pPr algn="ctr"/>
                      <a:r>
                        <a:rPr lang="vi-VN" sz="1150" b="0" i="0" dirty="0">
                          <a:solidFill>
                            <a:srgbClr val="333333"/>
                          </a:solidFill>
                          <a:latin typeface="Calibri"/>
                        </a:rPr>
                        <a:t>2.824</a:t>
                      </a:r>
                      <a:endParaRPr lang="vi-VN" sz="1150"/>
                    </a:p>
                  </a:txBody>
                  <a:tcPr marL="45720" marR="45720" marT="22860" marB="22860" anchor="ctr"/>
                </a:tc>
                <a:tc>
                  <a:txBody>
                    <a:bodyPr/>
                    <a:lstStyle/>
                    <a:p>
                      <a:pPr algn="ctr"/>
                      <a:r>
                        <a:rPr lang="vi-VN" sz="1150" b="0" i="0" dirty="0">
                          <a:solidFill>
                            <a:srgbClr val="333333"/>
                          </a:solidFill>
                          <a:latin typeface="Calibri"/>
                        </a:rPr>
                        <a:t>1.098</a:t>
                      </a:r>
                      <a:endParaRPr lang="vi-VN" sz="1150"/>
                    </a:p>
                  </a:txBody>
                  <a:tcPr marL="45720" marR="45720" marT="22860" marB="22860" anchor="ctr"/>
                </a:tc>
                <a:tc>
                  <a:txBody>
                    <a:bodyPr/>
                    <a:lstStyle/>
                    <a:p>
                      <a:pPr algn="ctr"/>
                      <a:r>
                        <a:rPr lang="vi-VN" sz="1150" b="0" i="0" dirty="0">
                          <a:solidFill>
                            <a:srgbClr val="333333"/>
                          </a:solidFill>
                          <a:latin typeface="Calibri"/>
                        </a:rPr>
                        <a:t>38,9%</a:t>
                      </a:r>
                      <a:endParaRPr lang="vi-VN" sz="1150"/>
                    </a:p>
                  </a:txBody>
                  <a:tcPr marL="45720" marR="45720" marT="22860" marB="22860" anchor="ctr"/>
                </a:tc>
                <a:tc>
                  <a:txBody>
                    <a:bodyPr/>
                    <a:lstStyle/>
                    <a:p>
                      <a:pPr algn="ctr"/>
                      <a:r>
                        <a:rPr lang="vi-VN" sz="1150" b="1" i="0" dirty="0">
                          <a:solidFill>
                            <a:srgbClr val="333333"/>
                          </a:solidFill>
                          <a:latin typeface="Calibri"/>
                        </a:rPr>
                        <a:t>611</a:t>
                      </a:r>
                      <a:endParaRPr lang="vi-VN" sz="1150"/>
                    </a:p>
                  </a:txBody>
                  <a:tcPr marL="45720" marR="45720" marT="22860" marB="22860" anchor="ctr"/>
                </a:tc>
                <a:extLst>
                  <a:ext uri="{0D108BD9-81ED-4DB2-BD59-A6C34878D82A}">
                    <a16:rowId xmlns:a16="http://schemas.microsoft.com/office/drawing/2014/main" val="10004"/>
                  </a:ext>
                </a:extLst>
              </a:tr>
              <a:tr h="285750">
                <a:tc>
                  <a:txBody>
                    <a:bodyPr/>
                    <a:lstStyle/>
                    <a:p>
                      <a:pPr algn="l"/>
                      <a:r>
                        <a:rPr lang="vi-VN" sz="1150" b="0" i="0" dirty="0">
                          <a:solidFill>
                            <a:srgbClr val="333333"/>
                          </a:solidFill>
                          <a:latin typeface="Calibri"/>
                        </a:rPr>
                        <a:t>apache/druid</a:t>
                      </a:r>
                      <a:endParaRPr lang="vi-VN" sz="1150"/>
                    </a:p>
                  </a:txBody>
                  <a:tcPr marL="45720" marR="45720" marT="22860" marB="22860" anchor="ctr"/>
                </a:tc>
                <a:tc>
                  <a:txBody>
                    <a:bodyPr/>
                    <a:lstStyle/>
                    <a:p>
                      <a:pPr algn="ctr"/>
                      <a:r>
                        <a:rPr lang="vi-VN" sz="1150" b="0" i="0" dirty="0">
                          <a:solidFill>
                            <a:srgbClr val="333333"/>
                          </a:solidFill>
                          <a:latin typeface="Calibri"/>
                        </a:rPr>
                        <a:t>2.814</a:t>
                      </a:r>
                      <a:endParaRPr lang="vi-VN" sz="1150"/>
                    </a:p>
                  </a:txBody>
                  <a:tcPr marL="45720" marR="45720" marT="22860" marB="22860" anchor="ctr"/>
                </a:tc>
                <a:tc>
                  <a:txBody>
                    <a:bodyPr/>
                    <a:lstStyle/>
                    <a:p>
                      <a:pPr algn="ctr"/>
                      <a:r>
                        <a:rPr lang="vi-VN" sz="1150" b="0" i="0" dirty="0">
                          <a:solidFill>
                            <a:srgbClr val="333333"/>
                          </a:solidFill>
                          <a:latin typeface="Calibri"/>
                        </a:rPr>
                        <a:t>946</a:t>
                      </a:r>
                      <a:endParaRPr lang="vi-VN" sz="1150"/>
                    </a:p>
                  </a:txBody>
                  <a:tcPr marL="45720" marR="45720" marT="22860" marB="22860" anchor="ctr"/>
                </a:tc>
                <a:tc>
                  <a:txBody>
                    <a:bodyPr/>
                    <a:lstStyle/>
                    <a:p>
                      <a:pPr algn="ctr"/>
                      <a:r>
                        <a:rPr lang="vi-VN" sz="1150" b="0" i="0" dirty="0">
                          <a:solidFill>
                            <a:srgbClr val="333333"/>
                          </a:solidFill>
                          <a:latin typeface="Calibri"/>
                        </a:rPr>
                        <a:t>33,6%</a:t>
                      </a:r>
                      <a:endParaRPr lang="vi-VN" sz="1150"/>
                    </a:p>
                  </a:txBody>
                  <a:tcPr marL="45720" marR="45720" marT="22860" marB="22860" anchor="ctr"/>
                </a:tc>
                <a:tc>
                  <a:txBody>
                    <a:bodyPr/>
                    <a:lstStyle/>
                    <a:p>
                      <a:pPr algn="ctr"/>
                      <a:r>
                        <a:rPr lang="vi-VN" sz="1150" b="1" i="0" dirty="0">
                          <a:solidFill>
                            <a:srgbClr val="333333"/>
                          </a:solidFill>
                          <a:latin typeface="Calibri"/>
                        </a:rPr>
                        <a:t>627</a:t>
                      </a:r>
                      <a:endParaRPr lang="vi-VN" sz="1150"/>
                    </a:p>
                  </a:txBody>
                  <a:tcPr marL="45720" marR="45720" marT="22860" marB="22860" anchor="ctr"/>
                </a:tc>
                <a:extLst>
                  <a:ext uri="{0D108BD9-81ED-4DB2-BD59-A6C34878D82A}">
                    <a16:rowId xmlns:a16="http://schemas.microsoft.com/office/drawing/2014/main" val="10005"/>
                  </a:ext>
                </a:extLst>
              </a:tr>
              <a:tr h="285750">
                <a:tc>
                  <a:txBody>
                    <a:bodyPr/>
                    <a:lstStyle/>
                    <a:p>
                      <a:pPr algn="l"/>
                      <a:r>
                        <a:rPr lang="vi-VN" sz="1150" b="0" i="0" dirty="0">
                          <a:solidFill>
                            <a:srgbClr val="333333"/>
                          </a:solidFill>
                          <a:latin typeface="Calibri"/>
                        </a:rPr>
                        <a:t>apache/polaris</a:t>
                      </a:r>
                      <a:endParaRPr lang="vi-VN" sz="1150"/>
                    </a:p>
                  </a:txBody>
                  <a:tcPr marL="45720" marR="45720" marT="22860" marB="22860" anchor="ctr"/>
                </a:tc>
                <a:tc>
                  <a:txBody>
                    <a:bodyPr/>
                    <a:lstStyle/>
                    <a:p>
                      <a:pPr algn="ctr"/>
                      <a:r>
                        <a:rPr lang="vi-VN" sz="1150" b="0" i="0" dirty="0">
                          <a:solidFill>
                            <a:srgbClr val="333333"/>
                          </a:solidFill>
                          <a:latin typeface="Calibri"/>
                        </a:rPr>
                        <a:t>2.280</a:t>
                      </a:r>
                      <a:endParaRPr lang="vi-VN" sz="1150"/>
                    </a:p>
                  </a:txBody>
                  <a:tcPr marL="45720" marR="45720" marT="22860" marB="22860" anchor="ctr"/>
                </a:tc>
                <a:tc>
                  <a:txBody>
                    <a:bodyPr/>
                    <a:lstStyle/>
                    <a:p>
                      <a:pPr algn="ctr"/>
                      <a:r>
                        <a:rPr lang="vi-VN" sz="1150" b="0" i="0" dirty="0">
                          <a:solidFill>
                            <a:srgbClr val="333333"/>
                          </a:solidFill>
                          <a:latin typeface="Calibri"/>
                        </a:rPr>
                        <a:t>417</a:t>
                      </a:r>
                      <a:endParaRPr lang="vi-VN" sz="1150"/>
                    </a:p>
                  </a:txBody>
                  <a:tcPr marL="45720" marR="45720" marT="22860" marB="22860" anchor="ctr"/>
                </a:tc>
                <a:tc>
                  <a:txBody>
                    <a:bodyPr/>
                    <a:lstStyle/>
                    <a:p>
                      <a:pPr algn="ctr"/>
                      <a:r>
                        <a:rPr lang="vi-VN" sz="1150" b="0" i="0" dirty="0">
                          <a:solidFill>
                            <a:srgbClr val="333333"/>
                          </a:solidFill>
                          <a:latin typeface="Calibri"/>
                        </a:rPr>
                        <a:t>18,3%</a:t>
                      </a:r>
                      <a:endParaRPr lang="vi-VN" sz="1150"/>
                    </a:p>
                  </a:txBody>
                  <a:tcPr marL="45720" marR="45720" marT="22860" marB="22860" anchor="ctr"/>
                </a:tc>
                <a:tc>
                  <a:txBody>
                    <a:bodyPr/>
                    <a:lstStyle/>
                    <a:p>
                      <a:pPr algn="ctr"/>
                      <a:r>
                        <a:rPr lang="vi-VN" sz="1150" b="1" i="0" dirty="0">
                          <a:solidFill>
                            <a:srgbClr val="333333"/>
                          </a:solidFill>
                          <a:latin typeface="Calibri"/>
                        </a:rPr>
                        <a:t>225</a:t>
                      </a:r>
                      <a:endParaRPr lang="vi-VN" sz="1150"/>
                    </a:p>
                  </a:txBody>
                  <a:tcPr marL="45720" marR="45720" marT="22860" marB="22860" anchor="ctr"/>
                </a:tc>
                <a:extLst>
                  <a:ext uri="{0D108BD9-81ED-4DB2-BD59-A6C34878D82A}">
                    <a16:rowId xmlns:a16="http://schemas.microsoft.com/office/drawing/2014/main" val="10006"/>
                  </a:ext>
                </a:extLst>
              </a:tr>
              <a:tr h="285750">
                <a:tc>
                  <a:txBody>
                    <a:bodyPr/>
                    <a:lstStyle/>
                    <a:p>
                      <a:pPr algn="l"/>
                      <a:r>
                        <a:rPr lang="vi-VN" sz="1150" b="0" i="0" dirty="0">
                          <a:solidFill>
                            <a:srgbClr val="333333"/>
                          </a:solidFill>
                          <a:latin typeface="Calibri"/>
                        </a:rPr>
                        <a:t>apache/fluss</a:t>
                      </a:r>
                      <a:endParaRPr lang="vi-VN" sz="1150"/>
                    </a:p>
                  </a:txBody>
                  <a:tcPr marL="45720" marR="45720" marT="22860" marB="22860" anchor="ctr"/>
                </a:tc>
                <a:tc>
                  <a:txBody>
                    <a:bodyPr/>
                    <a:lstStyle/>
                    <a:p>
                      <a:pPr algn="ctr"/>
                      <a:r>
                        <a:rPr lang="vi-VN" sz="1150" b="0" i="0" dirty="0">
                          <a:solidFill>
                            <a:srgbClr val="333333"/>
                          </a:solidFill>
                          <a:latin typeface="Calibri"/>
                        </a:rPr>
                        <a:t>1.881</a:t>
                      </a:r>
                      <a:endParaRPr lang="vi-VN" sz="1150"/>
                    </a:p>
                  </a:txBody>
                  <a:tcPr marL="45720" marR="45720" marT="22860" marB="22860" anchor="ctr"/>
                </a:tc>
                <a:tc>
                  <a:txBody>
                    <a:bodyPr/>
                    <a:lstStyle/>
                    <a:p>
                      <a:pPr algn="ctr"/>
                      <a:r>
                        <a:rPr lang="vi-VN" sz="1150" b="0" i="0" dirty="0">
                          <a:solidFill>
                            <a:srgbClr val="333333"/>
                          </a:solidFill>
                          <a:latin typeface="Calibri"/>
                        </a:rPr>
                        <a:t>498</a:t>
                      </a:r>
                      <a:endParaRPr lang="vi-VN" sz="1150"/>
                    </a:p>
                  </a:txBody>
                  <a:tcPr marL="45720" marR="45720" marT="22860" marB="22860" anchor="ctr"/>
                </a:tc>
                <a:tc>
                  <a:txBody>
                    <a:bodyPr/>
                    <a:lstStyle/>
                    <a:p>
                      <a:pPr algn="ctr"/>
                      <a:r>
                        <a:rPr lang="vi-VN" sz="1150" b="0" i="0" dirty="0">
                          <a:solidFill>
                            <a:srgbClr val="333333"/>
                          </a:solidFill>
                          <a:latin typeface="Calibri"/>
                        </a:rPr>
                        <a:t>26,5%</a:t>
                      </a:r>
                      <a:endParaRPr lang="vi-VN" sz="1150"/>
                    </a:p>
                  </a:txBody>
                  <a:tcPr marL="45720" marR="45720" marT="22860" marB="22860" anchor="ctr"/>
                </a:tc>
                <a:tc>
                  <a:txBody>
                    <a:bodyPr/>
                    <a:lstStyle/>
                    <a:p>
                      <a:pPr algn="ctr"/>
                      <a:r>
                        <a:rPr lang="vi-VN" sz="1150" b="1" i="0" dirty="0">
                          <a:solidFill>
                            <a:srgbClr val="333333"/>
                          </a:solidFill>
                          <a:latin typeface="Calibri"/>
                        </a:rPr>
                        <a:t>335</a:t>
                      </a:r>
                      <a:endParaRPr lang="vi-VN" sz="1150"/>
                    </a:p>
                  </a:txBody>
                  <a:tcPr marL="45720" marR="45720" marT="22860" marB="22860" anchor="ctr"/>
                </a:tc>
                <a:extLst>
                  <a:ext uri="{0D108BD9-81ED-4DB2-BD59-A6C34878D82A}">
                    <a16:rowId xmlns:a16="http://schemas.microsoft.com/office/drawing/2014/main" val="10007"/>
                  </a:ext>
                </a:extLst>
              </a:tr>
              <a:tr h="285750">
                <a:tc>
                  <a:txBody>
                    <a:bodyPr/>
                    <a:lstStyle/>
                    <a:p>
                      <a:pPr algn="l"/>
                      <a:r>
                        <a:rPr lang="vi-VN" sz="1150" b="0" i="0" dirty="0">
                          <a:solidFill>
                            <a:srgbClr val="333333"/>
                          </a:solidFill>
                          <a:latin typeface="Calibri"/>
                        </a:rPr>
                        <a:t>apache/iotdb</a:t>
                      </a:r>
                      <a:endParaRPr lang="vi-VN" sz="1150"/>
                    </a:p>
                  </a:txBody>
                  <a:tcPr marL="45720" marR="45720" marT="22860" marB="22860" anchor="ctr"/>
                </a:tc>
                <a:tc>
                  <a:txBody>
                    <a:bodyPr/>
                    <a:lstStyle/>
                    <a:p>
                      <a:pPr algn="ctr"/>
                      <a:r>
                        <a:rPr lang="vi-VN" sz="1150" b="0" i="0" dirty="0">
                          <a:solidFill>
                            <a:srgbClr val="333333"/>
                          </a:solidFill>
                          <a:latin typeface="Calibri"/>
                        </a:rPr>
                        <a:t>1.622</a:t>
                      </a:r>
                      <a:endParaRPr lang="vi-VN" sz="1150"/>
                    </a:p>
                  </a:txBody>
                  <a:tcPr marL="45720" marR="45720" marT="22860" marB="22860" anchor="ctr"/>
                </a:tc>
                <a:tc>
                  <a:txBody>
                    <a:bodyPr/>
                    <a:lstStyle/>
                    <a:p>
                      <a:pPr algn="ctr"/>
                      <a:r>
                        <a:rPr lang="vi-VN" sz="1150" b="0" i="0" dirty="0">
                          <a:solidFill>
                            <a:srgbClr val="333333"/>
                          </a:solidFill>
                          <a:latin typeface="Calibri"/>
                        </a:rPr>
                        <a:t>875</a:t>
                      </a:r>
                      <a:endParaRPr lang="vi-VN" sz="1150"/>
                    </a:p>
                  </a:txBody>
                  <a:tcPr marL="45720" marR="45720" marT="22860" marB="22860" anchor="ctr"/>
                </a:tc>
                <a:tc>
                  <a:txBody>
                    <a:bodyPr/>
                    <a:lstStyle/>
                    <a:p>
                      <a:pPr algn="ctr"/>
                      <a:r>
                        <a:rPr lang="vi-VN" sz="1150" b="0" i="0" dirty="0">
                          <a:solidFill>
                            <a:srgbClr val="333333"/>
                          </a:solidFill>
                          <a:latin typeface="Calibri"/>
                        </a:rPr>
                        <a:t>53,9%</a:t>
                      </a:r>
                      <a:endParaRPr lang="vi-VN" sz="1150"/>
                    </a:p>
                  </a:txBody>
                  <a:tcPr marL="45720" marR="45720" marT="22860" marB="22860" anchor="ctr"/>
                </a:tc>
                <a:tc>
                  <a:txBody>
                    <a:bodyPr/>
                    <a:lstStyle/>
                    <a:p>
                      <a:pPr algn="ctr"/>
                      <a:r>
                        <a:rPr lang="vi-VN" sz="1150" b="1" i="0" dirty="0">
                          <a:solidFill>
                            <a:srgbClr val="333333"/>
                          </a:solidFill>
                          <a:latin typeface="Calibri"/>
                        </a:rPr>
                        <a:t>459</a:t>
                      </a:r>
                      <a:endParaRPr lang="vi-VN" sz="1150"/>
                    </a:p>
                  </a:txBody>
                  <a:tcPr marL="45720" marR="45720" marT="22860" marB="22860" anchor="ctr"/>
                </a:tc>
                <a:extLst>
                  <a:ext uri="{0D108BD9-81ED-4DB2-BD59-A6C34878D82A}">
                    <a16:rowId xmlns:a16="http://schemas.microsoft.com/office/drawing/2014/main" val="10008"/>
                  </a:ext>
                </a:extLst>
              </a:tr>
              <a:tr h="285750">
                <a:tc>
                  <a:txBody>
                    <a:bodyPr/>
                    <a:lstStyle/>
                    <a:p>
                      <a:pPr algn="l"/>
                      <a:r>
                        <a:rPr lang="vi-VN" sz="1150" b="0" i="0" dirty="0">
                          <a:solidFill>
                            <a:srgbClr val="333333"/>
                          </a:solidFill>
                          <a:latin typeface="Calibri"/>
                        </a:rPr>
                        <a:t>apache/tika</a:t>
                      </a:r>
                      <a:endParaRPr lang="vi-VN" sz="1150"/>
                    </a:p>
                  </a:txBody>
                  <a:tcPr marL="45720" marR="45720" marT="22860" marB="22860" anchor="ctr"/>
                </a:tc>
                <a:tc>
                  <a:txBody>
                    <a:bodyPr/>
                    <a:lstStyle/>
                    <a:p>
                      <a:pPr algn="ctr"/>
                      <a:r>
                        <a:rPr lang="vi-VN" sz="1150" b="0" i="0" dirty="0">
                          <a:solidFill>
                            <a:srgbClr val="333333"/>
                          </a:solidFill>
                          <a:latin typeface="Calibri"/>
                        </a:rPr>
                        <a:t>1.214</a:t>
                      </a:r>
                      <a:endParaRPr lang="vi-VN" sz="1150"/>
                    </a:p>
                  </a:txBody>
                  <a:tcPr marL="45720" marR="45720" marT="22860" marB="22860" anchor="ctr"/>
                </a:tc>
                <a:tc>
                  <a:txBody>
                    <a:bodyPr/>
                    <a:lstStyle/>
                    <a:p>
                      <a:pPr algn="ctr"/>
                      <a:r>
                        <a:rPr lang="vi-VN" sz="1150" b="0" i="0" dirty="0">
                          <a:solidFill>
                            <a:srgbClr val="333333"/>
                          </a:solidFill>
                          <a:latin typeface="Calibri"/>
                        </a:rPr>
                        <a:t>205</a:t>
                      </a:r>
                      <a:endParaRPr lang="vi-VN" sz="1150"/>
                    </a:p>
                  </a:txBody>
                  <a:tcPr marL="45720" marR="45720" marT="22860" marB="22860" anchor="ctr"/>
                </a:tc>
                <a:tc>
                  <a:txBody>
                    <a:bodyPr/>
                    <a:lstStyle/>
                    <a:p>
                      <a:pPr algn="ctr"/>
                      <a:r>
                        <a:rPr lang="vi-VN" sz="1150" b="0" i="0" dirty="0">
                          <a:solidFill>
                            <a:srgbClr val="333333"/>
                          </a:solidFill>
                          <a:latin typeface="Calibri"/>
                        </a:rPr>
                        <a:t>16,9%</a:t>
                      </a:r>
                      <a:endParaRPr lang="vi-VN" sz="1150"/>
                    </a:p>
                  </a:txBody>
                  <a:tcPr marL="45720" marR="45720" marT="22860" marB="22860" anchor="ctr"/>
                </a:tc>
                <a:tc>
                  <a:txBody>
                    <a:bodyPr/>
                    <a:lstStyle/>
                    <a:p>
                      <a:pPr algn="ctr"/>
                      <a:r>
                        <a:rPr lang="vi-VN" sz="1150" b="1" i="0" dirty="0">
                          <a:solidFill>
                            <a:srgbClr val="333333"/>
                          </a:solidFill>
                          <a:latin typeface="Calibri"/>
                        </a:rPr>
                        <a:t>140</a:t>
                      </a:r>
                      <a:endParaRPr lang="vi-VN" sz="1150"/>
                    </a:p>
                  </a:txBody>
                  <a:tcPr marL="45720" marR="45720" marT="22860" marB="22860" anchor="ctr"/>
                </a:tc>
                <a:extLst>
                  <a:ext uri="{0D108BD9-81ED-4DB2-BD59-A6C34878D82A}">
                    <a16:rowId xmlns:a16="http://schemas.microsoft.com/office/drawing/2014/main" val="10009"/>
                  </a:ext>
                </a:extLst>
              </a:tr>
              <a:tr h="285750">
                <a:tc>
                  <a:txBody>
                    <a:bodyPr/>
                    <a:lstStyle/>
                    <a:p>
                      <a:pPr algn="l"/>
                      <a:r>
                        <a:rPr lang="vi-VN" sz="1150" b="0" i="0" dirty="0">
                          <a:solidFill>
                            <a:srgbClr val="333333"/>
                          </a:solidFill>
                          <a:latin typeface="Calibri"/>
                        </a:rPr>
                        <a:t>apache/pulsar</a:t>
                      </a:r>
                      <a:endParaRPr lang="vi-VN" sz="1150"/>
                    </a:p>
                  </a:txBody>
                  <a:tcPr marL="45720" marR="45720" marT="22860" marB="22860" anchor="ctr"/>
                </a:tc>
                <a:tc>
                  <a:txBody>
                    <a:bodyPr/>
                    <a:lstStyle/>
                    <a:p>
                      <a:pPr algn="ctr"/>
                      <a:r>
                        <a:rPr lang="vi-VN" sz="1150" b="0" i="0" dirty="0">
                          <a:solidFill>
                            <a:srgbClr val="333333"/>
                          </a:solidFill>
                          <a:latin typeface="Calibri"/>
                        </a:rPr>
                        <a:t>1.152</a:t>
                      </a:r>
                      <a:endParaRPr lang="vi-VN" sz="1150"/>
                    </a:p>
                  </a:txBody>
                  <a:tcPr marL="45720" marR="45720" marT="22860" marB="22860" anchor="ctr"/>
                </a:tc>
                <a:tc>
                  <a:txBody>
                    <a:bodyPr/>
                    <a:lstStyle/>
                    <a:p>
                      <a:pPr algn="ctr"/>
                      <a:r>
                        <a:rPr lang="vi-VN" sz="1150" b="0" i="0" dirty="0">
                          <a:solidFill>
                            <a:srgbClr val="333333"/>
                          </a:solidFill>
                          <a:latin typeface="Calibri"/>
                        </a:rPr>
                        <a:t>349</a:t>
                      </a:r>
                      <a:endParaRPr lang="vi-VN" sz="1150"/>
                    </a:p>
                  </a:txBody>
                  <a:tcPr marL="45720" marR="45720" marT="22860" marB="22860" anchor="ctr"/>
                </a:tc>
                <a:tc>
                  <a:txBody>
                    <a:bodyPr/>
                    <a:lstStyle/>
                    <a:p>
                      <a:pPr algn="ctr"/>
                      <a:r>
                        <a:rPr lang="vi-VN" sz="1150" b="0" i="0" dirty="0">
                          <a:solidFill>
                            <a:srgbClr val="333333"/>
                          </a:solidFill>
                          <a:latin typeface="Calibri"/>
                        </a:rPr>
                        <a:t>30,3%</a:t>
                      </a:r>
                      <a:endParaRPr lang="vi-VN" sz="1150"/>
                    </a:p>
                  </a:txBody>
                  <a:tcPr marL="45720" marR="45720" marT="22860" marB="22860" anchor="ctr"/>
                </a:tc>
                <a:tc>
                  <a:txBody>
                    <a:bodyPr/>
                    <a:lstStyle/>
                    <a:p>
                      <a:pPr algn="ctr"/>
                      <a:r>
                        <a:rPr lang="vi-VN" sz="1150" b="1" i="0" dirty="0">
                          <a:solidFill>
                            <a:srgbClr val="333333"/>
                          </a:solidFill>
                          <a:latin typeface="Calibri"/>
                        </a:rPr>
                        <a:t>180</a:t>
                      </a:r>
                      <a:endParaRPr lang="vi-VN" sz="1150"/>
                    </a:p>
                  </a:txBody>
                  <a:tcPr marL="45720" marR="45720" marT="22860" marB="22860" anchor="ctr"/>
                </a:tc>
                <a:extLst>
                  <a:ext uri="{0D108BD9-81ED-4DB2-BD59-A6C34878D82A}">
                    <a16:rowId xmlns:a16="http://schemas.microsoft.com/office/drawing/2014/main" val="10010"/>
                  </a:ext>
                </a:extLst>
              </a:tr>
              <a:tr h="285750">
                <a:tc>
                  <a:txBody>
                    <a:bodyPr/>
                    <a:lstStyle/>
                    <a:p>
                      <a:pPr algn="l"/>
                      <a:r>
                        <a:rPr lang="vi-VN" sz="1150" b="0" i="0" dirty="0">
                          <a:solidFill>
                            <a:srgbClr val="333333"/>
                          </a:solidFill>
                          <a:latin typeface="Calibri"/>
                        </a:rPr>
                        <a:t>apache/groovy</a:t>
                      </a:r>
                      <a:endParaRPr lang="vi-VN" sz="1150"/>
                    </a:p>
                  </a:txBody>
                  <a:tcPr marL="45720" marR="45720" marT="22860" marB="22860" anchor="ctr"/>
                </a:tc>
                <a:tc>
                  <a:txBody>
                    <a:bodyPr/>
                    <a:lstStyle/>
                    <a:p>
                      <a:pPr algn="ctr"/>
                      <a:r>
                        <a:rPr lang="vi-VN" sz="1150" b="0" i="0" dirty="0">
                          <a:solidFill>
                            <a:srgbClr val="333333"/>
                          </a:solidFill>
                          <a:latin typeface="Calibri"/>
                        </a:rPr>
                        <a:t>1.063</a:t>
                      </a:r>
                      <a:endParaRPr lang="vi-VN" sz="1150"/>
                    </a:p>
                  </a:txBody>
                  <a:tcPr marL="45720" marR="45720" marT="22860" marB="22860" anchor="ctr"/>
                </a:tc>
                <a:tc>
                  <a:txBody>
                    <a:bodyPr/>
                    <a:lstStyle/>
                    <a:p>
                      <a:pPr algn="ctr"/>
                      <a:r>
                        <a:rPr lang="vi-VN" sz="1150" b="0" i="0" dirty="0">
                          <a:solidFill>
                            <a:srgbClr val="333333"/>
                          </a:solidFill>
                          <a:latin typeface="Calibri"/>
                        </a:rPr>
                        <a:t>223</a:t>
                      </a:r>
                      <a:endParaRPr lang="vi-VN" sz="1150"/>
                    </a:p>
                  </a:txBody>
                  <a:tcPr marL="45720" marR="45720" marT="22860" marB="22860" anchor="ctr"/>
                </a:tc>
                <a:tc>
                  <a:txBody>
                    <a:bodyPr/>
                    <a:lstStyle/>
                    <a:p>
                      <a:pPr algn="ctr"/>
                      <a:r>
                        <a:rPr lang="vi-VN" sz="1150" b="0" i="0" dirty="0">
                          <a:solidFill>
                            <a:srgbClr val="333333"/>
                          </a:solidFill>
                          <a:latin typeface="Calibri"/>
                        </a:rPr>
                        <a:t>21,0%</a:t>
                      </a:r>
                      <a:endParaRPr lang="vi-VN" sz="1150"/>
                    </a:p>
                  </a:txBody>
                  <a:tcPr marL="45720" marR="45720" marT="22860" marB="22860" anchor="ctr"/>
                </a:tc>
                <a:tc>
                  <a:txBody>
                    <a:bodyPr/>
                    <a:lstStyle/>
                    <a:p>
                      <a:pPr algn="ctr"/>
                      <a:r>
                        <a:rPr lang="vi-VN" sz="1150" b="1" i="0" dirty="0">
                          <a:solidFill>
                            <a:srgbClr val="333333"/>
                          </a:solidFill>
                          <a:latin typeface="Calibri"/>
                        </a:rPr>
                        <a:t>160</a:t>
                      </a:r>
                      <a:endParaRPr lang="vi-VN" sz="1150"/>
                    </a:p>
                  </a:txBody>
                  <a:tcPr marL="45720" marR="45720" marT="22860" marB="22860" anchor="ctr"/>
                </a:tc>
                <a:extLst>
                  <a:ext uri="{0D108BD9-81ED-4DB2-BD59-A6C34878D82A}">
                    <a16:rowId xmlns:a16="http://schemas.microsoft.com/office/drawing/2014/main" val="10011"/>
                  </a:ext>
                </a:extLst>
              </a:tr>
              <a:tr h="285750">
                <a:tc>
                  <a:txBody>
                    <a:bodyPr/>
                    <a:lstStyle/>
                    <a:p>
                      <a:pPr algn="l"/>
                      <a:r>
                        <a:rPr lang="vi-VN" sz="1150" b="1" i="0" dirty="0">
                          <a:solidFill>
                            <a:srgbClr val="333333"/>
                          </a:solidFill>
                          <a:latin typeface="Calibri"/>
                        </a:rPr>
                        <a:t>Tổng</a:t>
                      </a:r>
                      <a:endParaRPr lang="vi-VN" sz="1150"/>
                    </a:p>
                  </a:txBody>
                  <a:tcPr marL="45720" marR="45720" marT="22860" marB="22860" anchor="ctr"/>
                </a:tc>
                <a:tc>
                  <a:txBody>
                    <a:bodyPr/>
                    <a:lstStyle/>
                    <a:p>
                      <a:pPr algn="ctr"/>
                      <a:r>
                        <a:rPr lang="vi-VN" sz="1150" b="1" i="0" dirty="0">
                          <a:solidFill>
                            <a:srgbClr val="333333"/>
                          </a:solidFill>
                          <a:latin typeface="Calibri"/>
                        </a:rPr>
                        <a:t>27.930</a:t>
                      </a:r>
                      <a:endParaRPr lang="vi-VN" sz="1150"/>
                    </a:p>
                  </a:txBody>
                  <a:tcPr marL="45720" marR="45720" marT="22860" marB="22860" anchor="ctr"/>
                </a:tc>
                <a:tc>
                  <a:txBody>
                    <a:bodyPr/>
                    <a:lstStyle/>
                    <a:p>
                      <a:pPr algn="ctr"/>
                      <a:r>
                        <a:rPr lang="vi-VN" sz="1150" b="1" i="0" dirty="0">
                          <a:solidFill>
                            <a:srgbClr val="333333"/>
                          </a:solidFill>
                          <a:latin typeface="Calibri"/>
                        </a:rPr>
                        <a:t>7.844</a:t>
                      </a:r>
                      <a:endParaRPr lang="vi-VN" sz="1150"/>
                    </a:p>
                  </a:txBody>
                  <a:tcPr marL="45720" marR="45720" marT="22860" marB="22860" anchor="ctr"/>
                </a:tc>
                <a:tc>
                  <a:txBody>
                    <a:bodyPr/>
                    <a:lstStyle/>
                    <a:p>
                      <a:pPr algn="ctr"/>
                      <a:r>
                        <a:rPr lang="vi-VN" sz="1150" b="1" i="0" dirty="0">
                          <a:solidFill>
                            <a:srgbClr val="333333"/>
                          </a:solidFill>
                          <a:latin typeface="Calibri"/>
                        </a:rPr>
                        <a:t>28,1%</a:t>
                      </a:r>
                      <a:endParaRPr lang="vi-VN" sz="1150"/>
                    </a:p>
                  </a:txBody>
                  <a:tcPr marL="45720" marR="45720" marT="22860" marB="22860" anchor="ctr"/>
                </a:tc>
                <a:tc>
                  <a:txBody>
                    <a:bodyPr/>
                    <a:lstStyle/>
                    <a:p>
                      <a:pPr algn="ctr"/>
                      <a:r>
                        <a:rPr lang="vi-VN" sz="1150" b="1" i="0" dirty="0">
                          <a:solidFill>
                            <a:srgbClr val="333333"/>
                          </a:solidFill>
                          <a:latin typeface="Calibri"/>
                        </a:rPr>
                        <a:t>4.824</a:t>
                      </a:r>
                      <a:endParaRPr lang="vi-VN" sz="1150" dirty="0"/>
                    </a:p>
                  </a:txBody>
                  <a:tcPr marL="45720" marR="45720" marT="22860" marB="22860" anchor="ctr"/>
                </a:tc>
                <a:extLst>
                  <a:ext uri="{0D108BD9-81ED-4DB2-BD59-A6C34878D82A}">
                    <a16:rowId xmlns:a16="http://schemas.microsoft.com/office/drawing/2014/main" val="10012"/>
                  </a:ext>
                </a:extLst>
              </a:tr>
            </a:tbl>
          </a:graphicData>
        </a:graphic>
      </p:graphicFrame>
      <p:graphicFrame>
        <p:nvGraphicFramePr>
          <p:cNvPr id="951" name="GHARuns Label Table"/>
          <p:cNvGraphicFramePr>
            <a:graphicFrameLocks noGrp="1"/>
          </p:cNvGraphicFramePr>
          <p:nvPr>
            <p:extLst>
              <p:ext uri="{D42A27DB-BD31-4B8C-83A1-F6EECF244321}">
                <p14:modId xmlns:p14="http://schemas.microsoft.com/office/powerpoint/2010/main" val="68503498"/>
              </p:ext>
            </p:extLst>
          </p:nvPr>
        </p:nvGraphicFramePr>
        <p:xfrm>
          <a:off x="7382600" y="1150000"/>
          <a:ext cx="4470400" cy="228600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1041400">
                  <a:extLst>
                    <a:ext uri="{9D8B030D-6E8A-4147-A177-3AD203B41FA5}">
                      <a16:colId xmlns:a16="http://schemas.microsoft.com/office/drawing/2014/main" val="20003"/>
                    </a:ext>
                  </a:extLst>
                </a:gridCol>
              </a:tblGrid>
              <a:tr h="285750">
                <a:tc>
                  <a:txBody>
                    <a:bodyPr/>
                    <a:lstStyle/>
                    <a:p>
                      <a:pPr algn="ctr"/>
                      <a:r>
                        <a:rPr lang="vi-VN" sz="1150" b="1" i="0" dirty="0">
                          <a:solidFill>
                            <a:srgbClr val="FFFFFF"/>
                          </a:solidFill>
                          <a:latin typeface="Calibri"/>
                        </a:rPr>
                        <a:t>Loại lỗi</a:t>
                      </a:r>
                      <a:endParaRPr lang="vi-VN" sz="1150" dirty="0"/>
                    </a:p>
                  </a:txBody>
                  <a:tcPr marL="45720" marR="45720" marT="22860" marB="22860" anchor="ctr"/>
                </a:tc>
                <a:tc>
                  <a:txBody>
                    <a:bodyPr/>
                    <a:lstStyle/>
                    <a:p>
                      <a:pPr algn="ctr"/>
                      <a:r>
                        <a:rPr lang="vi-VN" sz="1150" b="1" i="0" dirty="0">
                          <a:solidFill>
                            <a:srgbClr val="FFFFFF"/>
                          </a:solidFill>
                          <a:latin typeface="Calibri"/>
                        </a:rPr>
                        <a:t>Commit fail</a:t>
                      </a:r>
                      <a:endParaRPr lang="vi-VN" sz="1150"/>
                    </a:p>
                  </a:txBody>
                  <a:tcPr marL="45720" marR="45720" marT="22860" marB="22860" anchor="ctr"/>
                </a:tc>
                <a:tc>
                  <a:txBody>
                    <a:bodyPr/>
                    <a:lstStyle/>
                    <a:p>
                      <a:pPr algn="ctr"/>
                      <a:r>
                        <a:rPr lang="vi-VN" sz="1150" b="1" i="0" dirty="0">
                          <a:solidFill>
                            <a:srgbClr val="FFFFFF"/>
                          </a:solidFill>
                          <a:latin typeface="Calibri"/>
                        </a:rPr>
                        <a:t>Tỉ lệ</a:t>
                      </a:r>
                      <a:endParaRPr lang="vi-VN" sz="1150"/>
                    </a:p>
                  </a:txBody>
                  <a:tcPr marL="45720" marR="45720" marT="22860" marB="22860" anchor="ctr"/>
                </a:tc>
                <a:tc>
                  <a:txBody>
                    <a:bodyPr/>
                    <a:lstStyle/>
                    <a:p>
                      <a:pPr algn="ctr"/>
                      <a:r>
                        <a:rPr lang="vi-VN" sz="1150" b="1" i="0" dirty="0">
                          <a:solidFill>
                            <a:srgbClr val="FFFFFF"/>
                          </a:solidFill>
                          <a:latin typeface="Calibri"/>
                        </a:rPr>
                        <a:t>Lần fail đầu</a:t>
                      </a:r>
                      <a:endParaRPr lang="vi-VN" sz="1150"/>
                    </a:p>
                  </a:txBody>
                  <a:tcPr marL="45720" marR="45720" marT="22860" marB="22860" anchor="ctr"/>
                </a:tc>
                <a:extLst>
                  <a:ext uri="{0D108BD9-81ED-4DB2-BD59-A6C34878D82A}">
                    <a16:rowId xmlns:a16="http://schemas.microsoft.com/office/drawing/2014/main" val="10000"/>
                  </a:ext>
                </a:extLst>
              </a:tr>
              <a:tr h="285750">
                <a:tc>
                  <a:txBody>
                    <a:bodyPr/>
                    <a:lstStyle/>
                    <a:p>
                      <a:pPr algn="l"/>
                      <a:r>
                        <a:rPr lang="vi-VN" sz="1150" b="0" i="0" dirty="0">
                          <a:solidFill>
                            <a:srgbClr val="333333"/>
                          </a:solidFill>
                          <a:latin typeface="Calibri"/>
                        </a:rPr>
                        <a:t>test</a:t>
                      </a:r>
                      <a:endParaRPr lang="vi-VN" sz="1150" dirty="0"/>
                    </a:p>
                  </a:txBody>
                  <a:tcPr marL="45720" marR="45720" marT="22860" marB="22860" anchor="ctr"/>
                </a:tc>
                <a:tc>
                  <a:txBody>
                    <a:bodyPr/>
                    <a:lstStyle/>
                    <a:p>
                      <a:pPr algn="ctr"/>
                      <a:r>
                        <a:rPr lang="vi-VN" sz="1150" b="0" i="0" dirty="0">
                          <a:solidFill>
                            <a:srgbClr val="333333"/>
                          </a:solidFill>
                          <a:latin typeface="Calibri"/>
                        </a:rPr>
                        <a:t>3.424</a:t>
                      </a:r>
                      <a:endParaRPr lang="vi-VN" sz="1150"/>
                    </a:p>
                  </a:txBody>
                  <a:tcPr marL="45720" marR="45720" marT="22860" marB="22860" anchor="ctr"/>
                </a:tc>
                <a:tc>
                  <a:txBody>
                    <a:bodyPr/>
                    <a:lstStyle/>
                    <a:p>
                      <a:pPr algn="ctr"/>
                      <a:r>
                        <a:rPr lang="vi-VN" sz="1150" b="1" i="0" dirty="0">
                          <a:solidFill>
                            <a:srgbClr val="333333"/>
                          </a:solidFill>
                          <a:latin typeface="Calibri"/>
                        </a:rPr>
                        <a:t>43,7%</a:t>
                      </a:r>
                      <a:endParaRPr lang="vi-VN" sz="1150"/>
                    </a:p>
                  </a:txBody>
                  <a:tcPr marL="45720" marR="45720" marT="22860" marB="22860" anchor="ctr"/>
                </a:tc>
                <a:tc>
                  <a:txBody>
                    <a:bodyPr/>
                    <a:lstStyle/>
                    <a:p>
                      <a:pPr algn="ctr"/>
                      <a:r>
                        <a:rPr lang="vi-VN" sz="1150" b="0" i="0" dirty="0">
                          <a:solidFill>
                            <a:srgbClr val="333333"/>
                          </a:solidFill>
                          <a:latin typeface="Calibri"/>
                        </a:rPr>
                        <a:t>2.192</a:t>
                      </a:r>
                      <a:endParaRPr lang="vi-VN" sz="1150"/>
                    </a:p>
                  </a:txBody>
                  <a:tcPr marL="45720" marR="45720" marT="22860" marB="22860" anchor="ctr"/>
                </a:tc>
                <a:extLst>
                  <a:ext uri="{0D108BD9-81ED-4DB2-BD59-A6C34878D82A}">
                    <a16:rowId xmlns:a16="http://schemas.microsoft.com/office/drawing/2014/main" val="10001"/>
                  </a:ext>
                </a:extLst>
              </a:tr>
              <a:tr h="285750">
                <a:tc>
                  <a:txBody>
                    <a:bodyPr/>
                    <a:lstStyle/>
                    <a:p>
                      <a:pPr algn="l"/>
                      <a:r>
                        <a:rPr lang="vi-VN" sz="1150" b="0" i="0" dirty="0">
                          <a:solidFill>
                            <a:srgbClr val="333333"/>
                          </a:solidFill>
                          <a:latin typeface="Calibri"/>
                        </a:rPr>
                        <a:t>compile</a:t>
                      </a:r>
                      <a:endParaRPr lang="vi-VN" sz="1150" dirty="0"/>
                    </a:p>
                  </a:txBody>
                  <a:tcPr marL="45720" marR="45720" marT="22860" marB="22860" anchor="ctr"/>
                </a:tc>
                <a:tc>
                  <a:txBody>
                    <a:bodyPr/>
                    <a:lstStyle/>
                    <a:p>
                      <a:pPr algn="ctr"/>
                      <a:r>
                        <a:rPr lang="vi-VN" sz="1150" b="0" i="0" dirty="0">
                          <a:solidFill>
                            <a:srgbClr val="333333"/>
                          </a:solidFill>
                          <a:latin typeface="Calibri"/>
                        </a:rPr>
                        <a:t>588</a:t>
                      </a:r>
                      <a:endParaRPr lang="vi-VN" sz="1150"/>
                    </a:p>
                  </a:txBody>
                  <a:tcPr marL="45720" marR="45720" marT="22860" marB="22860" anchor="ctr"/>
                </a:tc>
                <a:tc>
                  <a:txBody>
                    <a:bodyPr/>
                    <a:lstStyle/>
                    <a:p>
                      <a:pPr algn="ctr"/>
                      <a:r>
                        <a:rPr lang="vi-VN" sz="1150" b="1" i="0" dirty="0">
                          <a:solidFill>
                            <a:srgbClr val="333333"/>
                          </a:solidFill>
                          <a:latin typeface="Calibri"/>
                        </a:rPr>
                        <a:t>7,5%</a:t>
                      </a:r>
                      <a:endParaRPr lang="vi-VN" sz="1150"/>
                    </a:p>
                  </a:txBody>
                  <a:tcPr marL="45720" marR="45720" marT="22860" marB="22860" anchor="ctr"/>
                </a:tc>
                <a:tc>
                  <a:txBody>
                    <a:bodyPr/>
                    <a:lstStyle/>
                    <a:p>
                      <a:pPr algn="ctr"/>
                      <a:r>
                        <a:rPr lang="vi-VN" sz="1150" b="0" i="0" dirty="0">
                          <a:solidFill>
                            <a:srgbClr val="333333"/>
                          </a:solidFill>
                          <a:latin typeface="Calibri"/>
                        </a:rPr>
                        <a:t>358</a:t>
                      </a:r>
                      <a:endParaRPr lang="vi-VN" sz="1150"/>
                    </a:p>
                  </a:txBody>
                  <a:tcPr marL="45720" marR="45720" marT="22860" marB="22860" anchor="ctr"/>
                </a:tc>
                <a:extLst>
                  <a:ext uri="{0D108BD9-81ED-4DB2-BD59-A6C34878D82A}">
                    <a16:rowId xmlns:a16="http://schemas.microsoft.com/office/drawing/2014/main" val="10002"/>
                  </a:ext>
                </a:extLst>
              </a:tr>
              <a:tr h="285750">
                <a:tc>
                  <a:txBody>
                    <a:bodyPr/>
                    <a:lstStyle/>
                    <a:p>
                      <a:pPr algn="l"/>
                      <a:r>
                        <a:rPr lang="vi-VN" sz="1150" b="0" i="0" dirty="0">
                          <a:solidFill>
                            <a:srgbClr val="333333"/>
                          </a:solidFill>
                          <a:latin typeface="Calibri"/>
                        </a:rPr>
                        <a:t>lint</a:t>
                      </a:r>
                      <a:endParaRPr lang="vi-VN" sz="1150" dirty="0"/>
                    </a:p>
                  </a:txBody>
                  <a:tcPr marL="45720" marR="45720" marT="22860" marB="22860" anchor="ctr"/>
                </a:tc>
                <a:tc>
                  <a:txBody>
                    <a:bodyPr/>
                    <a:lstStyle/>
                    <a:p>
                      <a:pPr algn="ctr"/>
                      <a:r>
                        <a:rPr lang="vi-VN" sz="1150" b="0" i="0" dirty="0">
                          <a:solidFill>
                            <a:srgbClr val="333333"/>
                          </a:solidFill>
                          <a:latin typeface="Calibri"/>
                        </a:rPr>
                        <a:t>536</a:t>
                      </a:r>
                      <a:endParaRPr lang="vi-VN" sz="1150"/>
                    </a:p>
                  </a:txBody>
                  <a:tcPr marL="45720" marR="45720" marT="22860" marB="22860" anchor="ctr"/>
                </a:tc>
                <a:tc>
                  <a:txBody>
                    <a:bodyPr/>
                    <a:lstStyle/>
                    <a:p>
                      <a:pPr algn="ctr"/>
                      <a:r>
                        <a:rPr lang="vi-VN" sz="1150" b="1" i="0" dirty="0">
                          <a:solidFill>
                            <a:srgbClr val="333333"/>
                          </a:solidFill>
                          <a:latin typeface="Calibri"/>
                        </a:rPr>
                        <a:t>6,8%</a:t>
                      </a:r>
                      <a:endParaRPr lang="vi-VN" sz="1150"/>
                    </a:p>
                  </a:txBody>
                  <a:tcPr marL="45720" marR="45720" marT="22860" marB="22860" anchor="ctr"/>
                </a:tc>
                <a:tc>
                  <a:txBody>
                    <a:bodyPr/>
                    <a:lstStyle/>
                    <a:p>
                      <a:pPr algn="ctr"/>
                      <a:r>
                        <a:rPr lang="vi-VN" sz="1150" b="0" i="0" dirty="0">
                          <a:solidFill>
                            <a:srgbClr val="333333"/>
                          </a:solidFill>
                          <a:latin typeface="Calibri"/>
                        </a:rPr>
                        <a:t>310</a:t>
                      </a:r>
                      <a:endParaRPr lang="vi-VN" sz="1150"/>
                    </a:p>
                  </a:txBody>
                  <a:tcPr marL="45720" marR="45720" marT="22860" marB="22860" anchor="ctr"/>
                </a:tc>
                <a:extLst>
                  <a:ext uri="{0D108BD9-81ED-4DB2-BD59-A6C34878D82A}">
                    <a16:rowId xmlns:a16="http://schemas.microsoft.com/office/drawing/2014/main" val="10003"/>
                  </a:ext>
                </a:extLst>
              </a:tr>
              <a:tr h="285750">
                <a:tc>
                  <a:txBody>
                    <a:bodyPr/>
                    <a:lstStyle/>
                    <a:p>
                      <a:pPr algn="l"/>
                      <a:r>
                        <a:rPr lang="vi-VN" sz="1150" b="0" i="0" dirty="0">
                          <a:solidFill>
                            <a:srgbClr val="333333"/>
                          </a:solidFill>
                          <a:latin typeface="Calibri"/>
                        </a:rPr>
                        <a:t>dependency</a:t>
                      </a:r>
                      <a:endParaRPr lang="vi-VN" sz="1150" dirty="0"/>
                    </a:p>
                  </a:txBody>
                  <a:tcPr marL="45720" marR="45720" marT="22860" marB="22860" anchor="ctr"/>
                </a:tc>
                <a:tc>
                  <a:txBody>
                    <a:bodyPr/>
                    <a:lstStyle/>
                    <a:p>
                      <a:pPr algn="ctr"/>
                      <a:r>
                        <a:rPr lang="vi-VN" sz="1150" b="0" i="0" dirty="0">
                          <a:solidFill>
                            <a:srgbClr val="333333"/>
                          </a:solidFill>
                          <a:latin typeface="Calibri"/>
                        </a:rPr>
                        <a:t>76</a:t>
                      </a:r>
                      <a:endParaRPr lang="vi-VN" sz="1150"/>
                    </a:p>
                  </a:txBody>
                  <a:tcPr marL="45720" marR="45720" marT="22860" marB="22860" anchor="ctr"/>
                </a:tc>
                <a:tc>
                  <a:txBody>
                    <a:bodyPr/>
                    <a:lstStyle/>
                    <a:p>
                      <a:pPr algn="ctr"/>
                      <a:r>
                        <a:rPr lang="vi-VN" sz="1150" b="1" i="0" dirty="0">
                          <a:solidFill>
                            <a:srgbClr val="333333"/>
                          </a:solidFill>
                          <a:latin typeface="Calibri"/>
                        </a:rPr>
                        <a:t>1,0%</a:t>
                      </a:r>
                      <a:endParaRPr lang="vi-VN" sz="1150"/>
                    </a:p>
                  </a:txBody>
                  <a:tcPr marL="45720" marR="45720" marT="22860" marB="22860" anchor="ctr"/>
                </a:tc>
                <a:tc>
                  <a:txBody>
                    <a:bodyPr/>
                    <a:lstStyle/>
                    <a:p>
                      <a:pPr algn="ctr"/>
                      <a:r>
                        <a:rPr lang="vi-VN" sz="1150" b="0" i="0" dirty="0">
                          <a:solidFill>
                            <a:srgbClr val="333333"/>
                          </a:solidFill>
                          <a:latin typeface="Calibri"/>
                        </a:rPr>
                        <a:t>48</a:t>
                      </a:r>
                      <a:endParaRPr lang="vi-VN" sz="1150"/>
                    </a:p>
                  </a:txBody>
                  <a:tcPr marL="45720" marR="45720" marT="22860" marB="22860" anchor="ctr"/>
                </a:tc>
                <a:extLst>
                  <a:ext uri="{0D108BD9-81ED-4DB2-BD59-A6C34878D82A}">
                    <a16:rowId xmlns:a16="http://schemas.microsoft.com/office/drawing/2014/main" val="10004"/>
                  </a:ext>
                </a:extLst>
              </a:tr>
              <a:tr h="285750">
                <a:tc>
                  <a:txBody>
                    <a:bodyPr/>
                    <a:lstStyle/>
                    <a:p>
                      <a:pPr algn="l"/>
                      <a:r>
                        <a:rPr lang="vi-VN" sz="1150" b="0" i="0" dirty="0">
                          <a:solidFill>
                            <a:srgbClr val="333333"/>
                          </a:solidFill>
                          <a:latin typeface="Calibri"/>
                        </a:rPr>
                        <a:t>infra / flaky</a:t>
                      </a:r>
                      <a:endParaRPr lang="vi-VN" sz="1150" dirty="0"/>
                    </a:p>
                  </a:txBody>
                  <a:tcPr marL="45720" marR="45720" marT="22860" marB="22860" anchor="ctr"/>
                </a:tc>
                <a:tc>
                  <a:txBody>
                    <a:bodyPr/>
                    <a:lstStyle/>
                    <a:p>
                      <a:pPr algn="ctr"/>
                      <a:r>
                        <a:rPr lang="vi-VN" sz="1150" b="0" i="0" dirty="0">
                          <a:solidFill>
                            <a:srgbClr val="333333"/>
                          </a:solidFill>
                          <a:latin typeface="Calibri"/>
                        </a:rPr>
                        <a:t>605</a:t>
                      </a:r>
                      <a:endParaRPr lang="vi-VN" sz="1150"/>
                    </a:p>
                  </a:txBody>
                  <a:tcPr marL="45720" marR="45720" marT="22860" marB="22860" anchor="ctr"/>
                </a:tc>
                <a:tc>
                  <a:txBody>
                    <a:bodyPr/>
                    <a:lstStyle/>
                    <a:p>
                      <a:pPr algn="ctr"/>
                      <a:r>
                        <a:rPr lang="vi-VN" sz="1150" b="1" i="0" dirty="0">
                          <a:solidFill>
                            <a:srgbClr val="333333"/>
                          </a:solidFill>
                          <a:latin typeface="Calibri"/>
                        </a:rPr>
                        <a:t>7,7%</a:t>
                      </a:r>
                      <a:endParaRPr lang="vi-VN" sz="1150"/>
                    </a:p>
                  </a:txBody>
                  <a:tcPr marL="45720" marR="45720" marT="22860" marB="22860" anchor="ctr"/>
                </a:tc>
                <a:tc>
                  <a:txBody>
                    <a:bodyPr/>
                    <a:lstStyle/>
                    <a:p>
                      <a:pPr algn="ctr"/>
                      <a:r>
                        <a:rPr lang="vi-VN" sz="1150" b="0" i="0" dirty="0">
                          <a:solidFill>
                            <a:srgbClr val="333333"/>
                          </a:solidFill>
                          <a:latin typeface="Calibri"/>
                        </a:rPr>
                        <a:t>439</a:t>
                      </a:r>
                      <a:endParaRPr lang="vi-VN" sz="1150"/>
                    </a:p>
                  </a:txBody>
                  <a:tcPr marL="45720" marR="45720" marT="22860" marB="22860" anchor="ctr"/>
                </a:tc>
                <a:extLst>
                  <a:ext uri="{0D108BD9-81ED-4DB2-BD59-A6C34878D82A}">
                    <a16:rowId xmlns:a16="http://schemas.microsoft.com/office/drawing/2014/main" val="10005"/>
                  </a:ext>
                </a:extLst>
              </a:tr>
              <a:tr h="285750">
                <a:tc>
                  <a:txBody>
                    <a:bodyPr/>
                    <a:lstStyle/>
                    <a:p>
                      <a:pPr algn="l"/>
                      <a:r>
                        <a:rPr lang="vi-VN" sz="1150" b="0" i="0" dirty="0">
                          <a:solidFill>
                            <a:srgbClr val="333333"/>
                          </a:solidFill>
                          <a:latin typeface="Calibri"/>
                        </a:rPr>
                        <a:t>chưa gán (hết log)</a:t>
                      </a:r>
                      <a:endParaRPr lang="vi-VN" sz="1150" dirty="0"/>
                    </a:p>
                  </a:txBody>
                  <a:tcPr marL="45720" marR="45720" marT="22860" marB="22860" anchor="ctr"/>
                </a:tc>
                <a:tc>
                  <a:txBody>
                    <a:bodyPr/>
                    <a:lstStyle/>
                    <a:p>
                      <a:pPr algn="ctr"/>
                      <a:r>
                        <a:rPr lang="vi-VN" sz="1150" b="0" i="0" dirty="0">
                          <a:solidFill>
                            <a:srgbClr val="333333"/>
                          </a:solidFill>
                          <a:latin typeface="Calibri"/>
                        </a:rPr>
                        <a:t>2.615</a:t>
                      </a:r>
                      <a:endParaRPr lang="vi-VN" sz="1150"/>
                    </a:p>
                  </a:txBody>
                  <a:tcPr marL="45720" marR="45720" marT="22860" marB="22860" anchor="ctr"/>
                </a:tc>
                <a:tc>
                  <a:txBody>
                    <a:bodyPr/>
                    <a:lstStyle/>
                    <a:p>
                      <a:pPr algn="ctr"/>
                      <a:r>
                        <a:rPr lang="vi-VN" sz="1150" b="1" i="0" dirty="0">
                          <a:solidFill>
                            <a:srgbClr val="333333"/>
                          </a:solidFill>
                          <a:latin typeface="Calibri"/>
                        </a:rPr>
                        <a:t>33,3%</a:t>
                      </a:r>
                      <a:endParaRPr lang="vi-VN" sz="1150"/>
                    </a:p>
                  </a:txBody>
                  <a:tcPr marL="45720" marR="45720" marT="22860" marB="22860" anchor="ctr"/>
                </a:tc>
                <a:tc>
                  <a:txBody>
                    <a:bodyPr/>
                    <a:lstStyle/>
                    <a:p>
                      <a:pPr algn="ctr"/>
                      <a:r>
                        <a:rPr lang="vi-VN" sz="1150" b="0" i="0" dirty="0">
                          <a:solidFill>
                            <a:srgbClr val="333333"/>
                          </a:solidFill>
                          <a:latin typeface="Calibri"/>
                        </a:rPr>
                        <a:t>1.477</a:t>
                      </a:r>
                      <a:endParaRPr lang="vi-VN" sz="1150"/>
                    </a:p>
                  </a:txBody>
                  <a:tcPr marL="45720" marR="45720" marT="22860" marB="22860" anchor="ctr"/>
                </a:tc>
                <a:extLst>
                  <a:ext uri="{0D108BD9-81ED-4DB2-BD59-A6C34878D82A}">
                    <a16:rowId xmlns:a16="http://schemas.microsoft.com/office/drawing/2014/main" val="10006"/>
                  </a:ext>
                </a:extLst>
              </a:tr>
              <a:tr h="285750">
                <a:tc>
                  <a:txBody>
                    <a:bodyPr/>
                    <a:lstStyle/>
                    <a:p>
                      <a:pPr algn="l"/>
                      <a:r>
                        <a:rPr lang="vi-VN" sz="1150" b="1" i="0" dirty="0">
                          <a:solidFill>
                            <a:srgbClr val="333333"/>
                          </a:solidFill>
                          <a:latin typeface="Calibri"/>
                        </a:rPr>
                        <a:t>Tổng</a:t>
                      </a:r>
                      <a:endParaRPr lang="vi-VN" sz="1150"/>
                    </a:p>
                  </a:txBody>
                  <a:tcPr marL="45720" marR="45720" marT="22860" marB="22860" anchor="ctr"/>
                </a:tc>
                <a:tc>
                  <a:txBody>
                    <a:bodyPr/>
                    <a:lstStyle/>
                    <a:p>
                      <a:pPr algn="ctr"/>
                      <a:r>
                        <a:rPr lang="vi-VN" sz="1150" b="1" i="0" dirty="0">
                          <a:solidFill>
                            <a:srgbClr val="333333"/>
                          </a:solidFill>
                          <a:latin typeface="Calibri"/>
                        </a:rPr>
                        <a:t>7.844</a:t>
                      </a:r>
                      <a:endParaRPr lang="vi-VN" sz="1150"/>
                    </a:p>
                  </a:txBody>
                  <a:tcPr marL="45720" marR="45720" marT="22860" marB="22860" anchor="ctr"/>
                </a:tc>
                <a:tc>
                  <a:txBody>
                    <a:bodyPr/>
                    <a:lstStyle/>
                    <a:p>
                      <a:pPr algn="ctr"/>
                      <a:r>
                        <a:rPr lang="vi-VN" sz="1150" b="1" i="0" dirty="0">
                          <a:solidFill>
                            <a:srgbClr val="333333"/>
                          </a:solidFill>
                          <a:latin typeface="Calibri"/>
                        </a:rPr>
                        <a:t>100%</a:t>
                      </a:r>
                      <a:endParaRPr lang="vi-VN" sz="1150"/>
                    </a:p>
                  </a:txBody>
                  <a:tcPr marL="45720" marR="45720" marT="22860" marB="22860" anchor="ctr"/>
                </a:tc>
                <a:tc>
                  <a:txBody>
                    <a:bodyPr/>
                    <a:lstStyle/>
                    <a:p>
                      <a:pPr algn="ctr"/>
                      <a:r>
                        <a:rPr lang="vi-VN" sz="1150" b="1" i="0" dirty="0">
                          <a:solidFill>
                            <a:srgbClr val="333333"/>
                          </a:solidFill>
                          <a:latin typeface="Calibri"/>
                        </a:rPr>
                        <a:t>4.824</a:t>
                      </a:r>
                      <a:endParaRPr lang="vi-VN" sz="1150" dirty="0"/>
                    </a:p>
                  </a:txBody>
                  <a:tcPr marL="45720" marR="45720" marT="22860" marB="22860" anchor="ctr"/>
                </a:tc>
                <a:extLst>
                  <a:ext uri="{0D108BD9-81ED-4DB2-BD59-A6C34878D82A}">
                    <a16:rowId xmlns:a16="http://schemas.microsoft.com/office/drawing/2014/main" val="10007"/>
                  </a:ext>
                </a:extLst>
              </a:tr>
            </a:tbl>
          </a:graphicData>
        </a:graphic>
      </p:graphicFrame>
      <p:sp>
        <p:nvSpPr>
          <p:cNvPr id="960" name="Text 960"/>
          <p:cNvSpPr txBox="1"/>
          <p:nvPr/>
        </p:nvSpPr>
        <p:spPr>
          <a:xfrm>
            <a:off x="575400" y="4984750"/>
            <a:ext cx="11277600" cy="520000"/>
          </a:xfrm>
          <a:prstGeom prst="rect">
            <a:avLst/>
          </a:prstGeom>
          <a:noFill/>
        </p:spPr>
        <p:txBody>
          <a:bodyPr wrap="square" lIns="0" tIns="0" rIns="0" bIns="0" rtlCol="0" anchor="t">
            <a:noAutofit/>
          </a:bodyPr>
          <a:lstStyle/>
          <a:p>
            <a:pPr>
              <a:spcAft>
                <a:spcPts val="400"/>
              </a:spcAft>
              <a:buNone/>
            </a:pPr>
            <a:r>
              <a:rPr lang="vi-VN" sz="1000" b="0" i="1" dirty="0">
                <a:solidFill>
                  <a:srgbClr val="6B7280"/>
                </a:solidFill>
                <a:latin typeface="Calibri"/>
              </a:rPr>
              <a:t>Nguồn: tự crawl GitHub Actions API kèm log, 9/7–7/10/2026; gồm push lên nhánh chính và commit trong PR. Commit fail nếu có ít nhất một workflow build fail. Loại lỗi đọc từ log thật, commit có nhiều lỗi lấy giai đoạn sớm nhất; “chưa gán” = GitHub đã xoá log. Lần fail đầu = commit fail ngay sau commit pass trong cùng chuỗi.</a:t>
            </a:r>
          </a:p>
        </p:txBody>
      </p:sp>
    </p:spTree>
    <p:extLst>
      <p:ext uri="{BB962C8B-B14F-4D97-AF65-F5344CB8AC3E}">
        <p14:creationId xmlns:p14="http://schemas.microsoft.com/office/powerpoint/2010/main" val="1902362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DC68-73D4-C80A-8B5B-57CB41F2F8AF}"/>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74CE9D9D-901C-692C-2FD8-79712928AD4C}"/>
              </a:ext>
            </a:extLst>
          </p:cNvPr>
          <p:cNvSpPr txBox="1"/>
          <p:nvPr/>
        </p:nvSpPr>
        <p:spPr>
          <a:xfrm>
            <a:off x="338760" y="1058760"/>
            <a:ext cx="11514240" cy="4908600"/>
          </a:xfrm>
          <a:prstGeom prst="rect">
            <a:avLst/>
          </a:prstGeom>
          <a:noFill/>
          <a:ln>
            <a:noFill/>
          </a:ln>
        </p:spPr>
        <p:txBody>
          <a:bodyPr lIns="90000" tIns="45000" rIns="90000" bIns="45000">
            <a:noAutofit/>
          </a:bodyPr>
          <a:lstStyle/>
          <a:p>
            <a:pPr marL="457200" lvl="0" indent="-457200">
              <a:buFont typeface="Arial" panose="020B0604020202020204" pitchFamily="34" charset="0"/>
              <a:buChar char="•"/>
            </a:pPr>
            <a:r>
              <a:rPr lang="vi-VN" sz="1800" b="1" i="0" dirty="0"/>
              <a:t>Metadata (2017): </a:t>
            </a:r>
            <a:r>
              <a:rPr lang="vi-VN" sz="1800" b="0" i="0" dirty="0"/>
              <a:t>HW17, Ni &amp; Li. Feature của build hiện tại và build trước.</a:t>
            </a:r>
          </a:p>
          <a:p>
            <a:pPr marL="457200" lvl="0" indent="-457200">
              <a:buFont typeface="Arial" panose="020B0604020202020204" pitchFamily="34" charset="0"/>
              <a:buChar char="•"/>
            </a:pPr>
            <a:r>
              <a:rPr lang="vi-VN" sz="1800" b="1" i="0" dirty="0"/>
              <a:t>Tiết kiệm chi phí: </a:t>
            </a:r>
            <a:r>
              <a:rPr lang="vi-VN" sz="1800" b="0" i="0" dirty="0"/>
              <a:t>SmartBuildSkip (ICSE 2020) chỉ đoán lần fail đầu tiên; tiết kiệm 30% build, chậm 1 build.</a:t>
            </a:r>
          </a:p>
          <a:p>
            <a:pPr marL="457200" lvl="0" indent="-457200">
              <a:buFont typeface="Arial" panose="020B0604020202020204" pitchFamily="34" charset="0"/>
              <a:buChar char="•"/>
            </a:pPr>
            <a:r>
              <a:rPr lang="vi-VN" sz="1800" b="1" i="0" dirty="0"/>
              <a:t>Lịch sử &amp; log: </a:t>
            </a:r>
            <a:r>
              <a:rPr lang="vi-VN" sz="1800" b="0" i="0" dirty="0"/>
              <a:t>BuildFast (ASE 2020) rút feature theo kiểu lỗi từ log cũ; DL-CIBuild dùng LSTM trên chuỗi build.</a:t>
            </a:r>
          </a:p>
          <a:p>
            <a:pPr marL="457200" lvl="0" indent="-457200">
              <a:buFont typeface="Arial" panose="020B0604020202020204" pitchFamily="34" charset="0"/>
              <a:buChar char="•"/>
            </a:pPr>
            <a:r>
              <a:rPr lang="vi-VN" sz="1800" b="1" i="0" dirty="0"/>
              <a:t>Ngữ cảnh &amp; phụ thuộc: </a:t>
            </a:r>
            <a:r>
              <a:rPr lang="vi-VN" sz="1800" b="0" i="0" dirty="0"/>
              <a:t>RavenBuild (FSE 2024): ý định thay đổi, liên quan với build trước, đồ thị phụ thuộc.</a:t>
            </a:r>
          </a:p>
          <a:p>
            <a:pPr marL="457200" lvl="0" indent="-457200">
              <a:buFont typeface="Arial" panose="020B0604020202020204" pitchFamily="34" charset="0"/>
              <a:buChar char="•"/>
            </a:pPr>
            <a:r>
              <a:rPr lang="vi-VN" sz="1800" b="1" i="0" dirty="0"/>
              <a:t>Đọc nội dung: </a:t>
            </a:r>
            <a:r>
              <a:rPr lang="vi-VN" sz="1800" b="0" i="0" dirty="0"/>
              <a:t>GitSense (ISSTA 2024): Transformer trên commit message + diff + tên file.</a:t>
            </a:r>
          </a:p>
          <a:p>
            <a:pPr marL="457200" lvl="0" indent="-457200">
              <a:buFont typeface="Arial" panose="020B0604020202020204" pitchFamily="34" charset="0"/>
              <a:buChar char="•"/>
            </a:pPr>
            <a:r>
              <a:rPr lang="vi-VN" sz="1800" b="1" i="0" dirty="0"/>
              <a:t>Contrastive phân cấp: </a:t>
            </a:r>
            <a:r>
              <a:rPr lang="vi-VN" sz="1800" b="0" i="0" dirty="0"/>
              <a:t>SupCon (NeurIPS 2020), Use All The Labels (CVPR 2022). Chưa thấy dùng cho build prediction.</a:t>
            </a:r>
          </a:p>
          <a:p>
            <a:pPr marL="457200" lvl="0" indent="-457200">
              <a:buFont typeface="Arial" panose="020B0604020202020204" pitchFamily="34" charset="0"/>
              <a:buChar char="•"/>
            </a:pPr>
            <a:r>
              <a:rPr lang="vi-VN" sz="1800" b="1" i="0" dirty="0"/>
              <a:t>Đề tài chọn: </a:t>
            </a:r>
            <a:r>
              <a:rPr lang="vi-VN" sz="1800" b="0" i="0" dirty="0"/>
              <a:t>encode </a:t>
            </a:r>
            <a:r>
              <a:rPr lang="en-US" dirty="0"/>
              <a:t>code diff </a:t>
            </a:r>
            <a:r>
              <a:rPr lang="en-US" dirty="0" err="1"/>
              <a:t>của</a:t>
            </a:r>
            <a:r>
              <a:rPr lang="en-US" dirty="0"/>
              <a:t> </a:t>
            </a:r>
            <a:r>
              <a:rPr lang="en-US" dirty="0" err="1"/>
              <a:t>các</a:t>
            </a:r>
            <a:r>
              <a:rPr lang="en-US" dirty="0"/>
              <a:t> file </a:t>
            </a:r>
            <a:r>
              <a:rPr lang="vi-VN" sz="1800" b="0" i="0" dirty="0"/>
              <a:t>file </a:t>
            </a:r>
            <a:r>
              <a:rPr lang="en-US" dirty="0" err="1"/>
              <a:t>theo</a:t>
            </a:r>
            <a:r>
              <a:rPr lang="en-US" dirty="0"/>
              <a:t> </a:t>
            </a:r>
            <a:r>
              <a:rPr lang="vi-VN" sz="1800" b="0" i="0" dirty="0"/>
              <a:t>commit + contrastive theo cây loại lỗi + feature lịch sử; so với Parrot, LR, XGBoost, GitSense, SupCon một tầng.</a:t>
            </a:r>
          </a:p>
        </p:txBody>
      </p:sp>
      <p:sp>
        <p:nvSpPr>
          <p:cNvPr id="313" name="TextShape 2">
            <a:extLst>
              <a:ext uri="{FF2B5EF4-FFF2-40B4-BE49-F238E27FC236}">
                <a16:creationId xmlns:a16="http://schemas.microsoft.com/office/drawing/2014/main" id="{6C0D2DE3-CD29-2D5E-CEC5-ACE2F5CF0B8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4. Khảo sát phương pháp</a:t>
            </a:r>
            <a:endParaRPr lang="en-US" sz="3200" spc="-1" dirty="0">
              <a:solidFill>
                <a:schemeClr val="bg1"/>
              </a:solidFill>
              <a:latin typeface="Calibri"/>
            </a:endParaRPr>
          </a:p>
        </p:txBody>
      </p:sp>
    </p:spTree>
    <p:extLst>
      <p:ext uri="{BB962C8B-B14F-4D97-AF65-F5344CB8AC3E}">
        <p14:creationId xmlns:p14="http://schemas.microsoft.com/office/powerpoint/2010/main" val="126194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DC68-73D4-C80A-8B5B-57CB41F2F8AF}"/>
            </a:ext>
          </a:extLst>
        </p:cNvPr>
        <p:cNvGrpSpPr/>
        <p:nvPr/>
      </p:nvGrpSpPr>
      <p:grpSpPr>
        <a:xfrm>
          <a:off x="0" y="0"/>
          <a:ext cx="0" cy="0"/>
          <a:chOff x="0" y="0"/>
          <a:chExt cx="0" cy="0"/>
        </a:xfrm>
      </p:grpSpPr>
      <p:sp>
        <p:nvSpPr>
          <p:cNvPr id="313" name="TextShape 2">
            <a:extLst>
              <a:ext uri="{FF2B5EF4-FFF2-40B4-BE49-F238E27FC236}">
                <a16:creationId xmlns:a16="http://schemas.microsoft.com/office/drawing/2014/main" id="{6C0D2DE3-CD29-2D5E-CEC5-ACE2F5CF0B8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5. Giao thức đánh giá</a:t>
            </a:r>
            <a:endParaRPr lang="en-US" sz="3200" spc="-1" dirty="0">
              <a:solidFill>
                <a:schemeClr val="bg1"/>
              </a:solidFill>
              <a:latin typeface="Calibri"/>
            </a:endParaRPr>
          </a:p>
        </p:txBody>
      </p:sp>
      <p:sp>
        <p:nvSpPr>
          <p:cNvPr id="314" name="Rounded Rectangle 313"/>
          <p:cNvSpPr/>
          <p:nvPr/>
        </p:nvSpPr>
        <p:spPr>
          <a:xfrm>
            <a:off x="411480" y="1051560"/>
            <a:ext cx="2697480" cy="2971800"/>
          </a:xfrm>
          <a:prstGeom prst="roundRect">
            <a:avLst>
              <a:gd name="adj" fmla="val 5000"/>
            </a:avLst>
          </a:prstGeom>
          <a:solidFill>
            <a:srgbClr val="FAFBFD"/>
          </a:solidFill>
          <a:ln w="15875">
            <a:solidFill>
              <a:srgbClr val="8C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411480" y="1051560"/>
            <a:ext cx="2697480" cy="868680"/>
          </a:xfrm>
          <a:prstGeom prst="roundRect">
            <a:avLst>
              <a:gd name="adj" fmla="val 12000"/>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FFFFFF"/>
                </a:solidFill>
                <a:latin typeface="Calibri"/>
              </a:rPr>
              <a:t>P0 · Chia ngẫu nhiên</a:t>
            </a:r>
          </a:p>
          <a:p>
            <a:pPr algn="ctr"/>
            <a:r>
              <a:rPr sz="1400" b="0">
                <a:solidFill>
                  <a:srgbClr val="DDE6F2"/>
                </a:solidFill>
                <a:latin typeface="Calibri"/>
              </a:rPr>
              <a:t>mốc so sánh với nghiên cứu cũ</a:t>
            </a:r>
          </a:p>
        </p:txBody>
      </p:sp>
      <p:sp>
        <p:nvSpPr>
          <p:cNvPr id="316" name="TextBox 315"/>
          <p:cNvSpPr txBox="1"/>
          <p:nvPr/>
        </p:nvSpPr>
        <p:spPr>
          <a:xfrm>
            <a:off x="576072" y="2075688"/>
            <a:ext cx="2404872" cy="723275"/>
          </a:xfrm>
          <a:prstGeom prst="rect">
            <a:avLst/>
          </a:prstGeom>
          <a:noFill/>
        </p:spPr>
        <p:txBody>
          <a:bodyPr wrap="square" lIns="0" tIns="0" rIns="0" bIns="0">
            <a:spAutoFit/>
          </a:bodyPr>
          <a:lstStyle/>
          <a:p>
            <a:pPr>
              <a:spcAft>
                <a:spcPts val="600"/>
              </a:spcAft>
            </a:pPr>
            <a:r>
              <a:rPr sz="1400" dirty="0">
                <a:solidFill>
                  <a:srgbClr val="262626"/>
                </a:solidFill>
                <a:latin typeface="Calibri"/>
              </a:rPr>
              <a:t>• Chia </a:t>
            </a:r>
            <a:r>
              <a:rPr sz="1400" dirty="0" err="1">
                <a:solidFill>
                  <a:srgbClr val="262626"/>
                </a:solidFill>
                <a:latin typeface="Calibri"/>
              </a:rPr>
              <a:t>ngẫu</a:t>
            </a:r>
            <a:r>
              <a:rPr sz="1400" dirty="0">
                <a:solidFill>
                  <a:srgbClr val="262626"/>
                </a:solidFill>
                <a:latin typeface="Calibri"/>
              </a:rPr>
              <a:t> </a:t>
            </a:r>
            <a:r>
              <a:rPr sz="1400" dirty="0" err="1">
                <a:solidFill>
                  <a:srgbClr val="262626"/>
                </a:solidFill>
                <a:latin typeface="Calibri"/>
              </a:rPr>
              <a:t>nhiên</a:t>
            </a:r>
            <a:r>
              <a:rPr sz="1400" dirty="0">
                <a:solidFill>
                  <a:srgbClr val="262626"/>
                </a:solidFill>
                <a:latin typeface="Calibri"/>
              </a:rPr>
              <a:t> train/test</a:t>
            </a:r>
          </a:p>
          <a:p>
            <a:pPr>
              <a:spcAft>
                <a:spcPts val="600"/>
              </a:spcAft>
            </a:pPr>
            <a:r>
              <a:rPr sz="1400" dirty="0">
                <a:solidFill>
                  <a:srgbClr val="262626"/>
                </a:solidFill>
                <a:latin typeface="Calibri"/>
              </a:rPr>
              <a:t>• </a:t>
            </a:r>
            <a:r>
              <a:rPr sz="1400" dirty="0" err="1">
                <a:solidFill>
                  <a:srgbClr val="262626"/>
                </a:solidFill>
                <a:latin typeface="Calibri"/>
              </a:rPr>
              <a:t>Dễ</a:t>
            </a:r>
            <a:r>
              <a:rPr sz="1400" dirty="0">
                <a:solidFill>
                  <a:srgbClr val="262626"/>
                </a:solidFill>
                <a:latin typeface="Calibri"/>
              </a:rPr>
              <a:t> </a:t>
            </a:r>
            <a:r>
              <a:rPr sz="1400" dirty="0" err="1">
                <a:solidFill>
                  <a:srgbClr val="262626"/>
                </a:solidFill>
                <a:latin typeface="Calibri"/>
              </a:rPr>
              <a:t>rò</a:t>
            </a:r>
            <a:r>
              <a:rPr sz="1400" dirty="0">
                <a:solidFill>
                  <a:srgbClr val="262626"/>
                </a:solidFill>
                <a:latin typeface="Calibri"/>
              </a:rPr>
              <a:t> </a:t>
            </a:r>
            <a:r>
              <a:rPr sz="1400" dirty="0" err="1">
                <a:solidFill>
                  <a:srgbClr val="262626"/>
                </a:solidFill>
                <a:latin typeface="Calibri"/>
              </a:rPr>
              <a:t>rỉ</a:t>
            </a:r>
            <a:r>
              <a:rPr sz="1400" dirty="0">
                <a:solidFill>
                  <a:srgbClr val="262626"/>
                </a:solidFill>
                <a:latin typeface="Calibri"/>
              </a:rPr>
              <a:t> </a:t>
            </a:r>
            <a:r>
              <a:rPr sz="1400" dirty="0" err="1">
                <a:solidFill>
                  <a:srgbClr val="262626"/>
                </a:solidFill>
                <a:latin typeface="Calibri"/>
              </a:rPr>
              <a:t>thông</a:t>
            </a:r>
            <a:r>
              <a:rPr sz="1400" dirty="0">
                <a:solidFill>
                  <a:srgbClr val="262626"/>
                </a:solidFill>
                <a:latin typeface="Calibri"/>
              </a:rPr>
              <a:t> tin </a:t>
            </a:r>
            <a:r>
              <a:rPr sz="1400" dirty="0" err="1">
                <a:solidFill>
                  <a:srgbClr val="262626"/>
                </a:solidFill>
                <a:latin typeface="Calibri"/>
              </a:rPr>
              <a:t>theo</a:t>
            </a:r>
            <a:r>
              <a:rPr sz="1400" dirty="0">
                <a:solidFill>
                  <a:srgbClr val="262626"/>
                </a:solidFill>
                <a:latin typeface="Calibri"/>
              </a:rPr>
              <a:t> </a:t>
            </a:r>
            <a:r>
              <a:rPr sz="1400" dirty="0" err="1">
                <a:solidFill>
                  <a:srgbClr val="262626"/>
                </a:solidFill>
                <a:latin typeface="Calibri"/>
              </a:rPr>
              <a:t>thời</a:t>
            </a:r>
            <a:r>
              <a:rPr sz="1400" dirty="0">
                <a:solidFill>
                  <a:srgbClr val="262626"/>
                </a:solidFill>
                <a:latin typeface="Calibri"/>
              </a:rPr>
              <a:t> </a:t>
            </a:r>
            <a:r>
              <a:rPr sz="1400" dirty="0" err="1">
                <a:solidFill>
                  <a:srgbClr val="262626"/>
                </a:solidFill>
                <a:latin typeface="Calibri"/>
              </a:rPr>
              <a:t>gian</a:t>
            </a:r>
            <a:endParaRPr sz="1400" dirty="0">
              <a:solidFill>
                <a:srgbClr val="262626"/>
              </a:solidFill>
              <a:latin typeface="Calibri"/>
            </a:endParaRPr>
          </a:p>
        </p:txBody>
      </p:sp>
      <p:sp>
        <p:nvSpPr>
          <p:cNvPr id="317" name="Rounded Rectangle 316"/>
          <p:cNvSpPr/>
          <p:nvPr/>
        </p:nvSpPr>
        <p:spPr>
          <a:xfrm>
            <a:off x="3319272" y="1051560"/>
            <a:ext cx="2697480" cy="2971800"/>
          </a:xfrm>
          <a:prstGeom prst="roundRect">
            <a:avLst>
              <a:gd name="adj" fmla="val 5000"/>
            </a:avLst>
          </a:prstGeom>
          <a:solidFill>
            <a:srgbClr val="FAFBFD"/>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Rounded Rectangle 317"/>
          <p:cNvSpPr/>
          <p:nvPr/>
        </p:nvSpPr>
        <p:spPr>
          <a:xfrm>
            <a:off x="3319272" y="1051560"/>
            <a:ext cx="2697480" cy="868680"/>
          </a:xfrm>
          <a:prstGeom prst="roundRect">
            <a:avLst>
              <a:gd name="adj" fmla="val 12000"/>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FFFFFF"/>
                </a:solidFill>
                <a:latin typeface="Calibri"/>
              </a:rPr>
              <a:t>P1 · Theo thời gian</a:t>
            </a:r>
          </a:p>
          <a:p>
            <a:pPr algn="ctr"/>
            <a:r>
              <a:rPr sz="1400" b="0">
                <a:solidFill>
                  <a:srgbClr val="DDE6F2"/>
                </a:solidFill>
                <a:latin typeface="Calibri"/>
              </a:rPr>
              <a:t>dùng thật được không</a:t>
            </a:r>
          </a:p>
        </p:txBody>
      </p:sp>
      <p:sp>
        <p:nvSpPr>
          <p:cNvPr id="319" name="TextBox 318"/>
          <p:cNvSpPr txBox="1"/>
          <p:nvPr/>
        </p:nvSpPr>
        <p:spPr>
          <a:xfrm>
            <a:off x="3483864" y="2075688"/>
            <a:ext cx="2404872" cy="1828800"/>
          </a:xfrm>
          <a:prstGeom prst="rect">
            <a:avLst/>
          </a:prstGeom>
          <a:noFill/>
        </p:spPr>
        <p:txBody>
          <a:bodyPr wrap="square" lIns="0" tIns="0" rIns="0" bIns="0">
            <a:spAutoFit/>
          </a:bodyPr>
          <a:lstStyle/>
          <a:p>
            <a:pPr>
              <a:spcAft>
                <a:spcPts val="600"/>
              </a:spcAft>
            </a:pPr>
            <a:r>
              <a:rPr sz="1400">
                <a:solidFill>
                  <a:srgbClr val="262626"/>
                </a:solidFill>
                <a:latin typeface="Calibri"/>
              </a:rPr>
              <a:t>• Train giai đoạn đầu, test giai đoạn sau</a:t>
            </a:r>
          </a:p>
          <a:p>
            <a:pPr>
              <a:spcAft>
                <a:spcPts val="600"/>
              </a:spcAft>
            </a:pPr>
            <a:r>
              <a:rPr sz="1400">
                <a:solidFill>
                  <a:srgbClr val="262626"/>
                </a:solidFill>
                <a:latin typeface="Calibri"/>
              </a:rPr>
              <a:t>• Không xáo trộn theo thời gian</a:t>
            </a:r>
          </a:p>
          <a:p>
            <a:pPr>
              <a:spcAft>
                <a:spcPts val="600"/>
              </a:spcAft>
            </a:pPr>
            <a:r>
              <a:rPr sz="1400">
                <a:solidFill>
                  <a:srgbClr val="262626"/>
                </a:solidFill>
                <a:latin typeface="Calibri"/>
              </a:rPr>
              <a:t>• Cửa sổ trượt để đo drift</a:t>
            </a:r>
          </a:p>
        </p:txBody>
      </p:sp>
      <p:sp>
        <p:nvSpPr>
          <p:cNvPr id="320" name="Rounded Rectangle 319"/>
          <p:cNvSpPr/>
          <p:nvPr/>
        </p:nvSpPr>
        <p:spPr>
          <a:xfrm>
            <a:off x="6227064" y="1051560"/>
            <a:ext cx="2697480" cy="2971800"/>
          </a:xfrm>
          <a:prstGeom prst="roundRect">
            <a:avLst>
              <a:gd name="adj" fmla="val 5000"/>
            </a:avLst>
          </a:prstGeom>
          <a:solidFill>
            <a:srgbClr val="FAFBFD"/>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Rounded Rectangle 320"/>
          <p:cNvSpPr/>
          <p:nvPr/>
        </p:nvSpPr>
        <p:spPr>
          <a:xfrm>
            <a:off x="6227064" y="1051560"/>
            <a:ext cx="2697480" cy="868680"/>
          </a:xfrm>
          <a:prstGeom prst="roundRect">
            <a:avLst>
              <a:gd name="adj" fmla="val 12000"/>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FFFFFF"/>
                </a:solidFill>
                <a:latin typeface="Calibri"/>
              </a:rPr>
              <a:t>P2 · Chéo repo</a:t>
            </a:r>
          </a:p>
          <a:p>
            <a:pPr algn="ctr"/>
            <a:r>
              <a:rPr sz="1400" b="0">
                <a:solidFill>
                  <a:srgbClr val="DDE6F2"/>
                </a:solidFill>
                <a:latin typeface="Calibri"/>
              </a:rPr>
              <a:t>repo chưa thấy khi huấn luyện</a:t>
            </a:r>
          </a:p>
        </p:txBody>
      </p:sp>
      <p:sp>
        <p:nvSpPr>
          <p:cNvPr id="322" name="TextBox 321"/>
          <p:cNvSpPr txBox="1"/>
          <p:nvPr/>
        </p:nvSpPr>
        <p:spPr>
          <a:xfrm>
            <a:off x="6391656" y="2075688"/>
            <a:ext cx="2404872" cy="1828800"/>
          </a:xfrm>
          <a:prstGeom prst="rect">
            <a:avLst/>
          </a:prstGeom>
          <a:noFill/>
        </p:spPr>
        <p:txBody>
          <a:bodyPr wrap="square" lIns="0" tIns="0" rIns="0" bIns="0">
            <a:spAutoFit/>
          </a:bodyPr>
          <a:lstStyle/>
          <a:p>
            <a:pPr>
              <a:spcAft>
                <a:spcPts val="600"/>
              </a:spcAft>
            </a:pPr>
            <a:r>
              <a:rPr sz="1400">
                <a:solidFill>
                  <a:srgbClr val="262626"/>
                </a:solidFill>
                <a:latin typeface="Calibri"/>
              </a:rPr>
              <a:t>• Train repo A, test repo B</a:t>
            </a:r>
          </a:p>
          <a:p>
            <a:pPr>
              <a:spcAft>
                <a:spcPts val="600"/>
              </a:spcAft>
            </a:pPr>
            <a:r>
              <a:rPr sz="1400">
                <a:solidFill>
                  <a:srgbClr val="262626"/>
                </a:solidFill>
                <a:latin typeface="Calibri"/>
              </a:rPr>
              <a:t>• Gom workflow/job về loại chung (build/test/lint/deploy)</a:t>
            </a:r>
          </a:p>
          <a:p>
            <a:pPr>
              <a:spcAft>
                <a:spcPts val="600"/>
              </a:spcAft>
            </a:pPr>
            <a:r>
              <a:rPr sz="1400">
                <a:solidFill>
                  <a:srgbClr val="262626"/>
                </a:solidFill>
                <a:latin typeface="Calibri"/>
              </a:rPr>
              <a:t>• Kiểm tra khả năng khái quát</a:t>
            </a:r>
          </a:p>
        </p:txBody>
      </p:sp>
      <p:sp>
        <p:nvSpPr>
          <p:cNvPr id="323" name="Rounded Rectangle 322"/>
          <p:cNvSpPr/>
          <p:nvPr/>
        </p:nvSpPr>
        <p:spPr>
          <a:xfrm>
            <a:off x="9134856" y="1051560"/>
            <a:ext cx="2697480" cy="2971800"/>
          </a:xfrm>
          <a:prstGeom prst="roundRect">
            <a:avLst>
              <a:gd name="adj" fmla="val 5000"/>
            </a:avLst>
          </a:prstGeom>
          <a:solidFill>
            <a:srgbClr val="FAFBFD"/>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Rounded Rectangle 323"/>
          <p:cNvSpPr/>
          <p:nvPr/>
        </p:nvSpPr>
        <p:spPr>
          <a:xfrm>
            <a:off x="9134856" y="1051560"/>
            <a:ext cx="2697480" cy="868680"/>
          </a:xfrm>
          <a:prstGeom prst="roundRect">
            <a:avLst>
              <a:gd name="adj" fmla="val 12000"/>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FFFFFF"/>
                </a:solidFill>
                <a:latin typeface="Calibri"/>
              </a:rPr>
              <a:t>P3 · Lần fail đầu tiên</a:t>
            </a:r>
          </a:p>
          <a:p>
            <a:pPr algn="ctr"/>
            <a:r>
              <a:rPr sz="1400" b="0">
                <a:solidFill>
                  <a:srgbClr val="DDE6F2"/>
                </a:solidFill>
                <a:latin typeface="Calibri"/>
              </a:rPr>
              <a:t>có hơn Parrot thật không</a:t>
            </a:r>
          </a:p>
        </p:txBody>
      </p:sp>
      <p:sp>
        <p:nvSpPr>
          <p:cNvPr id="325" name="TextBox 324"/>
          <p:cNvSpPr txBox="1"/>
          <p:nvPr/>
        </p:nvSpPr>
        <p:spPr>
          <a:xfrm>
            <a:off x="9299448" y="2075688"/>
            <a:ext cx="2404872" cy="1231106"/>
          </a:xfrm>
          <a:prstGeom prst="rect">
            <a:avLst/>
          </a:prstGeom>
          <a:noFill/>
        </p:spPr>
        <p:txBody>
          <a:bodyPr wrap="square" lIns="0" tIns="0" rIns="0" bIns="0">
            <a:spAutoFit/>
          </a:bodyPr>
          <a:lstStyle/>
          <a:p>
            <a:pPr>
              <a:spcAft>
                <a:spcPts val="600"/>
              </a:spcAft>
            </a:pPr>
            <a:r>
              <a:rPr sz="1400" dirty="0">
                <a:solidFill>
                  <a:srgbClr val="262626"/>
                </a:solidFill>
                <a:latin typeface="Calibri"/>
              </a:rPr>
              <a:t>• Commit fail </a:t>
            </a:r>
            <a:r>
              <a:rPr sz="1400" dirty="0" err="1">
                <a:solidFill>
                  <a:srgbClr val="262626"/>
                </a:solidFill>
                <a:latin typeface="Calibri"/>
              </a:rPr>
              <a:t>ngay</a:t>
            </a:r>
            <a:r>
              <a:rPr sz="1400" dirty="0">
                <a:solidFill>
                  <a:srgbClr val="262626"/>
                </a:solidFill>
                <a:latin typeface="Calibri"/>
              </a:rPr>
              <a:t> </a:t>
            </a:r>
            <a:r>
              <a:rPr sz="1400" dirty="0" err="1">
                <a:solidFill>
                  <a:srgbClr val="262626"/>
                </a:solidFill>
                <a:latin typeface="Calibri"/>
              </a:rPr>
              <a:t>sau</a:t>
            </a:r>
            <a:r>
              <a:rPr sz="1400" dirty="0">
                <a:solidFill>
                  <a:srgbClr val="262626"/>
                </a:solidFill>
                <a:latin typeface="Calibri"/>
              </a:rPr>
              <a:t> commit pass</a:t>
            </a:r>
          </a:p>
          <a:p>
            <a:pPr>
              <a:spcAft>
                <a:spcPts val="600"/>
              </a:spcAft>
            </a:pPr>
            <a:r>
              <a:rPr sz="1400" dirty="0">
                <a:solidFill>
                  <a:srgbClr val="262626"/>
                </a:solidFill>
                <a:latin typeface="Calibri"/>
              </a:rPr>
              <a:t>• </a:t>
            </a:r>
            <a:r>
              <a:rPr sz="1400" dirty="0" err="1">
                <a:solidFill>
                  <a:srgbClr val="262626"/>
                </a:solidFill>
                <a:latin typeface="Calibri"/>
              </a:rPr>
              <a:t>Giả</a:t>
            </a:r>
            <a:r>
              <a:rPr sz="1400" dirty="0">
                <a:solidFill>
                  <a:srgbClr val="262626"/>
                </a:solidFill>
                <a:latin typeface="Calibri"/>
              </a:rPr>
              <a:t> </a:t>
            </a:r>
            <a:r>
              <a:rPr sz="1400" dirty="0" err="1">
                <a:solidFill>
                  <a:srgbClr val="262626"/>
                </a:solidFill>
                <a:latin typeface="Calibri"/>
              </a:rPr>
              <a:t>lập</a:t>
            </a:r>
            <a:r>
              <a:rPr sz="1400" dirty="0">
                <a:solidFill>
                  <a:srgbClr val="262626"/>
                </a:solidFill>
                <a:latin typeface="Calibri"/>
              </a:rPr>
              <a:t> </a:t>
            </a:r>
            <a:r>
              <a:rPr sz="1400" dirty="0" err="1">
                <a:solidFill>
                  <a:srgbClr val="262626"/>
                </a:solidFill>
                <a:latin typeface="Calibri"/>
              </a:rPr>
              <a:t>không</a:t>
            </a:r>
            <a:r>
              <a:rPr sz="1400" dirty="0">
                <a:solidFill>
                  <a:srgbClr val="262626"/>
                </a:solidFill>
                <a:latin typeface="Calibri"/>
              </a:rPr>
              <a:t> </a:t>
            </a:r>
            <a:r>
              <a:rPr sz="1400" dirty="0" err="1">
                <a:solidFill>
                  <a:srgbClr val="262626"/>
                </a:solidFill>
                <a:latin typeface="Calibri"/>
              </a:rPr>
              <a:t>biết</a:t>
            </a:r>
            <a:r>
              <a:rPr sz="1400" dirty="0">
                <a:solidFill>
                  <a:srgbClr val="262626"/>
                </a:solidFill>
                <a:latin typeface="Calibri"/>
              </a:rPr>
              <a:t> </a:t>
            </a:r>
            <a:r>
              <a:rPr sz="1400" dirty="0" err="1">
                <a:solidFill>
                  <a:srgbClr val="262626"/>
                </a:solidFill>
                <a:latin typeface="Calibri"/>
              </a:rPr>
              <a:t>kết</a:t>
            </a:r>
            <a:r>
              <a:rPr sz="1400" dirty="0">
                <a:solidFill>
                  <a:srgbClr val="262626"/>
                </a:solidFill>
                <a:latin typeface="Calibri"/>
              </a:rPr>
              <a:t> </a:t>
            </a:r>
            <a:r>
              <a:rPr sz="1400" dirty="0" err="1">
                <a:solidFill>
                  <a:srgbClr val="262626"/>
                </a:solidFill>
                <a:latin typeface="Calibri"/>
              </a:rPr>
              <a:t>quả</a:t>
            </a:r>
            <a:r>
              <a:rPr sz="1400" dirty="0">
                <a:solidFill>
                  <a:srgbClr val="262626"/>
                </a:solidFill>
                <a:latin typeface="Calibri"/>
              </a:rPr>
              <a:t> build </a:t>
            </a:r>
            <a:r>
              <a:rPr sz="1400" dirty="0" err="1">
                <a:solidFill>
                  <a:srgbClr val="262626"/>
                </a:solidFill>
                <a:latin typeface="Calibri"/>
              </a:rPr>
              <a:t>trước</a:t>
            </a:r>
            <a:endParaRPr sz="1400" dirty="0">
              <a:solidFill>
                <a:srgbClr val="262626"/>
              </a:solidFill>
              <a:latin typeface="Calibri"/>
            </a:endParaRPr>
          </a:p>
          <a:p>
            <a:pPr>
              <a:spcAft>
                <a:spcPts val="600"/>
              </a:spcAft>
            </a:pPr>
            <a:r>
              <a:rPr sz="1400" dirty="0">
                <a:solidFill>
                  <a:srgbClr val="262626"/>
                </a:solidFill>
                <a:latin typeface="Calibri"/>
              </a:rPr>
              <a:t>• So </a:t>
            </a:r>
            <a:r>
              <a:rPr sz="1400" dirty="0" err="1">
                <a:solidFill>
                  <a:srgbClr val="262626"/>
                </a:solidFill>
                <a:latin typeface="Calibri"/>
              </a:rPr>
              <a:t>sánh</a:t>
            </a:r>
            <a:r>
              <a:rPr sz="1400" dirty="0">
                <a:solidFill>
                  <a:srgbClr val="262626"/>
                </a:solidFill>
                <a:latin typeface="Calibri"/>
              </a:rPr>
              <a:t> </a:t>
            </a:r>
            <a:r>
              <a:rPr sz="1400" dirty="0" err="1">
                <a:solidFill>
                  <a:srgbClr val="262626"/>
                </a:solidFill>
                <a:latin typeface="Calibri"/>
              </a:rPr>
              <a:t>chỉ</a:t>
            </a:r>
            <a:r>
              <a:rPr sz="1400" dirty="0">
                <a:solidFill>
                  <a:srgbClr val="262626"/>
                </a:solidFill>
                <a:latin typeface="Calibri"/>
              </a:rPr>
              <a:t> diff </a:t>
            </a:r>
            <a:r>
              <a:rPr sz="1400" dirty="0" err="1">
                <a:solidFill>
                  <a:srgbClr val="262626"/>
                </a:solidFill>
                <a:latin typeface="Calibri"/>
              </a:rPr>
              <a:t>và</a:t>
            </a:r>
            <a:r>
              <a:rPr sz="1400" dirty="0">
                <a:solidFill>
                  <a:srgbClr val="262626"/>
                </a:solidFill>
                <a:latin typeface="Calibri"/>
              </a:rPr>
              <a:t> diff + </a:t>
            </a:r>
            <a:r>
              <a:rPr sz="1400" dirty="0" err="1">
                <a:solidFill>
                  <a:srgbClr val="262626"/>
                </a:solidFill>
                <a:latin typeface="Calibri"/>
              </a:rPr>
              <a:t>lịch</a:t>
            </a:r>
            <a:r>
              <a:rPr sz="1400" dirty="0">
                <a:solidFill>
                  <a:srgbClr val="262626"/>
                </a:solidFill>
                <a:latin typeface="Calibri"/>
              </a:rPr>
              <a:t> </a:t>
            </a:r>
            <a:r>
              <a:rPr sz="1400" dirty="0" err="1">
                <a:solidFill>
                  <a:srgbClr val="262626"/>
                </a:solidFill>
                <a:latin typeface="Calibri"/>
              </a:rPr>
              <a:t>sử</a:t>
            </a:r>
            <a:endParaRPr sz="1400" dirty="0">
              <a:solidFill>
                <a:srgbClr val="262626"/>
              </a:solidFill>
              <a:latin typeface="Calibri"/>
            </a:endParaRPr>
          </a:p>
        </p:txBody>
      </p:sp>
      <p:sp>
        <p:nvSpPr>
          <p:cNvPr id="326" name="Rounded Rectangle 325"/>
          <p:cNvSpPr/>
          <p:nvPr/>
        </p:nvSpPr>
        <p:spPr>
          <a:xfrm>
            <a:off x="411480" y="4224528"/>
            <a:ext cx="11420856" cy="566928"/>
          </a:xfrm>
          <a:prstGeom prst="roundRect">
            <a:avLst>
              <a:gd name="adj" fmla="val 12000"/>
            </a:avLst>
          </a:prstGeom>
          <a:solidFill>
            <a:srgbClr val="FDECEC"/>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262626"/>
                </a:solidFill>
                <a:latin typeface="Calibri"/>
              </a:rPr>
              <a:t>Độ đo: F1 &amp; PR-AUC lớp fail · macro-F1 loại lỗi · % build tiết kiệm so với % fail bỏ sót · độ trễ phát hiện lỗi</a:t>
            </a:r>
          </a:p>
        </p:txBody>
      </p:sp>
      <p:sp>
        <p:nvSpPr>
          <p:cNvPr id="327" name="TextBox 326"/>
          <p:cNvSpPr txBox="1"/>
          <p:nvPr/>
        </p:nvSpPr>
        <p:spPr>
          <a:xfrm>
            <a:off x="411480" y="4937760"/>
            <a:ext cx="11420856" cy="230832"/>
          </a:xfrm>
          <a:prstGeom prst="rect">
            <a:avLst/>
          </a:prstGeom>
          <a:noFill/>
        </p:spPr>
        <p:txBody>
          <a:bodyPr wrap="square" lIns="0" tIns="0" rIns="0" bIns="0">
            <a:spAutoFit/>
          </a:bodyPr>
          <a:lstStyle/>
          <a:p>
            <a:pPr algn="l"/>
            <a:r>
              <a:rPr sz="1500" b="0" i="1" dirty="0" err="1">
                <a:solidFill>
                  <a:srgbClr val="013364"/>
                </a:solidFill>
                <a:latin typeface="Calibri"/>
              </a:rPr>
              <a:t>Mục</a:t>
            </a:r>
            <a:r>
              <a:rPr sz="1500" b="0" i="1" dirty="0">
                <a:solidFill>
                  <a:srgbClr val="013364"/>
                </a:solidFill>
                <a:latin typeface="Calibri"/>
              </a:rPr>
              <a:t> </a:t>
            </a:r>
            <a:r>
              <a:rPr sz="1500" b="0" i="1" dirty="0" err="1">
                <a:solidFill>
                  <a:srgbClr val="013364"/>
                </a:solidFill>
                <a:latin typeface="Calibri"/>
              </a:rPr>
              <a:t>tiêu</a:t>
            </a:r>
            <a:r>
              <a:rPr sz="1500" b="0" i="1" dirty="0">
                <a:solidFill>
                  <a:srgbClr val="013364"/>
                </a:solidFill>
                <a:latin typeface="Calibri"/>
              </a:rPr>
              <a:t>: </a:t>
            </a:r>
            <a:r>
              <a:rPr lang="en-US" sz="1500" i="1" dirty="0" err="1">
                <a:solidFill>
                  <a:srgbClr val="013364"/>
                </a:solidFill>
                <a:latin typeface="Calibri"/>
              </a:rPr>
              <a:t>C</a:t>
            </a:r>
            <a:r>
              <a:rPr sz="1500" b="0" i="1" dirty="0" err="1">
                <a:solidFill>
                  <a:srgbClr val="013364"/>
                </a:solidFill>
                <a:latin typeface="Calibri"/>
              </a:rPr>
              <a:t>ải</a:t>
            </a:r>
            <a:r>
              <a:rPr sz="1500" b="0" i="1" dirty="0">
                <a:solidFill>
                  <a:srgbClr val="013364"/>
                </a:solidFill>
                <a:latin typeface="Calibri"/>
              </a:rPr>
              <a:t> </a:t>
            </a:r>
            <a:r>
              <a:rPr sz="1500" b="0" i="1" dirty="0" err="1">
                <a:solidFill>
                  <a:srgbClr val="013364"/>
                </a:solidFill>
                <a:latin typeface="Calibri"/>
              </a:rPr>
              <a:t>thiện</a:t>
            </a:r>
            <a:r>
              <a:rPr sz="1500" b="0" i="1" dirty="0">
                <a:solidFill>
                  <a:srgbClr val="013364"/>
                </a:solidFill>
                <a:latin typeface="Calibri"/>
              </a:rPr>
              <a:t> ở P1–P3, </a:t>
            </a:r>
            <a:r>
              <a:rPr sz="1500" b="0" i="1" dirty="0" err="1">
                <a:solidFill>
                  <a:srgbClr val="013364"/>
                </a:solidFill>
                <a:latin typeface="Calibri"/>
              </a:rPr>
              <a:t>đặc</a:t>
            </a:r>
            <a:r>
              <a:rPr sz="1500" b="0" i="1" dirty="0">
                <a:solidFill>
                  <a:srgbClr val="013364"/>
                </a:solidFill>
                <a:latin typeface="Calibri"/>
              </a:rPr>
              <a:t> </a:t>
            </a:r>
            <a:r>
              <a:rPr sz="1500" b="0" i="1" dirty="0" err="1">
                <a:solidFill>
                  <a:srgbClr val="013364"/>
                </a:solidFill>
                <a:latin typeface="Calibri"/>
              </a:rPr>
              <a:t>biệt</a:t>
            </a:r>
            <a:r>
              <a:rPr sz="1500" b="0" i="1" dirty="0">
                <a:solidFill>
                  <a:srgbClr val="013364"/>
                </a:solidFill>
                <a:latin typeface="Calibri"/>
              </a:rPr>
              <a:t> </a:t>
            </a:r>
            <a:r>
              <a:rPr sz="1500" b="0" i="1" dirty="0" err="1">
                <a:solidFill>
                  <a:srgbClr val="013364"/>
                </a:solidFill>
                <a:latin typeface="Calibri"/>
              </a:rPr>
              <a:t>là</a:t>
            </a:r>
            <a:r>
              <a:rPr sz="1500" b="0" i="1" dirty="0">
                <a:solidFill>
                  <a:srgbClr val="013364"/>
                </a:solidFill>
                <a:latin typeface="Calibri"/>
              </a:rPr>
              <a:t> </a:t>
            </a:r>
            <a:r>
              <a:rPr sz="1500" b="0" i="1" dirty="0" err="1">
                <a:solidFill>
                  <a:srgbClr val="013364"/>
                </a:solidFill>
                <a:latin typeface="Calibri"/>
              </a:rPr>
              <a:t>lần</a:t>
            </a:r>
            <a:r>
              <a:rPr sz="1500" b="0" i="1" dirty="0">
                <a:solidFill>
                  <a:srgbClr val="013364"/>
                </a:solidFill>
                <a:latin typeface="Calibri"/>
              </a:rPr>
              <a:t> fail </a:t>
            </a:r>
            <a:r>
              <a:rPr sz="1500" b="0" i="1" dirty="0" err="1">
                <a:solidFill>
                  <a:srgbClr val="013364"/>
                </a:solidFill>
                <a:latin typeface="Calibri"/>
              </a:rPr>
              <a:t>đầu</a:t>
            </a:r>
            <a:r>
              <a:rPr sz="1500" b="0" i="1" dirty="0">
                <a:solidFill>
                  <a:srgbClr val="013364"/>
                </a:solidFill>
                <a:latin typeface="Calibri"/>
              </a:rPr>
              <a:t> </a:t>
            </a:r>
            <a:r>
              <a:rPr sz="1500" b="0" i="1" dirty="0" err="1">
                <a:solidFill>
                  <a:srgbClr val="013364"/>
                </a:solidFill>
                <a:latin typeface="Calibri"/>
              </a:rPr>
              <a:t>tiên</a:t>
            </a:r>
            <a:r>
              <a:rPr sz="1500" b="0" i="1" dirty="0">
                <a:solidFill>
                  <a:srgbClr val="013364"/>
                </a:solidFill>
                <a:latin typeface="Calibri"/>
              </a:rPr>
              <a:t> (P3).</a:t>
            </a:r>
          </a:p>
        </p:txBody>
      </p:sp>
    </p:spTree>
    <p:extLst>
      <p:ext uri="{BB962C8B-B14F-4D97-AF65-F5344CB8AC3E}">
        <p14:creationId xmlns:p14="http://schemas.microsoft.com/office/powerpoint/2010/main" val="126194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762BE-05C2-5392-BB3F-C147F4DCFC13}"/>
            </a:ext>
          </a:extLst>
        </p:cNvPr>
        <p:cNvGrpSpPr/>
        <p:nvPr/>
      </p:nvGrpSpPr>
      <p:grpSpPr>
        <a:xfrm>
          <a:off x="0" y="0"/>
          <a:ext cx="0" cy="0"/>
          <a:chOff x="0" y="0"/>
          <a:chExt cx="0" cy="0"/>
        </a:xfrm>
      </p:grpSpPr>
      <p:sp>
        <p:nvSpPr>
          <p:cNvPr id="313" name="TextShape 2">
            <a:extLst>
              <a:ext uri="{FF2B5EF4-FFF2-40B4-BE49-F238E27FC236}">
                <a16:creationId xmlns:a16="http://schemas.microsoft.com/office/drawing/2014/main" id="{4D3D4E23-1F23-DF6C-98DE-0A0D23705FCA}"/>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6. Luồng dự đoán</a:t>
            </a:r>
          </a:p>
        </p:txBody>
      </p:sp>
      <p:sp>
        <p:nvSpPr>
          <p:cNvPr id="314" name="Rounded Rectangle 313"/>
          <p:cNvSpPr/>
          <p:nvPr/>
        </p:nvSpPr>
        <p:spPr>
          <a:xfrm>
            <a:off x="365760" y="960120"/>
            <a:ext cx="11475720" cy="1783080"/>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TextBox 314"/>
          <p:cNvSpPr txBox="1"/>
          <p:nvPr/>
        </p:nvSpPr>
        <p:spPr>
          <a:xfrm>
            <a:off x="475488" y="996696"/>
            <a:ext cx="11201400" cy="230832"/>
          </a:xfrm>
          <a:prstGeom prst="rect">
            <a:avLst/>
          </a:prstGeom>
          <a:noFill/>
        </p:spPr>
        <p:txBody>
          <a:bodyPr wrap="square" lIns="0" tIns="0" rIns="0" bIns="0">
            <a:spAutoFit/>
          </a:bodyPr>
          <a:lstStyle/>
          <a:p>
            <a:pPr algn="l"/>
            <a:r>
              <a:rPr sz="1500" b="1" i="0" dirty="0">
                <a:solidFill>
                  <a:srgbClr val="013364"/>
                </a:solidFill>
                <a:latin typeface="Calibri"/>
              </a:rPr>
              <a:t>Offline: </a:t>
            </a:r>
            <a:r>
              <a:rPr sz="1500" b="1" i="0" dirty="0" err="1">
                <a:solidFill>
                  <a:srgbClr val="013364"/>
                </a:solidFill>
                <a:latin typeface="Calibri"/>
              </a:rPr>
              <a:t>dữ</a:t>
            </a:r>
            <a:r>
              <a:rPr sz="1500" b="1" i="0" dirty="0">
                <a:solidFill>
                  <a:srgbClr val="013364"/>
                </a:solidFill>
                <a:latin typeface="Calibri"/>
              </a:rPr>
              <a:t> </a:t>
            </a:r>
            <a:r>
              <a:rPr sz="1500" b="1" i="0" dirty="0" err="1">
                <a:solidFill>
                  <a:srgbClr val="013364"/>
                </a:solidFill>
                <a:latin typeface="Calibri"/>
              </a:rPr>
              <a:t>liệu</a:t>
            </a:r>
            <a:r>
              <a:rPr sz="1500" b="1" i="0" dirty="0">
                <a:solidFill>
                  <a:srgbClr val="013364"/>
                </a:solidFill>
                <a:latin typeface="Calibri"/>
              </a:rPr>
              <a:t> </a:t>
            </a:r>
            <a:r>
              <a:rPr sz="1500" b="1" i="0" dirty="0" err="1">
                <a:solidFill>
                  <a:srgbClr val="013364"/>
                </a:solidFill>
                <a:latin typeface="Calibri"/>
              </a:rPr>
              <a:t>GitHub Actions</a:t>
            </a:r>
            <a:r>
              <a:rPr lang="en-US" sz="1500" b="1" dirty="0">
                <a:solidFill>
                  <a:srgbClr val="013364"/>
                </a:solidFill>
                <a:latin typeface="Calibri"/>
              </a:rPr>
              <a:t> + log</a:t>
            </a:r>
            <a:r>
              <a:rPr sz="1500" b="1" i="0" dirty="0">
                <a:solidFill>
                  <a:srgbClr val="013364"/>
                </a:solidFill>
                <a:latin typeface="Calibri"/>
              </a:rPr>
              <a:t>, </a:t>
            </a:r>
            <a:r>
              <a:rPr sz="1500" b="1" i="0" dirty="0" err="1">
                <a:solidFill>
                  <a:srgbClr val="013364"/>
                </a:solidFill>
                <a:latin typeface="Calibri"/>
              </a:rPr>
              <a:t>gán</a:t>
            </a:r>
            <a:r>
              <a:rPr sz="1500" b="1" i="0" dirty="0">
                <a:solidFill>
                  <a:srgbClr val="013364"/>
                </a:solidFill>
                <a:latin typeface="Calibri"/>
              </a:rPr>
              <a:t> </a:t>
            </a:r>
            <a:r>
              <a:rPr sz="1500" b="1" i="0" dirty="0" err="1">
                <a:solidFill>
                  <a:srgbClr val="013364"/>
                </a:solidFill>
                <a:latin typeface="Calibri"/>
              </a:rPr>
              <a:t>nhãn</a:t>
            </a:r>
            <a:r>
              <a:rPr sz="1500" b="1" i="0" dirty="0">
                <a:solidFill>
                  <a:srgbClr val="013364"/>
                </a:solidFill>
                <a:latin typeface="Calibri"/>
              </a:rPr>
              <a:t>, </a:t>
            </a:r>
            <a:r>
              <a:rPr sz="1500" b="1" i="0" dirty="0" err="1">
                <a:solidFill>
                  <a:srgbClr val="013364"/>
                </a:solidFill>
                <a:latin typeface="Calibri"/>
              </a:rPr>
              <a:t>huấn</a:t>
            </a:r>
            <a:r>
              <a:rPr sz="1500" b="1" i="0" dirty="0">
                <a:solidFill>
                  <a:srgbClr val="013364"/>
                </a:solidFill>
                <a:latin typeface="Calibri"/>
              </a:rPr>
              <a:t> </a:t>
            </a:r>
            <a:r>
              <a:rPr sz="1500" b="1" i="0" dirty="0" err="1">
                <a:solidFill>
                  <a:srgbClr val="013364"/>
                </a:solidFill>
                <a:latin typeface="Calibri"/>
              </a:rPr>
              <a:t>luyện</a:t>
            </a:r>
            <a:r>
              <a:rPr sz="1500" b="1" i="0" dirty="0">
                <a:solidFill>
                  <a:srgbClr val="013364"/>
                </a:solidFill>
                <a:latin typeface="Calibri"/>
              </a:rPr>
              <a:t> &amp; </a:t>
            </a:r>
            <a:r>
              <a:rPr sz="1500" b="1" i="0" dirty="0" err="1">
                <a:solidFill>
                  <a:srgbClr val="013364"/>
                </a:solidFill>
                <a:latin typeface="Calibri"/>
              </a:rPr>
              <a:t>chọn</a:t>
            </a:r>
            <a:r>
              <a:rPr sz="1500" b="1" i="0" dirty="0">
                <a:solidFill>
                  <a:srgbClr val="013364"/>
                </a:solidFill>
                <a:latin typeface="Calibri"/>
              </a:rPr>
              <a:t> </a:t>
            </a:r>
            <a:r>
              <a:rPr sz="1500" b="1" i="0" dirty="0" err="1">
                <a:solidFill>
                  <a:srgbClr val="013364"/>
                </a:solidFill>
                <a:latin typeface="Calibri"/>
              </a:rPr>
              <a:t>mô</a:t>
            </a:r>
            <a:r>
              <a:rPr sz="1500" b="1" i="0" dirty="0">
                <a:solidFill>
                  <a:srgbClr val="013364"/>
                </a:solidFill>
                <a:latin typeface="Calibri"/>
              </a:rPr>
              <a:t> </a:t>
            </a:r>
            <a:r>
              <a:rPr sz="1500" b="1" i="0" dirty="0" err="1">
                <a:solidFill>
                  <a:srgbClr val="013364"/>
                </a:solidFill>
                <a:latin typeface="Calibri"/>
              </a:rPr>
              <a:t>hình</a:t>
            </a:r>
            <a:endParaRPr sz="1500" b="1" i="0" dirty="0">
              <a:solidFill>
                <a:srgbClr val="013364"/>
              </a:solidFill>
              <a:latin typeface="Calibri"/>
            </a:endParaRPr>
          </a:p>
        </p:txBody>
      </p:sp>
      <p:sp>
        <p:nvSpPr>
          <p:cNvPr id="316" name="Rounded Rectangle 315"/>
          <p:cNvSpPr/>
          <p:nvPr/>
        </p:nvSpPr>
        <p:spPr>
          <a:xfrm>
            <a:off x="365760" y="3611880"/>
            <a:ext cx="11475720" cy="1783080"/>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475488" y="3648456"/>
            <a:ext cx="11201400" cy="329184"/>
          </a:xfrm>
          <a:prstGeom prst="rect">
            <a:avLst/>
          </a:prstGeom>
          <a:noFill/>
        </p:spPr>
        <p:txBody>
          <a:bodyPr wrap="square" lIns="0" tIns="0" rIns="0" bIns="0">
            <a:spAutoFit/>
          </a:bodyPr>
          <a:lstStyle/>
          <a:p>
            <a:pPr algn="l"/>
            <a:r>
              <a:rPr sz="1500" b="1" i="0">
                <a:solidFill>
                  <a:srgbClr val="013364"/>
                </a:solidFill>
                <a:latin typeface="Calibri"/>
              </a:rPr>
              <a:t>Khi có push / PR: dự đoán trước khi chạy CI</a:t>
            </a:r>
          </a:p>
        </p:txBody>
      </p:sp>
      <p:sp>
        <p:nvSpPr>
          <p:cNvPr id="318" name="Rounded Rectangle 317"/>
          <p:cNvSpPr/>
          <p:nvPr/>
        </p:nvSpPr>
        <p:spPr>
          <a:xfrm>
            <a:off x="502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vi-VN" sz="1400" b="1" dirty="0">
                <a:solidFill>
                  <a:srgbClr val="262626"/>
                </a:solidFill>
                <a:latin typeface="Calibri"/>
              </a:rPr>
              <a:t>GitHub Actions</a:t>
            </a:r>
            <a:r>
              <a:rPr lang="en-US" sz="1400" b="1" dirty="0">
                <a:solidFill>
                  <a:srgbClr val="262626"/>
                </a:solidFill>
                <a:latin typeface="Calibri"/>
              </a:rPr>
              <a:t> + log</a:t>
            </a:r>
            <a:endParaRPr lang="vi-VN" sz="1400" b="1" dirty="0">
              <a:solidFill>
                <a:srgbClr val="262626"/>
              </a:solidFill>
              <a:latin typeface="Calibri"/>
            </a:endParaRPr>
          </a:p>
        </p:txBody>
      </p:sp>
      <p:sp>
        <p:nvSpPr>
          <p:cNvPr id="319" name="Rounded Rectangle 318"/>
          <p:cNvSpPr/>
          <p:nvPr/>
        </p:nvSpPr>
        <p:spPr>
          <a:xfrm>
            <a:off x="2788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err="1">
                <a:solidFill>
                  <a:srgbClr val="262626"/>
                </a:solidFill>
                <a:latin typeface="Calibri"/>
              </a:rPr>
              <a:t>Gán</a:t>
            </a:r>
            <a:r>
              <a:rPr sz="1400" b="1" dirty="0">
                <a:solidFill>
                  <a:srgbClr val="262626"/>
                </a:solidFill>
                <a:latin typeface="Calibri"/>
              </a:rPr>
              <a:t> </a:t>
            </a:r>
            <a:r>
              <a:rPr sz="1400" b="1" dirty="0" err="1">
                <a:solidFill>
                  <a:srgbClr val="262626"/>
                </a:solidFill>
                <a:latin typeface="Calibri"/>
              </a:rPr>
              <a:t>nhãn</a:t>
            </a:r>
            <a:endParaRPr sz="1200" b="0" dirty="0">
              <a:solidFill>
                <a:srgbClr val="595959"/>
              </a:solidFill>
              <a:latin typeface="Calibri"/>
            </a:endParaRPr>
          </a:p>
        </p:txBody>
      </p:sp>
      <p:sp>
        <p:nvSpPr>
          <p:cNvPr id="320" name="Rounded Rectangle 319"/>
          <p:cNvSpPr/>
          <p:nvPr/>
        </p:nvSpPr>
        <p:spPr>
          <a:xfrm>
            <a:off x="5074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1400" b="1" dirty="0">
                <a:solidFill>
                  <a:srgbClr val="262626"/>
                </a:solidFill>
                <a:latin typeface="Calibri"/>
              </a:rPr>
              <a:t>Embedding Code Diff</a:t>
            </a:r>
            <a:endParaRPr sz="1400" b="1" dirty="0">
              <a:solidFill>
                <a:srgbClr val="262626"/>
              </a:solidFill>
              <a:latin typeface="Calibri"/>
            </a:endParaRPr>
          </a:p>
          <a:p>
            <a:pPr algn="ctr"/>
            <a:r>
              <a:rPr sz="1200" b="0" dirty="0" err="1">
                <a:solidFill>
                  <a:srgbClr val="595959"/>
                </a:solidFill>
                <a:latin typeface="Calibri"/>
              </a:rPr>
              <a:t>UniXcoder</a:t>
            </a:r>
            <a:endParaRPr sz="1200" b="0" dirty="0">
              <a:solidFill>
                <a:srgbClr val="595959"/>
              </a:solidFill>
              <a:latin typeface="Calibri"/>
            </a:endParaRPr>
          </a:p>
        </p:txBody>
      </p:sp>
      <p:sp>
        <p:nvSpPr>
          <p:cNvPr id="321" name="Rounded Rectangle 320"/>
          <p:cNvSpPr/>
          <p:nvPr/>
        </p:nvSpPr>
        <p:spPr>
          <a:xfrm>
            <a:off x="7360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err="1">
                <a:solidFill>
                  <a:srgbClr val="262626"/>
                </a:solidFill>
                <a:latin typeface="Calibri"/>
              </a:rPr>
              <a:t>Huấn</a:t>
            </a:r>
            <a:r>
              <a:rPr sz="1400" b="1" dirty="0">
                <a:solidFill>
                  <a:srgbClr val="262626"/>
                </a:solidFill>
                <a:latin typeface="Calibri"/>
              </a:rPr>
              <a:t> </a:t>
            </a:r>
            <a:r>
              <a:rPr sz="1400" b="1" dirty="0" err="1">
                <a:solidFill>
                  <a:srgbClr val="262626"/>
                </a:solidFill>
                <a:latin typeface="Calibri"/>
              </a:rPr>
              <a:t>luyện</a:t>
            </a:r>
            <a:r>
              <a:rPr sz="1400" b="1" dirty="0">
                <a:solidFill>
                  <a:srgbClr val="262626"/>
                </a:solidFill>
                <a:latin typeface="Calibri"/>
              </a:rPr>
              <a:t> HCL</a:t>
            </a:r>
          </a:p>
          <a:p>
            <a:pPr algn="ctr"/>
            <a:r>
              <a:rPr sz="1200" b="0" dirty="0">
                <a:solidFill>
                  <a:srgbClr val="595959"/>
                </a:solidFill>
                <a:latin typeface="Calibri"/>
              </a:rPr>
              <a:t>loss </a:t>
            </a:r>
            <a:r>
              <a:rPr sz="1200" b="0" dirty="0" err="1">
                <a:solidFill>
                  <a:srgbClr val="595959"/>
                </a:solidFill>
                <a:latin typeface="Calibri"/>
              </a:rPr>
              <a:t>phân</a:t>
            </a:r>
            <a:r>
              <a:rPr sz="1200" b="0" dirty="0">
                <a:solidFill>
                  <a:srgbClr val="595959"/>
                </a:solidFill>
                <a:latin typeface="Calibri"/>
              </a:rPr>
              <a:t> </a:t>
            </a:r>
            <a:r>
              <a:rPr sz="1200" b="0" dirty="0" err="1">
                <a:solidFill>
                  <a:srgbClr val="595959"/>
                </a:solidFill>
                <a:latin typeface="Calibri"/>
              </a:rPr>
              <a:t>cấp</a:t>
            </a:r>
            <a:r>
              <a:rPr sz="1200" b="0" dirty="0">
                <a:solidFill>
                  <a:srgbClr val="595959"/>
                </a:solidFill>
                <a:latin typeface="Calibri"/>
              </a:rPr>
              <a:t> + </a:t>
            </a:r>
            <a:r>
              <a:rPr sz="1200" b="0" dirty="0" err="1">
                <a:solidFill>
                  <a:srgbClr val="595959"/>
                </a:solidFill>
                <a:latin typeface="Calibri"/>
              </a:rPr>
              <a:t>lịch</a:t>
            </a:r>
            <a:r>
              <a:rPr sz="1200" b="0" dirty="0">
                <a:solidFill>
                  <a:srgbClr val="595959"/>
                </a:solidFill>
                <a:latin typeface="Calibri"/>
              </a:rPr>
              <a:t> </a:t>
            </a:r>
            <a:r>
              <a:rPr sz="1200" b="0" dirty="0" err="1">
                <a:solidFill>
                  <a:srgbClr val="595959"/>
                </a:solidFill>
                <a:latin typeface="Calibri"/>
              </a:rPr>
              <a:t>sử</a:t>
            </a:r>
            <a:endParaRPr sz="1200" b="0" dirty="0">
              <a:solidFill>
                <a:srgbClr val="595959"/>
              </a:solidFill>
              <a:latin typeface="Calibri"/>
            </a:endParaRPr>
          </a:p>
        </p:txBody>
      </p:sp>
      <p:sp>
        <p:nvSpPr>
          <p:cNvPr id="322" name="Rounded Rectangle 321"/>
          <p:cNvSpPr/>
          <p:nvPr/>
        </p:nvSpPr>
        <p:spPr>
          <a:xfrm>
            <a:off x="9646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a:solidFill>
                  <a:srgbClr val="262626"/>
                </a:solidFill>
                <a:latin typeface="Calibri"/>
              </a:rPr>
              <a:t>SHAP explainer</a:t>
            </a:r>
          </a:p>
        </p:txBody>
      </p:sp>
      <p:cxnSp>
        <p:nvCxnSpPr>
          <p:cNvPr id="323" name="Connector 322"/>
          <p:cNvCxnSpPr/>
          <p:nvPr/>
        </p:nvCxnSpPr>
        <p:spPr>
          <a:xfrm>
            <a:off x="2377439" y="1897380"/>
            <a:ext cx="411481"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a:off x="4663440" y="1897380"/>
            <a:ext cx="411480"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5" name="Rounded Rectangle 324"/>
          <p:cNvSpPr/>
          <p:nvPr/>
        </p:nvSpPr>
        <p:spPr>
          <a:xfrm>
            <a:off x="502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a:solidFill>
                  <a:srgbClr val="262626"/>
                </a:solidFill>
                <a:latin typeface="Calibri"/>
              </a:rPr>
              <a:t>Push / Pull request</a:t>
            </a:r>
          </a:p>
          <a:p>
            <a:pPr algn="ctr"/>
            <a:r>
              <a:rPr sz="1200" b="0" dirty="0">
                <a:solidFill>
                  <a:srgbClr val="595959"/>
                </a:solidFill>
                <a:latin typeface="Calibri"/>
              </a:rPr>
              <a:t>GitHub webhook</a:t>
            </a:r>
          </a:p>
        </p:txBody>
      </p:sp>
      <p:sp>
        <p:nvSpPr>
          <p:cNvPr id="326" name="Rounded Rectangle 325"/>
          <p:cNvSpPr/>
          <p:nvPr/>
        </p:nvSpPr>
        <p:spPr>
          <a:xfrm>
            <a:off x="2788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err="1">
                <a:solidFill>
                  <a:srgbClr val="262626"/>
                </a:solidFill>
                <a:latin typeface="Calibri"/>
              </a:rPr>
              <a:t>Lấy</a:t>
            </a:r>
            <a:r>
              <a:rPr sz="1400" b="1" dirty="0">
                <a:solidFill>
                  <a:srgbClr val="262626"/>
                </a:solidFill>
                <a:latin typeface="Calibri"/>
              </a:rPr>
              <a:t> diff + metadata</a:t>
            </a:r>
          </a:p>
          <a:p>
            <a:pPr algn="ctr"/>
            <a:r>
              <a:rPr sz="1200" b="0" dirty="0">
                <a:solidFill>
                  <a:srgbClr val="595959"/>
                </a:solidFill>
                <a:latin typeface="Calibri"/>
              </a:rPr>
              <a:t>hunk, file, </a:t>
            </a:r>
            <a:r>
              <a:rPr sz="1200" b="0" dirty="0" err="1">
                <a:solidFill>
                  <a:srgbClr val="595959"/>
                </a:solidFill>
                <a:latin typeface="Calibri"/>
              </a:rPr>
              <a:t>lịch</a:t>
            </a:r>
            <a:r>
              <a:rPr sz="1200" b="0" dirty="0">
                <a:solidFill>
                  <a:srgbClr val="595959"/>
                </a:solidFill>
                <a:latin typeface="Calibri"/>
              </a:rPr>
              <a:t> </a:t>
            </a:r>
            <a:r>
              <a:rPr sz="1200" b="0" dirty="0" err="1">
                <a:solidFill>
                  <a:srgbClr val="595959"/>
                </a:solidFill>
                <a:latin typeface="Calibri"/>
              </a:rPr>
              <a:t>sử</a:t>
            </a:r>
            <a:r>
              <a:rPr sz="1200" b="0" dirty="0">
                <a:solidFill>
                  <a:srgbClr val="595959"/>
                </a:solidFill>
                <a:latin typeface="Calibri"/>
              </a:rPr>
              <a:t> build</a:t>
            </a:r>
          </a:p>
        </p:txBody>
      </p:sp>
      <p:sp>
        <p:nvSpPr>
          <p:cNvPr id="327" name="Rounded Rectangle 326"/>
          <p:cNvSpPr/>
          <p:nvPr/>
        </p:nvSpPr>
        <p:spPr>
          <a:xfrm>
            <a:off x="5074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err="1">
                <a:solidFill>
                  <a:srgbClr val="262626"/>
                </a:solidFill>
                <a:latin typeface="Calibri"/>
              </a:rPr>
              <a:t>Encoder phân cấp</a:t>
            </a:r>
          </a:p>
          <a:p>
            <a:pPr algn="ctr"/>
            <a:r>
              <a:rPr sz="1200" b="0" dirty="0" err="1">
                <a:solidFill>
                  <a:srgbClr val="595959"/>
                </a:solidFill>
                <a:latin typeface="Calibri"/>
              </a:rPr>
              <a:t>hunk → file → commit</a:t>
            </a:r>
            <a:endParaRPr sz="1200" b="0" dirty="0">
              <a:solidFill>
                <a:srgbClr val="595959"/>
              </a:solidFill>
              <a:latin typeface="Calibri"/>
            </a:endParaRPr>
          </a:p>
        </p:txBody>
      </p:sp>
      <p:sp>
        <p:nvSpPr>
          <p:cNvPr id="328" name="Rounded Rectangle 327"/>
          <p:cNvSpPr/>
          <p:nvPr/>
        </p:nvSpPr>
        <p:spPr>
          <a:xfrm>
            <a:off x="7360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a:solidFill>
                  <a:srgbClr val="262626"/>
                </a:solidFill>
                <a:latin typeface="Calibri"/>
              </a:rPr>
              <a:t>Bộ dự đoán HCL</a:t>
            </a:r>
          </a:p>
          <a:p>
            <a:pPr algn="ctr"/>
            <a:r>
              <a:rPr sz="1200" dirty="0">
                <a:solidFill>
                  <a:srgbClr val="595959"/>
                </a:solidFill>
                <a:latin typeface="Calibri"/>
              </a:rPr>
              <a:t>xác suất fail + loại lỗi</a:t>
            </a:r>
          </a:p>
        </p:txBody>
      </p:sp>
      <p:sp>
        <p:nvSpPr>
          <p:cNvPr id="329" name="Rounded Rectangle 328"/>
          <p:cNvSpPr/>
          <p:nvPr/>
        </p:nvSpPr>
        <p:spPr>
          <a:xfrm>
            <a:off x="9646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262626"/>
                </a:solidFill>
                <a:latin typeface="Calibri"/>
              </a:rPr>
              <a:t>Bot comment PR</a:t>
            </a:r>
          </a:p>
          <a:p>
            <a:pPr algn="ctr"/>
            <a:r>
              <a:rPr sz="1200" b="0">
                <a:solidFill>
                  <a:srgbClr val="595959"/>
                </a:solidFill>
                <a:latin typeface="Calibri"/>
              </a:rPr>
              <a:t>lý do, thứ tự chạy job</a:t>
            </a:r>
          </a:p>
        </p:txBody>
      </p:sp>
      <p:cxnSp>
        <p:nvCxnSpPr>
          <p:cNvPr id="330" name="Connector 329"/>
          <p:cNvCxnSpPr/>
          <p:nvPr/>
        </p:nvCxnSpPr>
        <p:spPr>
          <a:xfrm>
            <a:off x="2377439" y="4549140"/>
            <a:ext cx="411481"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4663440" y="4549140"/>
            <a:ext cx="411480"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6949440" y="4549140"/>
            <a:ext cx="411480"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9235440" y="4549140"/>
            <a:ext cx="411480"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6012179" y="2377440"/>
            <a:ext cx="0" cy="1691640"/>
          </a:xfrm>
          <a:prstGeom prst="line">
            <a:avLst/>
          </a:prstGeom>
          <a:ln w="19050">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5" name="TextBox 334"/>
          <p:cNvSpPr txBox="1"/>
          <p:nvPr/>
        </p:nvSpPr>
        <p:spPr>
          <a:xfrm>
            <a:off x="6085331" y="2971800"/>
            <a:ext cx="1280160" cy="274320"/>
          </a:xfrm>
          <a:prstGeom prst="rect">
            <a:avLst/>
          </a:prstGeom>
          <a:noFill/>
        </p:spPr>
        <p:txBody>
          <a:bodyPr wrap="square" lIns="0" tIns="0" rIns="0" bIns="0">
            <a:spAutoFit/>
          </a:bodyPr>
          <a:lstStyle/>
          <a:p>
            <a:pPr algn="l"/>
            <a:r>
              <a:rPr sz="1100" b="0" i="1">
                <a:solidFill>
                  <a:srgbClr val="C0141B"/>
                </a:solidFill>
                <a:latin typeface="Calibri"/>
              </a:rPr>
              <a:t>encoder</a:t>
            </a:r>
          </a:p>
        </p:txBody>
      </p:sp>
      <p:cxnSp>
        <p:nvCxnSpPr>
          <p:cNvPr id="336" name="Connector 335"/>
          <p:cNvCxnSpPr/>
          <p:nvPr/>
        </p:nvCxnSpPr>
        <p:spPr>
          <a:xfrm>
            <a:off x="8298180" y="2377440"/>
            <a:ext cx="0" cy="1691640"/>
          </a:xfrm>
          <a:prstGeom prst="line">
            <a:avLst/>
          </a:prstGeom>
          <a:ln w="19050">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7" name="TextBox 336"/>
          <p:cNvSpPr txBox="1"/>
          <p:nvPr/>
        </p:nvSpPr>
        <p:spPr>
          <a:xfrm>
            <a:off x="8371332" y="2971800"/>
            <a:ext cx="1280160" cy="274320"/>
          </a:xfrm>
          <a:prstGeom prst="rect">
            <a:avLst/>
          </a:prstGeom>
          <a:noFill/>
        </p:spPr>
        <p:txBody>
          <a:bodyPr wrap="square" lIns="0" tIns="0" rIns="0" bIns="0">
            <a:spAutoFit/>
          </a:bodyPr>
          <a:lstStyle/>
          <a:p>
            <a:pPr algn="l"/>
            <a:r>
              <a:rPr sz="1100" b="0" i="1">
                <a:solidFill>
                  <a:srgbClr val="C0141B"/>
                </a:solidFill>
                <a:latin typeface="Calibri"/>
              </a:rPr>
              <a:t>mô hình tốt nhất</a:t>
            </a:r>
          </a:p>
        </p:txBody>
      </p:sp>
      <p:cxnSp>
        <p:nvCxnSpPr>
          <p:cNvPr id="338" name="Connector 337"/>
          <p:cNvCxnSpPr/>
          <p:nvPr/>
        </p:nvCxnSpPr>
        <p:spPr>
          <a:xfrm>
            <a:off x="10584180" y="2377440"/>
            <a:ext cx="0" cy="1691640"/>
          </a:xfrm>
          <a:prstGeom prst="line">
            <a:avLst/>
          </a:prstGeom>
          <a:ln w="19050">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9" name="TextBox 338"/>
          <p:cNvSpPr txBox="1"/>
          <p:nvPr/>
        </p:nvSpPr>
        <p:spPr>
          <a:xfrm>
            <a:off x="10657332" y="2971800"/>
            <a:ext cx="1280160" cy="274320"/>
          </a:xfrm>
          <a:prstGeom prst="rect">
            <a:avLst/>
          </a:prstGeom>
          <a:noFill/>
        </p:spPr>
        <p:txBody>
          <a:bodyPr wrap="square" lIns="0" tIns="0" rIns="0" bIns="0">
            <a:spAutoFit/>
          </a:bodyPr>
          <a:lstStyle/>
          <a:p>
            <a:pPr algn="l"/>
            <a:r>
              <a:rPr sz="1100" b="0" i="1">
                <a:solidFill>
                  <a:srgbClr val="C0141B"/>
                </a:solidFill>
                <a:latin typeface="Calibri"/>
              </a:rPr>
              <a:t>giải thích</a:t>
            </a:r>
          </a:p>
        </p:txBody>
      </p:sp>
    </p:spTree>
    <p:extLst>
      <p:ext uri="{BB962C8B-B14F-4D97-AF65-F5344CB8AC3E}">
        <p14:creationId xmlns:p14="http://schemas.microsoft.com/office/powerpoint/2010/main" val="444211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7966B-1DE5-52D5-A077-5120E269C3AD}"/>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E269349D-DB91-DDDA-D3AD-13FE0661EF77}"/>
              </a:ext>
            </a:extLst>
          </p:cNvPr>
          <p:cNvSpPr txBox="1"/>
          <p:nvPr/>
        </p:nvSpPr>
        <p:spPr>
          <a:xfrm>
            <a:off x="338760" y="1058760"/>
            <a:ext cx="6150000" cy="4908600"/>
          </a:xfrm>
          <a:prstGeom prst="rect">
            <a:avLst/>
          </a:prstGeom>
          <a:noFill/>
          <a:ln>
            <a:noFill/>
          </a:ln>
        </p:spPr>
        <p:txBody>
          <a:bodyPr lIns="90000" tIns="45000" rIns="90000" bIns="45000">
            <a:noAutofit/>
          </a:bodyPr>
          <a:lstStyle/>
          <a:p>
            <a:pPr marL="342900" lvl="0" indent="-342900">
              <a:buFont typeface="Arial" panose="020B0604020202020204" pitchFamily="34" charset="0"/>
              <a:buChar char="•"/>
            </a:pPr>
            <a:r>
              <a:rPr lang="vi-VN" sz="1600" b="1" i="0" dirty="0"/>
              <a:t>Tầng 1 (pass/fail): </a:t>
            </a:r>
            <a:r>
              <a:rPr lang="vi-VN" sz="1600" b="0" i="0" dirty="0"/>
              <a:t>biểu diễn của commit pass và commit fail bị đẩy xa nhau.</a:t>
            </a:r>
          </a:p>
          <a:p>
            <a:pPr marL="342900" lvl="0" indent="-342900">
              <a:buFont typeface="Arial" panose="020B0604020202020204" pitchFamily="34" charset="0"/>
              <a:buChar char="•"/>
            </a:pPr>
            <a:r>
              <a:rPr lang="vi-VN" sz="1600" b="1" i="0" dirty="0"/>
              <a:t>Tầng 2 (loại lỗi): </a:t>
            </a:r>
            <a:r>
              <a:rPr lang="vi-VN" sz="1600" b="0" i="0" dirty="0"/>
              <a:t>trong nhóm fail, cùng loại lỗi (compile/test/lint) gom gần nhau.</a:t>
            </a:r>
          </a:p>
          <a:p>
            <a:pPr marL="342900" lvl="0" indent="-342900">
              <a:buFont typeface="Arial" panose="020B0604020202020204" pitchFamily="34" charset="0"/>
              <a:buChar char="•"/>
            </a:pPr>
            <a:r>
              <a:rPr lang="vi-VN" sz="1600" b="1" i="0" dirty="0"/>
              <a:t>Tầng 3 (lỗi cụ thể): </a:t>
            </a:r>
            <a:r>
              <a:rPr lang="vi-VN" sz="1600" b="0" i="0" dirty="0"/>
              <a:t>cùng dạng lỗi chi tiết, ví dụ lint do format hay do checkstyle, gom gần nhau hơn nữa.</a:t>
            </a:r>
          </a:p>
          <a:p>
            <a:pPr marL="342900" lvl="0" indent="-342900">
              <a:buFont typeface="Arial" panose="020B0604020202020204" pitchFamily="34" charset="0"/>
              <a:buChar char="•"/>
            </a:pPr>
            <a:r>
              <a:rPr lang="vi-VN" sz="1600" b="1" i="0" dirty="0"/>
              <a:t>Input:</a:t>
            </a:r>
            <a:r>
              <a:rPr lang="en-US" sz="1600" b="1" i="0" dirty="0"/>
              <a:t> </a:t>
            </a:r>
            <a:r>
              <a:rPr lang="en-US" sz="1600" i="0" dirty="0"/>
              <a:t>Code diff</a:t>
            </a:r>
            <a:r>
              <a:rPr lang="vi-VN" sz="1600" b="0" i="0" dirty="0"/>
              <a:t>, ghép thêm feature lịch sử build.</a:t>
            </a:r>
          </a:p>
          <a:p>
            <a:pPr marL="342900" lvl="0" indent="-342900">
              <a:buFont typeface="Arial" panose="020B0604020202020204" pitchFamily="34" charset="0"/>
              <a:buChar char="•"/>
            </a:pPr>
            <a:r>
              <a:rPr lang="vi-VN" sz="1600" b="1" i="0" dirty="0"/>
              <a:t>Loss: </a:t>
            </a:r>
            <a:r>
              <a:rPr lang="vi-VN" sz="1600" b="0" i="0" dirty="0"/>
              <a:t>L = L_cls + λ₁·L_tầng 1 + λ₂·L_tầng 2 + λ₃·L_tầng 3</a:t>
            </a:r>
          </a:p>
          <a:p>
            <a:pPr marL="342900" lvl="0" indent="-342900">
              <a:buFont typeface="Arial" panose="020B0604020202020204" pitchFamily="34" charset="0"/>
              <a:buChar char="•"/>
            </a:pPr>
            <a:r>
              <a:rPr lang="vi-VN" sz="1600" b="1" i="0" dirty="0"/>
              <a:t>Kỳ vọng học được: </a:t>
            </a:r>
            <a:endParaRPr lang="en-US" sz="1600" b="1" i="0" dirty="0"/>
          </a:p>
          <a:p>
            <a:pPr marL="800100" lvl="1" indent="-342900">
              <a:buFont typeface="Arial" panose="020B0604020202020204" pitchFamily="34" charset="0"/>
              <a:buChar char="•"/>
            </a:pPr>
            <a:r>
              <a:rPr lang="en-US" sz="1600" b="0" i="0" dirty="0"/>
              <a:t>Đ</a:t>
            </a:r>
            <a:r>
              <a:rPr lang="vi-VN" sz="1600" b="0" i="0" dirty="0"/>
              <a:t>ổi chữ ký method </a:t>
            </a:r>
            <a:r>
              <a:rPr lang="en-US" sz="1600" dirty="0" err="1"/>
              <a:t>dễ</a:t>
            </a:r>
            <a:r>
              <a:rPr lang="en-US" sz="1600" dirty="0"/>
              <a:t> </a:t>
            </a:r>
            <a:r>
              <a:rPr lang="en-US" sz="1600" dirty="0" err="1"/>
              <a:t>lỗi</a:t>
            </a:r>
            <a:r>
              <a:rPr lang="vi-VN" sz="1600" b="0" i="0" dirty="0"/>
              <a:t> compile</a:t>
            </a:r>
            <a:endParaRPr lang="en-US" sz="1600" b="0" i="0" dirty="0"/>
          </a:p>
          <a:p>
            <a:pPr marL="800100" lvl="1" indent="-342900">
              <a:buFont typeface="Arial" panose="020B0604020202020204" pitchFamily="34" charset="0"/>
              <a:buChar char="•"/>
            </a:pPr>
            <a:r>
              <a:rPr lang="en-US" sz="1600" dirty="0"/>
              <a:t>Đ</a:t>
            </a:r>
            <a:r>
              <a:rPr lang="vi-VN" sz="1600" b="0" i="0" dirty="0"/>
              <a:t>ổi logic không sửa test </a:t>
            </a:r>
            <a:r>
              <a:rPr lang="en-US" sz="1600" b="0" i="0" dirty="0" err="1"/>
              <a:t>dễ</a:t>
            </a:r>
            <a:r>
              <a:rPr lang="vi-VN" sz="1600" b="0" i="0" dirty="0"/>
              <a:t> </a:t>
            </a:r>
            <a:r>
              <a:rPr lang="en-US" sz="1600" b="0" i="0" dirty="0" err="1"/>
              <a:t>lỗi</a:t>
            </a:r>
            <a:r>
              <a:rPr lang="en-US" sz="1600" b="0" i="0" dirty="0"/>
              <a:t> </a:t>
            </a:r>
            <a:r>
              <a:rPr lang="vi-VN" sz="1600" b="0" i="0" dirty="0"/>
              <a:t>test</a:t>
            </a:r>
            <a:endParaRPr lang="en-US" sz="1600" b="0" i="0" dirty="0"/>
          </a:p>
          <a:p>
            <a:pPr marL="800100" lvl="1" indent="-342900">
              <a:buFont typeface="Arial" panose="020B0604020202020204" pitchFamily="34" charset="0"/>
              <a:buChar char="•"/>
            </a:pPr>
            <a:r>
              <a:rPr lang="en-US" sz="1600" dirty="0"/>
              <a:t>S</a:t>
            </a:r>
            <a:r>
              <a:rPr lang="vi-VN" sz="1600" b="0" i="0" dirty="0"/>
              <a:t>ai format/checkstyle </a:t>
            </a:r>
            <a:r>
              <a:rPr lang="en-US" sz="1600" b="0" i="0" dirty="0" err="1"/>
              <a:t>dễ</a:t>
            </a:r>
            <a:r>
              <a:rPr lang="en-US" sz="1600" b="0" i="0" dirty="0"/>
              <a:t> </a:t>
            </a:r>
            <a:r>
              <a:rPr lang="en-US" sz="1600" b="0" i="0" dirty="0" err="1"/>
              <a:t>lỗi</a:t>
            </a:r>
            <a:r>
              <a:rPr lang="vi-VN" sz="1600" b="0" i="0" dirty="0"/>
              <a:t> lint</a:t>
            </a:r>
            <a:endParaRPr lang="en-US" sz="1600" b="0" i="0" dirty="0"/>
          </a:p>
          <a:p>
            <a:pPr marL="800100" lvl="1" indent="-342900">
              <a:buFont typeface="Arial" panose="020B0604020202020204" pitchFamily="34" charset="0"/>
              <a:buChar char="•"/>
            </a:pPr>
            <a:r>
              <a:rPr lang="en-US" sz="1600" dirty="0"/>
              <a:t>...</a:t>
            </a:r>
            <a:endParaRPr lang="vi-VN" sz="1600" b="0" i="0" dirty="0"/>
          </a:p>
        </p:txBody>
      </p:sp>
      <p:sp>
        <p:nvSpPr>
          <p:cNvPr id="313" name="TextShape 2">
            <a:extLst>
              <a:ext uri="{FF2B5EF4-FFF2-40B4-BE49-F238E27FC236}">
                <a16:creationId xmlns:a16="http://schemas.microsoft.com/office/drawing/2014/main" id="{9BBE9FD3-A9D5-71FE-72E3-672B6138213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dirty="0">
                <a:solidFill>
                  <a:schemeClr val="bg1"/>
                </a:solidFill>
                <a:latin typeface="Calibri"/>
              </a:rPr>
              <a:t>7. </a:t>
            </a:r>
            <a:r>
              <a:rPr lang="en-US" sz="3200" b="0" i="0" spc="-1" dirty="0" err="1">
                <a:solidFill>
                  <a:schemeClr val="bg1"/>
                </a:solidFill>
                <a:latin typeface="Calibri"/>
              </a:rPr>
              <a:t>Mô</a:t>
            </a:r>
            <a:r>
              <a:rPr lang="en-US" sz="3200" b="0" i="0" spc="-1" dirty="0">
                <a:solidFill>
                  <a:schemeClr val="bg1"/>
                </a:solidFill>
                <a:latin typeface="Calibri"/>
              </a:rPr>
              <a:t> </a:t>
            </a:r>
            <a:r>
              <a:rPr lang="en-US" sz="3200" b="0" i="0" spc="-1" dirty="0" err="1">
                <a:solidFill>
                  <a:schemeClr val="bg1"/>
                </a:solidFill>
                <a:latin typeface="Calibri"/>
              </a:rPr>
              <a:t>hình</a:t>
            </a:r>
            <a:r>
              <a:rPr lang="en-US" sz="3200" b="0" i="0" spc="-1" dirty="0">
                <a:solidFill>
                  <a:schemeClr val="bg1"/>
                </a:solidFill>
                <a:latin typeface="Calibri"/>
              </a:rPr>
              <a:t> HCL: </a:t>
            </a:r>
            <a:r>
              <a:rPr lang="en-US" sz="3200" b="0" i="0" spc="-1" dirty="0" err="1">
                <a:solidFill>
                  <a:schemeClr val="bg1"/>
                </a:solidFill>
                <a:latin typeface="Calibri"/>
              </a:rPr>
              <a:t>học</a:t>
            </a:r>
            <a:r>
              <a:rPr lang="en-US" sz="3200" b="0" i="0" spc="-1" dirty="0">
                <a:solidFill>
                  <a:schemeClr val="bg1"/>
                </a:solidFill>
                <a:latin typeface="Calibri"/>
              </a:rPr>
              <a:t> </a:t>
            </a:r>
            <a:r>
              <a:rPr lang="en-US" sz="3200" b="0" i="0" spc="-1" dirty="0" err="1">
                <a:solidFill>
                  <a:schemeClr val="bg1"/>
                </a:solidFill>
                <a:latin typeface="Calibri"/>
              </a:rPr>
              <a:t>theo</a:t>
            </a:r>
            <a:r>
              <a:rPr lang="en-US" sz="3200" b="0" i="0" spc="-1" dirty="0">
                <a:solidFill>
                  <a:schemeClr val="bg1"/>
                </a:solidFill>
                <a:latin typeface="Calibri"/>
              </a:rPr>
              <a:t> </a:t>
            </a:r>
            <a:r>
              <a:rPr lang="en-US" sz="3200" b="0" i="0" spc="-1" dirty="0" err="1">
                <a:solidFill>
                  <a:schemeClr val="bg1"/>
                </a:solidFill>
                <a:latin typeface="Calibri"/>
              </a:rPr>
              <a:t>cây</a:t>
            </a:r>
            <a:r>
              <a:rPr lang="en-US" sz="3200" b="0" i="0" spc="-1" dirty="0">
                <a:solidFill>
                  <a:schemeClr val="bg1"/>
                </a:solidFill>
                <a:latin typeface="Calibri"/>
              </a:rPr>
              <a:t> </a:t>
            </a:r>
            <a:r>
              <a:rPr lang="en-US" sz="3200" b="0" i="0" spc="-1" dirty="0" err="1">
                <a:solidFill>
                  <a:schemeClr val="bg1"/>
                </a:solidFill>
                <a:latin typeface="Calibri"/>
              </a:rPr>
              <a:t>loại</a:t>
            </a:r>
            <a:r>
              <a:rPr lang="en-US" sz="3200" b="0" i="0" spc="-1" dirty="0">
                <a:solidFill>
                  <a:schemeClr val="bg1"/>
                </a:solidFill>
                <a:latin typeface="Calibri"/>
              </a:rPr>
              <a:t> </a:t>
            </a:r>
            <a:r>
              <a:rPr lang="en-US" sz="3200" b="0" i="0" spc="-1" dirty="0" err="1">
                <a:solidFill>
                  <a:schemeClr val="bg1"/>
                </a:solidFill>
                <a:latin typeface="Calibri"/>
              </a:rPr>
              <a:t>lỗi</a:t>
            </a:r>
            <a:endParaRPr lang="en-US" sz="3200" spc="-1" dirty="0">
              <a:solidFill>
                <a:schemeClr val="bg1"/>
              </a:solidFill>
              <a:latin typeface="Calibri"/>
            </a:endParaRPr>
          </a:p>
        </p:txBody>
      </p:sp>
      <p:sp>
        <p:nvSpPr>
          <p:cNvPr id="500" name="Tree Box 500"/>
          <p:cNvSpPr/>
          <p:nvPr/>
        </p:nvSpPr>
        <p:spPr>
          <a:xfrm>
            <a:off x="8001000" y="1080000"/>
            <a:ext cx="1905000" cy="440000"/>
          </a:xfrm>
          <a:prstGeom prst="roundRect">
            <a:avLst>
              <a:gd name="adj" fmla="val 12000"/>
            </a:avLst>
          </a:prstGeom>
          <a:solidFill>
            <a:srgbClr val="E8EEF6"/>
          </a:solidFill>
          <a:ln w="15875">
            <a:solidFill>
              <a:srgbClr val="013364"/>
            </a:solidFill>
          </a:ln>
          <a:effectLst/>
        </p:spPr>
        <p:txBody>
          <a:bodyPr wrap="square" lIns="45720" tIns="27432" rIns="45720" bIns="27432" rtlCol="0" anchor="ctr">
            <a:normAutofit/>
          </a:bodyPr>
          <a:lstStyle/>
          <a:p>
            <a:pPr algn="ctr"/>
            <a:r>
              <a:rPr lang="vi-VN" sz="1300" b="1">
                <a:solidFill>
                  <a:srgbClr val="262626"/>
                </a:solidFill>
                <a:latin typeface="Calibri"/>
              </a:rPr>
              <a:t>Lần build (commit)</a:t>
            </a:r>
          </a:p>
        </p:txBody>
      </p:sp>
      <p:cxnSp>
        <p:nvCxnSpPr>
          <p:cNvPr id="501" name="Tree Line 501"/>
          <p:cNvCxnSpPr/>
          <p:nvPr/>
        </p:nvCxnSpPr>
        <p:spPr>
          <a:xfrm>
            <a:off x="8953500" y="1520000"/>
            <a:ext cx="0" cy="120000"/>
          </a:xfrm>
          <a:prstGeom prst="line">
            <a:avLst/>
          </a:prstGeom>
          <a:ln w="15875">
            <a:solidFill>
              <a:srgbClr val="013364"/>
            </a:solidFill>
          </a:ln>
        </p:spPr>
      </p:cxnSp>
      <p:cxnSp>
        <p:nvCxnSpPr>
          <p:cNvPr id="502" name="Tree Line 502"/>
          <p:cNvCxnSpPr/>
          <p:nvPr/>
        </p:nvCxnSpPr>
        <p:spPr>
          <a:xfrm>
            <a:off x="7823200" y="1640000"/>
            <a:ext cx="2273300" cy="0"/>
          </a:xfrm>
          <a:prstGeom prst="line">
            <a:avLst/>
          </a:prstGeom>
          <a:ln w="15875">
            <a:solidFill>
              <a:srgbClr val="013364"/>
            </a:solidFill>
          </a:ln>
        </p:spPr>
      </p:cxnSp>
      <p:cxnSp>
        <p:nvCxnSpPr>
          <p:cNvPr id="503" name="Tree Line 503"/>
          <p:cNvCxnSpPr/>
          <p:nvPr/>
        </p:nvCxnSpPr>
        <p:spPr>
          <a:xfrm>
            <a:off x="7823200" y="1640000"/>
            <a:ext cx="0" cy="120000"/>
          </a:xfrm>
          <a:prstGeom prst="line">
            <a:avLst/>
          </a:prstGeom>
          <a:ln w="15875">
            <a:solidFill>
              <a:srgbClr val="013364"/>
            </a:solidFill>
          </a:ln>
        </p:spPr>
      </p:cxnSp>
      <p:cxnSp>
        <p:nvCxnSpPr>
          <p:cNvPr id="504" name="Tree Line 504"/>
          <p:cNvCxnSpPr/>
          <p:nvPr/>
        </p:nvCxnSpPr>
        <p:spPr>
          <a:xfrm>
            <a:off x="10096500" y="1640000"/>
            <a:ext cx="0" cy="120000"/>
          </a:xfrm>
          <a:prstGeom prst="line">
            <a:avLst/>
          </a:prstGeom>
          <a:ln w="15875">
            <a:solidFill>
              <a:srgbClr val="013364"/>
            </a:solidFill>
          </a:ln>
        </p:spPr>
      </p:cxnSp>
      <p:sp>
        <p:nvSpPr>
          <p:cNvPr id="505" name="Tree Box 505"/>
          <p:cNvSpPr/>
          <p:nvPr/>
        </p:nvSpPr>
        <p:spPr>
          <a:xfrm>
            <a:off x="7188200" y="1760000"/>
            <a:ext cx="1270000" cy="480000"/>
          </a:xfrm>
          <a:prstGeom prst="roundRect">
            <a:avLst>
              <a:gd name="adj" fmla="val 12000"/>
            </a:avLst>
          </a:prstGeom>
          <a:solidFill>
            <a:srgbClr val="E8F3EA"/>
          </a:solidFill>
          <a:ln w="15875">
            <a:solidFill>
              <a:srgbClr val="2E7D32"/>
            </a:solidFill>
          </a:ln>
          <a:effectLst/>
        </p:spPr>
        <p:txBody>
          <a:bodyPr wrap="square" lIns="45720" tIns="27432" rIns="45720" bIns="27432" rtlCol="0" anchor="ctr">
            <a:normAutofit/>
          </a:bodyPr>
          <a:lstStyle/>
          <a:p>
            <a:pPr algn="ctr"/>
            <a:r>
              <a:rPr lang="vi-VN" sz="1300" b="1">
                <a:solidFill>
                  <a:srgbClr val="262626"/>
                </a:solidFill>
                <a:latin typeface="Calibri"/>
              </a:rPr>
              <a:t>pass</a:t>
            </a:r>
          </a:p>
        </p:txBody>
      </p:sp>
      <p:sp>
        <p:nvSpPr>
          <p:cNvPr id="506" name="Tree Box 506"/>
          <p:cNvSpPr/>
          <p:nvPr/>
        </p:nvSpPr>
        <p:spPr>
          <a:xfrm>
            <a:off x="9398000" y="1760000"/>
            <a:ext cx="1397000" cy="480000"/>
          </a:xfrm>
          <a:prstGeom prst="roundRect">
            <a:avLst>
              <a:gd name="adj" fmla="val 12000"/>
            </a:avLst>
          </a:prstGeom>
          <a:solidFill>
            <a:srgbClr val="FBE9E9"/>
          </a:solidFill>
          <a:ln w="15875">
            <a:solidFill>
              <a:srgbClr val="C00000"/>
            </a:solidFill>
          </a:ln>
          <a:effectLst/>
        </p:spPr>
        <p:txBody>
          <a:bodyPr wrap="square" lIns="45720" tIns="27432" rIns="45720" bIns="27432" rtlCol="0" anchor="ctr">
            <a:normAutofit/>
          </a:bodyPr>
          <a:lstStyle/>
          <a:p>
            <a:pPr algn="ctr"/>
            <a:r>
              <a:rPr lang="vi-VN" sz="1300" b="1">
                <a:solidFill>
                  <a:srgbClr val="262626"/>
                </a:solidFill>
                <a:latin typeface="Calibri"/>
              </a:rPr>
              <a:t>fail</a:t>
            </a:r>
          </a:p>
        </p:txBody>
      </p:sp>
      <p:cxnSp>
        <p:nvCxnSpPr>
          <p:cNvPr id="507" name="Tree Line 507"/>
          <p:cNvCxnSpPr/>
          <p:nvPr/>
        </p:nvCxnSpPr>
        <p:spPr>
          <a:xfrm>
            <a:off x="10096500" y="2240000"/>
            <a:ext cx="0" cy="320000"/>
          </a:xfrm>
          <a:prstGeom prst="line">
            <a:avLst/>
          </a:prstGeom>
          <a:ln w="15875">
            <a:solidFill>
              <a:srgbClr val="013364"/>
            </a:solidFill>
          </a:ln>
        </p:spPr>
      </p:cxnSp>
      <p:cxnSp>
        <p:nvCxnSpPr>
          <p:cNvPr id="508" name="Tree Line 508"/>
          <p:cNvCxnSpPr/>
          <p:nvPr/>
        </p:nvCxnSpPr>
        <p:spPr>
          <a:xfrm>
            <a:off x="7721600" y="2560000"/>
            <a:ext cx="3543300" cy="0"/>
          </a:xfrm>
          <a:prstGeom prst="line">
            <a:avLst/>
          </a:prstGeom>
          <a:ln w="15875">
            <a:solidFill>
              <a:srgbClr val="013364"/>
            </a:solidFill>
          </a:ln>
        </p:spPr>
      </p:cxnSp>
      <p:cxnSp>
        <p:nvCxnSpPr>
          <p:cNvPr id="509" name="Tree Line 509"/>
          <p:cNvCxnSpPr/>
          <p:nvPr/>
        </p:nvCxnSpPr>
        <p:spPr>
          <a:xfrm>
            <a:off x="7721600" y="2560000"/>
            <a:ext cx="0" cy="160000"/>
          </a:xfrm>
          <a:prstGeom prst="line">
            <a:avLst/>
          </a:prstGeom>
          <a:ln w="15875">
            <a:solidFill>
              <a:srgbClr val="013364"/>
            </a:solidFill>
          </a:ln>
        </p:spPr>
      </p:cxnSp>
      <p:cxnSp>
        <p:nvCxnSpPr>
          <p:cNvPr id="510" name="Tree Line 510"/>
          <p:cNvCxnSpPr/>
          <p:nvPr/>
        </p:nvCxnSpPr>
        <p:spPr>
          <a:xfrm>
            <a:off x="8902700" y="2560000"/>
            <a:ext cx="0" cy="160000"/>
          </a:xfrm>
          <a:prstGeom prst="line">
            <a:avLst/>
          </a:prstGeom>
          <a:ln w="15875">
            <a:solidFill>
              <a:srgbClr val="013364"/>
            </a:solidFill>
          </a:ln>
        </p:spPr>
      </p:cxnSp>
      <p:cxnSp>
        <p:nvCxnSpPr>
          <p:cNvPr id="511" name="Tree Line 511"/>
          <p:cNvCxnSpPr/>
          <p:nvPr/>
        </p:nvCxnSpPr>
        <p:spPr>
          <a:xfrm>
            <a:off x="10083800" y="2560000"/>
            <a:ext cx="0" cy="160000"/>
          </a:xfrm>
          <a:prstGeom prst="line">
            <a:avLst/>
          </a:prstGeom>
          <a:ln w="15875">
            <a:solidFill>
              <a:srgbClr val="013364"/>
            </a:solidFill>
          </a:ln>
        </p:spPr>
      </p:cxnSp>
      <p:cxnSp>
        <p:nvCxnSpPr>
          <p:cNvPr id="512" name="Tree Line 512"/>
          <p:cNvCxnSpPr/>
          <p:nvPr/>
        </p:nvCxnSpPr>
        <p:spPr>
          <a:xfrm>
            <a:off x="11264900" y="2560000"/>
            <a:ext cx="0" cy="160000"/>
          </a:xfrm>
          <a:prstGeom prst="line">
            <a:avLst/>
          </a:prstGeom>
          <a:ln w="15875">
            <a:solidFill>
              <a:srgbClr val="013364"/>
            </a:solidFill>
          </a:ln>
        </p:spPr>
      </p:cxnSp>
      <p:sp>
        <p:nvSpPr>
          <p:cNvPr id="513" name="Tree Box 513"/>
          <p:cNvSpPr/>
          <p:nvPr/>
        </p:nvSpPr>
        <p:spPr>
          <a:xfrm>
            <a:off x="7175500" y="2720000"/>
            <a:ext cx="1092200" cy="520000"/>
          </a:xfrm>
          <a:prstGeom prst="roundRect">
            <a:avLst>
              <a:gd name="adj" fmla="val 12000"/>
            </a:avLst>
          </a:prstGeom>
          <a:solidFill>
            <a:srgbClr val="FDF5F5"/>
          </a:solidFill>
          <a:ln w="15875">
            <a:solidFill>
              <a:srgbClr val="C00000"/>
            </a:solidFill>
          </a:ln>
          <a:effectLst/>
        </p:spPr>
        <p:txBody>
          <a:bodyPr wrap="square" lIns="45720" tIns="27432" rIns="45720" bIns="27432" rtlCol="0" anchor="ctr">
            <a:normAutofit/>
          </a:bodyPr>
          <a:lstStyle/>
          <a:p>
            <a:pPr algn="ctr"/>
            <a:r>
              <a:rPr lang="vi-VN" sz="1300" b="1">
                <a:solidFill>
                  <a:srgbClr val="262626"/>
                </a:solidFill>
                <a:latin typeface="Calibri"/>
              </a:rPr>
              <a:t>compile</a:t>
            </a:r>
          </a:p>
          <a:p>
            <a:pPr algn="ctr"/>
            <a:r>
              <a:rPr lang="vi-VN" sz="1000" b="0">
                <a:solidFill>
                  <a:srgbClr val="595959"/>
                </a:solidFill>
                <a:latin typeface="Calibri"/>
              </a:rPr>
              <a:t>14% commit fail</a:t>
            </a:r>
          </a:p>
        </p:txBody>
      </p:sp>
      <p:sp>
        <p:nvSpPr>
          <p:cNvPr id="514" name="Tree Box 514"/>
          <p:cNvSpPr/>
          <p:nvPr/>
        </p:nvSpPr>
        <p:spPr>
          <a:xfrm>
            <a:off x="8356600" y="2720000"/>
            <a:ext cx="1092200" cy="520000"/>
          </a:xfrm>
          <a:prstGeom prst="roundRect">
            <a:avLst>
              <a:gd name="adj" fmla="val 12000"/>
            </a:avLst>
          </a:prstGeom>
          <a:solidFill>
            <a:srgbClr val="FDF5F5"/>
          </a:solidFill>
          <a:ln w="15875">
            <a:solidFill>
              <a:srgbClr val="C00000"/>
            </a:solidFill>
          </a:ln>
          <a:effectLst/>
        </p:spPr>
        <p:txBody>
          <a:bodyPr wrap="square" lIns="45720" tIns="27432" rIns="45720" bIns="27432" rtlCol="0" anchor="ctr">
            <a:normAutofit/>
          </a:bodyPr>
          <a:lstStyle/>
          <a:p>
            <a:pPr algn="ctr"/>
            <a:r>
              <a:rPr lang="vi-VN" sz="1300" b="1">
                <a:solidFill>
                  <a:srgbClr val="262626"/>
                </a:solidFill>
                <a:latin typeface="Calibri"/>
              </a:rPr>
              <a:t>test</a:t>
            </a:r>
          </a:p>
          <a:p>
            <a:pPr algn="ctr"/>
            <a:r>
              <a:rPr lang="vi-VN" sz="1000" b="0">
                <a:solidFill>
                  <a:srgbClr val="595959"/>
                </a:solidFill>
                <a:latin typeface="Calibri"/>
              </a:rPr>
              <a:t>74% commit fail</a:t>
            </a:r>
          </a:p>
        </p:txBody>
      </p:sp>
      <p:sp>
        <p:nvSpPr>
          <p:cNvPr id="515" name="Tree Box 515"/>
          <p:cNvSpPr/>
          <p:nvPr/>
        </p:nvSpPr>
        <p:spPr>
          <a:xfrm>
            <a:off x="9537700" y="2720000"/>
            <a:ext cx="1092200" cy="520000"/>
          </a:xfrm>
          <a:prstGeom prst="roundRect">
            <a:avLst>
              <a:gd name="adj" fmla="val 12000"/>
            </a:avLst>
          </a:prstGeom>
          <a:solidFill>
            <a:srgbClr val="FDF5F5"/>
          </a:solidFill>
          <a:ln w="15875">
            <a:solidFill>
              <a:srgbClr val="C00000"/>
            </a:solidFill>
          </a:ln>
          <a:effectLst/>
        </p:spPr>
        <p:txBody>
          <a:bodyPr wrap="square" lIns="45720" tIns="27432" rIns="45720" bIns="27432" rtlCol="0" anchor="ctr">
            <a:normAutofit/>
          </a:bodyPr>
          <a:lstStyle/>
          <a:p>
            <a:pPr algn="ctr"/>
            <a:r>
              <a:rPr lang="vi-VN" sz="1300" b="1">
                <a:solidFill>
                  <a:srgbClr val="262626"/>
                </a:solidFill>
                <a:latin typeface="Calibri"/>
              </a:rPr>
              <a:t>lint</a:t>
            </a:r>
          </a:p>
          <a:p>
            <a:pPr algn="ctr"/>
            <a:r>
              <a:rPr lang="vi-VN" sz="1000" b="0">
                <a:solidFill>
                  <a:srgbClr val="595959"/>
                </a:solidFill>
                <a:latin typeface="Calibri"/>
              </a:rPr>
              <a:t>12% commit fail</a:t>
            </a:r>
          </a:p>
        </p:txBody>
      </p:sp>
      <p:sp>
        <p:nvSpPr>
          <p:cNvPr id="516" name="Tree Box 516"/>
          <p:cNvSpPr/>
          <p:nvPr/>
        </p:nvSpPr>
        <p:spPr>
          <a:xfrm>
            <a:off x="10718800" y="2720000"/>
            <a:ext cx="1092200" cy="520000"/>
          </a:xfrm>
          <a:prstGeom prst="roundRect">
            <a:avLst>
              <a:gd name="adj" fmla="val 12000"/>
            </a:avLst>
          </a:prstGeom>
          <a:solidFill>
            <a:srgbClr val="F2F2F2"/>
          </a:solidFill>
          <a:ln w="15875">
            <a:solidFill>
              <a:srgbClr val="A6A6A6"/>
            </a:solidFill>
          </a:ln>
          <a:effectLst/>
        </p:spPr>
        <p:txBody>
          <a:bodyPr wrap="square" lIns="45720" tIns="27432" rIns="45720" bIns="27432" rtlCol="0" anchor="ctr">
            <a:normAutofit/>
          </a:bodyPr>
          <a:lstStyle/>
          <a:p>
            <a:pPr algn="ctr"/>
            <a:r>
              <a:rPr lang="vi-VN" sz="1300" b="1">
                <a:solidFill>
                  <a:srgbClr val="262626"/>
                </a:solidFill>
                <a:latin typeface="Calibri"/>
              </a:rPr>
              <a:t>infra/flaky</a:t>
            </a:r>
          </a:p>
          <a:p>
            <a:pPr algn="ctr"/>
            <a:r>
              <a:rPr lang="vi-VN" sz="1000" b="0">
                <a:solidFill>
                  <a:srgbClr val="595959"/>
                </a:solidFill>
                <a:latin typeface="Calibri"/>
              </a:rPr>
              <a:t>không do code, không huấn luyện</a:t>
            </a:r>
          </a:p>
        </p:txBody>
      </p:sp>
      <p:sp>
        <p:nvSpPr>
          <p:cNvPr id="517" name="Tree Text 517"/>
          <p:cNvSpPr txBox="1"/>
          <p:nvPr/>
        </p:nvSpPr>
        <p:spPr>
          <a:xfrm>
            <a:off x="11049000" y="1870000"/>
            <a:ext cx="889000" cy="300000"/>
          </a:xfrm>
          <a:prstGeom prst="rect">
            <a:avLst/>
          </a:prstGeom>
          <a:noFill/>
        </p:spPr>
        <p:txBody>
          <a:bodyPr wrap="square" lIns="0" tIns="0" rIns="0" bIns="0" rtlCol="0" anchor="t">
            <a:noAutofit/>
          </a:bodyPr>
          <a:lstStyle/>
          <a:p>
            <a:r>
              <a:rPr lang="vi-VN" sz="1100" b="1" i="0">
                <a:solidFill>
                  <a:srgbClr val="013364"/>
                </a:solidFill>
                <a:latin typeface="Calibri"/>
              </a:rPr>
              <a:t>Tầng 1</a:t>
            </a:r>
          </a:p>
        </p:txBody>
      </p:sp>
      <p:sp>
        <p:nvSpPr>
          <p:cNvPr id="518" name="Tree Text 518"/>
          <p:cNvSpPr txBox="1"/>
          <p:nvPr/>
        </p:nvSpPr>
        <p:spPr>
          <a:xfrm>
            <a:off x="6560000" y="2850000"/>
            <a:ext cx="580000" cy="254000"/>
          </a:xfrm>
          <a:prstGeom prst="rect">
            <a:avLst/>
          </a:prstGeom>
          <a:noFill/>
        </p:spPr>
        <p:txBody>
          <a:bodyPr wrap="square" lIns="0" tIns="0" rIns="0" bIns="0" rtlCol="0" anchor="t">
            <a:noAutofit/>
          </a:bodyPr>
          <a:lstStyle/>
          <a:p>
            <a:r>
              <a:rPr lang="vi-VN" sz="1100" b="1" i="0">
                <a:solidFill>
                  <a:srgbClr val="013364"/>
                </a:solidFill>
                <a:latin typeface="Calibri"/>
              </a:rPr>
              <a:t>Tầng 2</a:t>
            </a:r>
          </a:p>
        </p:txBody>
      </p:sp>
      <p:cxnSp>
        <p:nvCxnSpPr>
          <p:cNvPr id="600" name="Tree Line 600"/>
          <p:cNvCxnSpPr/>
          <p:nvPr/>
        </p:nvCxnSpPr>
        <p:spPr>
          <a:xfrm>
            <a:off x="7721600" y="3240000"/>
            <a:ext cx="0" cy="260000"/>
          </a:xfrm>
          <a:prstGeom prst="line">
            <a:avLst/>
          </a:prstGeom>
          <a:ln w="15875">
            <a:solidFill>
              <a:srgbClr val="013364"/>
            </a:solidFill>
          </a:ln>
        </p:spPr>
      </p:cxnSp>
      <p:sp>
        <p:nvSpPr>
          <p:cNvPr id="601" name="Tree Box 601"/>
          <p:cNvSpPr/>
          <p:nvPr/>
        </p:nvSpPr>
        <p:spPr>
          <a:xfrm>
            <a:off x="7175500" y="3500000"/>
            <a:ext cx="1092200" cy="1000000"/>
          </a:xfrm>
          <a:prstGeom prst="roundRect">
            <a:avLst>
              <a:gd name="adj" fmla="val 12000"/>
            </a:avLst>
          </a:prstGeom>
          <a:solidFill>
            <a:srgbClr val="FFFFFF"/>
          </a:solidFill>
          <a:ln w="15875">
            <a:solidFill>
              <a:srgbClr val="C00000"/>
            </a:solidFill>
          </a:ln>
          <a:effectLst/>
        </p:spPr>
        <p:txBody>
          <a:bodyPr wrap="square" lIns="45720" tIns="27432" rIns="45720" bIns="27432" rtlCol="0" anchor="ctr">
            <a:noAutofit/>
          </a:bodyPr>
          <a:lstStyle/>
          <a:p>
            <a:pPr algn="ctr"/>
            <a:r>
              <a:rPr lang="vi-VN" sz="1050" b="0" dirty="0">
                <a:solidFill>
                  <a:srgbClr val="404040"/>
                </a:solidFill>
                <a:latin typeface="Calibri"/>
              </a:rPr>
              <a:t>main code 82%</a:t>
            </a:r>
          </a:p>
          <a:p>
            <a:pPr algn="ctr"/>
            <a:r>
              <a:rPr lang="vi-VN" sz="1050" b="0" dirty="0">
                <a:solidFill>
                  <a:srgbClr val="404040"/>
                </a:solidFill>
                <a:latin typeface="Calibri"/>
              </a:rPr>
              <a:t>test code 18%</a:t>
            </a:r>
          </a:p>
        </p:txBody>
      </p:sp>
      <p:cxnSp>
        <p:nvCxnSpPr>
          <p:cNvPr id="602" name="Tree Line 602"/>
          <p:cNvCxnSpPr/>
          <p:nvPr/>
        </p:nvCxnSpPr>
        <p:spPr>
          <a:xfrm>
            <a:off x="8902700" y="3240000"/>
            <a:ext cx="0" cy="260000"/>
          </a:xfrm>
          <a:prstGeom prst="line">
            <a:avLst/>
          </a:prstGeom>
          <a:ln w="15875">
            <a:solidFill>
              <a:srgbClr val="013364"/>
            </a:solidFill>
          </a:ln>
        </p:spPr>
      </p:cxnSp>
      <p:sp>
        <p:nvSpPr>
          <p:cNvPr id="603" name="Tree Box 603"/>
          <p:cNvSpPr/>
          <p:nvPr/>
        </p:nvSpPr>
        <p:spPr>
          <a:xfrm>
            <a:off x="8356600" y="3500000"/>
            <a:ext cx="1092200" cy="1000000"/>
          </a:xfrm>
          <a:prstGeom prst="roundRect">
            <a:avLst>
              <a:gd name="adj" fmla="val 12000"/>
            </a:avLst>
          </a:prstGeom>
          <a:solidFill>
            <a:srgbClr val="FFFFFF"/>
          </a:solidFill>
          <a:ln w="15875">
            <a:solidFill>
              <a:srgbClr val="C00000"/>
            </a:solidFill>
          </a:ln>
          <a:effectLst/>
        </p:spPr>
        <p:txBody>
          <a:bodyPr wrap="square" lIns="45720" tIns="27432" rIns="45720" bIns="27432" rtlCol="0" anchor="ctr">
            <a:noAutofit/>
          </a:bodyPr>
          <a:lstStyle/>
          <a:p>
            <a:pPr algn="ctr"/>
            <a:r>
              <a:rPr lang="vi-VN" sz="1050" b="0" dirty="0">
                <a:solidFill>
                  <a:srgbClr val="404040"/>
                </a:solidFill>
                <a:latin typeface="Calibri"/>
              </a:rPr>
              <a:t>integration 57%</a:t>
            </a:r>
          </a:p>
          <a:p>
            <a:pPr algn="ctr"/>
            <a:r>
              <a:rPr lang="vi-VN" sz="1050" b="0" dirty="0">
                <a:solidFill>
                  <a:srgbClr val="404040"/>
                </a:solidFill>
                <a:latin typeface="Calibri"/>
              </a:rPr>
              <a:t>unit 36%</a:t>
            </a:r>
          </a:p>
          <a:p>
            <a:pPr algn="ctr"/>
            <a:r>
              <a:rPr lang="vi-VN" sz="1050" b="0" dirty="0">
                <a:solidFill>
                  <a:srgbClr val="404040"/>
                </a:solidFill>
                <a:latin typeface="Calibri"/>
              </a:rPr>
              <a:t>python 7%</a:t>
            </a:r>
          </a:p>
        </p:txBody>
      </p:sp>
      <p:cxnSp>
        <p:nvCxnSpPr>
          <p:cNvPr id="604" name="Tree Line 604"/>
          <p:cNvCxnSpPr/>
          <p:nvPr/>
        </p:nvCxnSpPr>
        <p:spPr>
          <a:xfrm>
            <a:off x="10083800" y="3240000"/>
            <a:ext cx="0" cy="260000"/>
          </a:xfrm>
          <a:prstGeom prst="line">
            <a:avLst/>
          </a:prstGeom>
          <a:ln w="15875">
            <a:solidFill>
              <a:srgbClr val="013364"/>
            </a:solidFill>
          </a:ln>
        </p:spPr>
      </p:cxnSp>
      <p:sp>
        <p:nvSpPr>
          <p:cNvPr id="605" name="Tree Box 605"/>
          <p:cNvSpPr/>
          <p:nvPr/>
        </p:nvSpPr>
        <p:spPr>
          <a:xfrm>
            <a:off x="9537700" y="3500000"/>
            <a:ext cx="1092200" cy="1000000"/>
          </a:xfrm>
          <a:prstGeom prst="roundRect">
            <a:avLst>
              <a:gd name="adj" fmla="val 12000"/>
            </a:avLst>
          </a:prstGeom>
          <a:solidFill>
            <a:srgbClr val="FFFFFF"/>
          </a:solidFill>
          <a:ln w="15875">
            <a:solidFill>
              <a:srgbClr val="C00000"/>
            </a:solidFill>
          </a:ln>
          <a:effectLst/>
        </p:spPr>
        <p:txBody>
          <a:bodyPr wrap="square" lIns="45720" tIns="27432" rIns="45720" bIns="27432" rtlCol="0" anchor="ctr">
            <a:noAutofit/>
          </a:bodyPr>
          <a:lstStyle/>
          <a:p>
            <a:pPr algn="ctr"/>
            <a:r>
              <a:rPr lang="vi-VN" sz="1050" b="0" dirty="0">
                <a:solidFill>
                  <a:srgbClr val="404040"/>
                </a:solidFill>
                <a:latin typeface="Calibri"/>
              </a:rPr>
              <a:t>format 49%</a:t>
            </a:r>
          </a:p>
          <a:p>
            <a:pPr algn="ctr"/>
            <a:r>
              <a:rPr lang="vi-VN" sz="1050" b="0" dirty="0">
                <a:solidFill>
                  <a:srgbClr val="404040"/>
                </a:solidFill>
                <a:latin typeface="Calibri"/>
              </a:rPr>
              <a:t>checkstyle 37%</a:t>
            </a:r>
          </a:p>
          <a:p>
            <a:pPr algn="ctr"/>
            <a:r>
              <a:rPr lang="vi-VN" sz="1050" b="0" dirty="0">
                <a:solidFill>
                  <a:srgbClr val="404040"/>
                </a:solidFill>
                <a:latin typeface="Calibri"/>
              </a:rPr>
              <a:t>API 8%</a:t>
            </a:r>
          </a:p>
          <a:p>
            <a:pPr algn="ctr"/>
            <a:r>
              <a:rPr lang="vi-VN" sz="1050" b="0" dirty="0">
                <a:solidFill>
                  <a:srgbClr val="404040"/>
                </a:solidFill>
                <a:latin typeface="Calibri"/>
              </a:rPr>
              <a:t>license 7%</a:t>
            </a:r>
          </a:p>
        </p:txBody>
      </p:sp>
      <p:sp>
        <p:nvSpPr>
          <p:cNvPr id="606" name="Tree Text 606"/>
          <p:cNvSpPr txBox="1"/>
          <p:nvPr/>
        </p:nvSpPr>
        <p:spPr>
          <a:xfrm>
            <a:off x="6560000" y="3860000"/>
            <a:ext cx="580000" cy="254000"/>
          </a:xfrm>
          <a:prstGeom prst="rect">
            <a:avLst/>
          </a:prstGeom>
          <a:noFill/>
        </p:spPr>
        <p:txBody>
          <a:bodyPr wrap="square" lIns="0" tIns="0" rIns="0" bIns="0" rtlCol="0" anchor="t">
            <a:noAutofit/>
          </a:bodyPr>
          <a:lstStyle/>
          <a:p>
            <a:r>
              <a:rPr lang="vi-VN" sz="1100" b="1" i="0">
                <a:solidFill>
                  <a:srgbClr val="013364"/>
                </a:solidFill>
                <a:latin typeface="Calibri"/>
              </a:rPr>
              <a:t>Tầng 3</a:t>
            </a:r>
          </a:p>
        </p:txBody>
      </p:sp>
      <p:sp>
        <p:nvSpPr>
          <p:cNvPr id="519" name="Tree Text 519"/>
          <p:cNvSpPr txBox="1"/>
          <p:nvPr/>
        </p:nvSpPr>
        <p:spPr>
          <a:xfrm>
            <a:off x="7175500" y="4650000"/>
            <a:ext cx="4635500" cy="520000"/>
          </a:xfrm>
          <a:prstGeom prst="rect">
            <a:avLst/>
          </a:prstGeom>
          <a:noFill/>
        </p:spPr>
        <p:txBody>
          <a:bodyPr wrap="square" lIns="0" tIns="0" rIns="0" bIns="0" rtlCol="0" anchor="t">
            <a:noAutofit/>
          </a:bodyPr>
          <a:lstStyle/>
          <a:p>
            <a:r>
              <a:rPr lang="vi-VN" sz="1100" b="1" i="0" dirty="0">
                <a:solidFill>
                  <a:srgbClr val="404040"/>
                </a:solidFill>
                <a:latin typeface="Calibri"/>
              </a:rPr>
              <a:t>Tầng 1: </a:t>
            </a:r>
            <a:r>
              <a:rPr lang="vi-VN" sz="1100" b="0" i="0" dirty="0">
                <a:solidFill>
                  <a:srgbClr val="404040"/>
                </a:solidFill>
                <a:latin typeface="Calibri"/>
              </a:rPr>
              <a:t>pass ↔ fail xa nhau.  </a:t>
            </a:r>
            <a:r>
              <a:rPr lang="vi-VN" sz="1100" b="1" i="0" dirty="0">
                <a:solidFill>
                  <a:srgbClr val="404040"/>
                </a:solidFill>
                <a:latin typeface="Calibri"/>
              </a:rPr>
              <a:t>Tầng 2–3: </a:t>
            </a:r>
            <a:r>
              <a:rPr lang="vi-VN" sz="1100" b="0" i="0" dirty="0">
                <a:solidFill>
                  <a:srgbClr val="404040"/>
                </a:solidFill>
                <a:latin typeface="Calibri"/>
              </a:rPr>
              <a:t>cùng loại lỗi, rồi cùng dạng lỗi gom gần nhau. Tỉ lệ trên 4.624 commit fail do code, 11 repo Apache.</a:t>
            </a:r>
          </a:p>
        </p:txBody>
      </p:sp>
    </p:spTree>
    <p:extLst>
      <p:ext uri="{BB962C8B-B14F-4D97-AF65-F5344CB8AC3E}">
        <p14:creationId xmlns:p14="http://schemas.microsoft.com/office/powerpoint/2010/main" val="1962851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875E-97EE-CEDB-703E-BF87DACC50C0}"/>
            </a:ext>
          </a:extLst>
        </p:cNvPr>
        <p:cNvGrpSpPr/>
        <p:nvPr/>
      </p:nvGrpSpPr>
      <p:grpSpPr>
        <a:xfrm>
          <a:off x="0" y="0"/>
          <a:ext cx="0" cy="0"/>
          <a:chOff x="0" y="0"/>
          <a:chExt cx="0" cy="0"/>
        </a:xfrm>
      </p:grpSpPr>
      <p:sp>
        <p:nvSpPr>
          <p:cNvPr id="313" name="TextShape 2">
            <a:extLst>
              <a:ext uri="{FF2B5EF4-FFF2-40B4-BE49-F238E27FC236}">
                <a16:creationId xmlns:a16="http://schemas.microsoft.com/office/drawing/2014/main" id="{CB47BE62-47EB-47C6-3242-C1F1EA85DFB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8. Kiến trúc hệ thống</a:t>
            </a:r>
          </a:p>
        </p:txBody>
      </p:sp>
      <p:sp>
        <p:nvSpPr>
          <p:cNvPr id="314" name="Rounded Rectangle 313"/>
          <p:cNvSpPr/>
          <p:nvPr/>
        </p:nvSpPr>
        <p:spPr>
          <a:xfrm>
            <a:off x="320040" y="960120"/>
            <a:ext cx="2697480" cy="4242816"/>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TextBox 314"/>
          <p:cNvSpPr txBox="1"/>
          <p:nvPr/>
        </p:nvSpPr>
        <p:spPr>
          <a:xfrm>
            <a:off x="429768" y="996696"/>
            <a:ext cx="2423160" cy="329184"/>
          </a:xfrm>
          <a:prstGeom prst="rect">
            <a:avLst/>
          </a:prstGeom>
          <a:noFill/>
        </p:spPr>
        <p:txBody>
          <a:bodyPr wrap="square" lIns="0" tIns="0" rIns="0" bIns="0">
            <a:spAutoFit/>
          </a:bodyPr>
          <a:lstStyle/>
          <a:p>
            <a:pPr algn="l"/>
            <a:r>
              <a:rPr sz="1500" b="1" i="0">
                <a:solidFill>
                  <a:srgbClr val="013364"/>
                </a:solidFill>
                <a:latin typeface="Calibri"/>
              </a:rPr>
              <a:t>Khối thu thập</a:t>
            </a:r>
          </a:p>
        </p:txBody>
      </p:sp>
      <p:sp>
        <p:nvSpPr>
          <p:cNvPr id="316" name="Rounded Rectangle 315"/>
          <p:cNvSpPr/>
          <p:nvPr/>
        </p:nvSpPr>
        <p:spPr>
          <a:xfrm>
            <a:off x="3246120" y="960120"/>
            <a:ext cx="2697480" cy="4242816"/>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3355848" y="996696"/>
            <a:ext cx="2423160" cy="329184"/>
          </a:xfrm>
          <a:prstGeom prst="rect">
            <a:avLst/>
          </a:prstGeom>
          <a:noFill/>
        </p:spPr>
        <p:txBody>
          <a:bodyPr wrap="square" lIns="0" tIns="0" rIns="0" bIns="0">
            <a:spAutoFit/>
          </a:bodyPr>
          <a:lstStyle/>
          <a:p>
            <a:pPr algn="l"/>
            <a:r>
              <a:rPr sz="1500" b="1" i="0">
                <a:solidFill>
                  <a:srgbClr val="013364"/>
                </a:solidFill>
                <a:latin typeface="Calibri"/>
              </a:rPr>
              <a:t>Khối học máy</a:t>
            </a:r>
          </a:p>
        </p:txBody>
      </p:sp>
      <p:sp>
        <p:nvSpPr>
          <p:cNvPr id="318" name="Rounded Rectangle 317"/>
          <p:cNvSpPr/>
          <p:nvPr/>
        </p:nvSpPr>
        <p:spPr>
          <a:xfrm>
            <a:off x="6172200" y="960120"/>
            <a:ext cx="2697480" cy="4242816"/>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TextBox 318"/>
          <p:cNvSpPr txBox="1"/>
          <p:nvPr/>
        </p:nvSpPr>
        <p:spPr>
          <a:xfrm>
            <a:off x="6281928" y="996696"/>
            <a:ext cx="2423160" cy="329184"/>
          </a:xfrm>
          <a:prstGeom prst="rect">
            <a:avLst/>
          </a:prstGeom>
          <a:noFill/>
        </p:spPr>
        <p:txBody>
          <a:bodyPr wrap="square" lIns="0" tIns="0" rIns="0" bIns="0">
            <a:spAutoFit/>
          </a:bodyPr>
          <a:lstStyle/>
          <a:p>
            <a:pPr algn="l"/>
            <a:r>
              <a:rPr sz="1500" b="1" i="0">
                <a:solidFill>
                  <a:srgbClr val="013364"/>
                </a:solidFill>
                <a:latin typeface="Calibri"/>
              </a:rPr>
              <a:t>Khối phục vụ</a:t>
            </a:r>
          </a:p>
        </p:txBody>
      </p:sp>
      <p:sp>
        <p:nvSpPr>
          <p:cNvPr id="320" name="Rounded Rectangle 319"/>
          <p:cNvSpPr/>
          <p:nvPr/>
        </p:nvSpPr>
        <p:spPr>
          <a:xfrm>
            <a:off x="9098280" y="960120"/>
            <a:ext cx="2697480" cy="4242816"/>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TextBox 320"/>
          <p:cNvSpPr txBox="1"/>
          <p:nvPr/>
        </p:nvSpPr>
        <p:spPr>
          <a:xfrm>
            <a:off x="9208007" y="996696"/>
            <a:ext cx="2423160" cy="329184"/>
          </a:xfrm>
          <a:prstGeom prst="rect">
            <a:avLst/>
          </a:prstGeom>
          <a:noFill/>
        </p:spPr>
        <p:txBody>
          <a:bodyPr wrap="square" lIns="0" tIns="0" rIns="0" bIns="0">
            <a:spAutoFit/>
          </a:bodyPr>
          <a:lstStyle/>
          <a:p>
            <a:pPr algn="l"/>
            <a:r>
              <a:rPr sz="1500" b="1" i="0">
                <a:solidFill>
                  <a:srgbClr val="013364"/>
                </a:solidFill>
                <a:latin typeface="Calibri"/>
              </a:rPr>
              <a:t>Khối tích hợp &amp; hiển thị</a:t>
            </a:r>
          </a:p>
        </p:txBody>
      </p:sp>
      <p:sp>
        <p:nvSpPr>
          <p:cNvPr id="322" name="Rounded Rectangle 321"/>
          <p:cNvSpPr/>
          <p:nvPr/>
        </p:nvSpPr>
        <p:spPr>
          <a:xfrm>
            <a:off x="548640" y="1508760"/>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Crawl GitHub API</a:t>
            </a:r>
          </a:p>
          <a:p>
            <a:pPr algn="ctr"/>
            <a:r>
              <a:rPr sz="1100" b="0">
                <a:solidFill>
                  <a:srgbClr val="595959"/>
                </a:solidFill>
                <a:latin typeface="Calibri"/>
              </a:rPr>
              <a:t>runs, jobs, log (90 ngày)</a:t>
            </a:r>
          </a:p>
        </p:txBody>
      </p:sp>
      <p:sp>
        <p:nvSpPr>
          <p:cNvPr id="323" name="Rounded Rectangle 322"/>
          <p:cNvSpPr/>
          <p:nvPr/>
        </p:nvSpPr>
        <p:spPr>
          <a:xfrm>
            <a:off x="548640" y="2441448"/>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git clone (blob:none)</a:t>
            </a:r>
          </a:p>
          <a:p>
            <a:pPr algn="ctr"/>
            <a:r>
              <a:rPr sz="1100" b="0">
                <a:solidFill>
                  <a:srgbClr val="595959"/>
                </a:solidFill>
                <a:latin typeface="Calibri"/>
              </a:rPr>
              <a:t>git show → diff</a:t>
            </a:r>
          </a:p>
        </p:txBody>
      </p:sp>
      <p:sp>
        <p:nvSpPr>
          <p:cNvPr id="324" name="Rounded Rectangle 323"/>
          <p:cNvSpPr/>
          <p:nvPr/>
        </p:nvSpPr>
        <p:spPr>
          <a:xfrm>
            <a:off x="548640" y="3374136"/>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GHARuns (Zenodo)</a:t>
            </a:r>
          </a:p>
          <a:p>
            <a:pPr algn="ctr"/>
            <a:r>
              <a:rPr sz="1100" b="0">
                <a:solidFill>
                  <a:srgbClr val="595959"/>
                </a:solidFill>
                <a:latin typeface="Calibri"/>
              </a:rPr>
              <a:t>chọn repo, thống kê</a:t>
            </a:r>
          </a:p>
        </p:txBody>
      </p:sp>
      <p:sp>
        <p:nvSpPr>
          <p:cNvPr id="325" name="Rounded Rectangle 324"/>
          <p:cNvSpPr/>
          <p:nvPr/>
        </p:nvSpPr>
        <p:spPr>
          <a:xfrm>
            <a:off x="3474720" y="1508760"/>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Xử lý &amp; gán nhãn</a:t>
            </a:r>
          </a:p>
          <a:p>
            <a:pPr algn="ctr"/>
            <a:r>
              <a:rPr sz="1100" b="0">
                <a:solidFill>
                  <a:srgbClr val="595959"/>
                </a:solidFill>
                <a:latin typeface="Calibri"/>
              </a:rPr>
              <a:t>DuckDB: nhãn, lịch sử, feature</a:t>
            </a:r>
          </a:p>
        </p:txBody>
      </p:sp>
      <p:sp>
        <p:nvSpPr>
          <p:cNvPr id="326" name="Rounded Rectangle 325"/>
          <p:cNvSpPr/>
          <p:nvPr/>
        </p:nvSpPr>
        <p:spPr>
          <a:xfrm>
            <a:off x="3474720" y="2441448"/>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dirty="0">
                <a:solidFill>
                  <a:srgbClr val="262626"/>
                </a:solidFill>
                <a:latin typeface="Calibri"/>
              </a:rPr>
              <a:t>Encoder </a:t>
            </a:r>
            <a:r>
              <a:rPr sz="1300" b="1" dirty="0" err="1">
                <a:solidFill>
                  <a:srgbClr val="262626"/>
                </a:solidFill>
                <a:latin typeface="Calibri"/>
              </a:rPr>
              <a:t>phân</a:t>
            </a:r>
            <a:r>
              <a:rPr sz="1300" b="1" dirty="0">
                <a:solidFill>
                  <a:srgbClr val="262626"/>
                </a:solidFill>
                <a:latin typeface="Calibri"/>
              </a:rPr>
              <a:t> </a:t>
            </a:r>
            <a:r>
              <a:rPr sz="1300" b="1" dirty="0" err="1">
                <a:solidFill>
                  <a:srgbClr val="262626"/>
                </a:solidFill>
                <a:latin typeface="Calibri"/>
              </a:rPr>
              <a:t>cấp</a:t>
            </a:r>
            <a:endParaRPr sz="1300" b="1" dirty="0">
              <a:solidFill>
                <a:srgbClr val="262626"/>
              </a:solidFill>
              <a:latin typeface="Calibri"/>
            </a:endParaRPr>
          </a:p>
          <a:p>
            <a:pPr algn="ctr"/>
            <a:r>
              <a:rPr sz="1100" b="0" dirty="0" err="1">
                <a:solidFill>
                  <a:srgbClr val="595959"/>
                </a:solidFill>
                <a:latin typeface="Calibri"/>
              </a:rPr>
              <a:t>CodeBERT</a:t>
            </a:r>
            <a:r>
              <a:rPr sz="1100" b="0" dirty="0">
                <a:solidFill>
                  <a:srgbClr val="595959"/>
                </a:solidFill>
                <a:latin typeface="Calibri"/>
              </a:rPr>
              <a:t>/</a:t>
            </a:r>
            <a:r>
              <a:rPr sz="1100" b="0" dirty="0" err="1">
                <a:solidFill>
                  <a:srgbClr val="595959"/>
                </a:solidFill>
                <a:latin typeface="Calibri"/>
              </a:rPr>
              <a:t>UniXcoder</a:t>
            </a:r>
            <a:endParaRPr sz="1100" b="0" dirty="0">
              <a:solidFill>
                <a:srgbClr val="595959"/>
              </a:solidFill>
              <a:latin typeface="Calibri"/>
            </a:endParaRPr>
          </a:p>
        </p:txBody>
      </p:sp>
      <p:sp>
        <p:nvSpPr>
          <p:cNvPr id="327" name="Rounded Rectangle 326"/>
          <p:cNvSpPr/>
          <p:nvPr/>
        </p:nvSpPr>
        <p:spPr>
          <a:xfrm>
            <a:off x="3474720" y="3374136"/>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HCL head</a:t>
            </a:r>
          </a:p>
          <a:p>
            <a:pPr algn="ctr"/>
            <a:r>
              <a:rPr sz="1100" b="0">
                <a:solidFill>
                  <a:srgbClr val="595959"/>
                </a:solidFill>
                <a:latin typeface="Calibri"/>
              </a:rPr>
              <a:t>phân loại + contrastive 3 tầng</a:t>
            </a:r>
          </a:p>
        </p:txBody>
      </p:sp>
      <p:sp>
        <p:nvSpPr>
          <p:cNvPr id="328" name="Rounded Rectangle 327"/>
          <p:cNvSpPr/>
          <p:nvPr/>
        </p:nvSpPr>
        <p:spPr>
          <a:xfrm>
            <a:off x="3474720" y="4306824"/>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Model registry</a:t>
            </a:r>
          </a:p>
          <a:p>
            <a:pPr algn="ctr"/>
            <a:r>
              <a:rPr sz="1100" b="0">
                <a:solidFill>
                  <a:srgbClr val="595959"/>
                </a:solidFill>
                <a:latin typeface="Calibri"/>
              </a:rPr>
              <a:t>checkpoint + cấu hình</a:t>
            </a:r>
          </a:p>
        </p:txBody>
      </p:sp>
      <p:sp>
        <p:nvSpPr>
          <p:cNvPr id="329" name="Rounded Rectangle 328"/>
          <p:cNvSpPr/>
          <p:nvPr/>
        </p:nvSpPr>
        <p:spPr>
          <a:xfrm>
            <a:off x="6400800" y="1508760"/>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FastAPI /predict</a:t>
            </a:r>
          </a:p>
          <a:p>
            <a:pPr algn="ctr"/>
            <a:r>
              <a:rPr sz="1100" b="0">
                <a:solidFill>
                  <a:srgbClr val="595959"/>
                </a:solidFill>
                <a:latin typeface="Calibri"/>
              </a:rPr>
              <a:t>xác suất fail + loại lỗi</a:t>
            </a:r>
          </a:p>
        </p:txBody>
      </p:sp>
      <p:sp>
        <p:nvSpPr>
          <p:cNvPr id="330" name="Rounded Rectangle 329"/>
          <p:cNvSpPr/>
          <p:nvPr/>
        </p:nvSpPr>
        <p:spPr>
          <a:xfrm>
            <a:off x="6400800" y="2441448"/>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vi-VN" sz="1300" b="1" dirty="0">
                <a:solidFill>
                  <a:srgbClr val="262626"/>
                </a:solidFill>
                <a:latin typeface="Calibri"/>
              </a:rPr>
              <a:t>SHAP</a:t>
            </a:r>
          </a:p>
          <a:p>
            <a:pPr algn="ctr"/>
            <a:r>
              <a:rPr lang="vi-VN" sz="1100" b="0" dirty="0">
                <a:solidFill>
                  <a:srgbClr val="595959"/>
                </a:solidFill>
                <a:latin typeface="Calibri"/>
              </a:rPr>
              <a:t>giải thích dự đoán</a:t>
            </a:r>
          </a:p>
        </p:txBody>
      </p:sp>
      <p:sp>
        <p:nvSpPr>
          <p:cNvPr id="331" name="Rounded Rectangle 330"/>
          <p:cNvSpPr/>
          <p:nvPr/>
        </p:nvSpPr>
        <p:spPr>
          <a:xfrm>
            <a:off x="6400800" y="3374136"/>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Lưu kết quả</a:t>
            </a:r>
          </a:p>
          <a:p>
            <a:pPr algn="ctr"/>
            <a:r>
              <a:rPr sz="1100" b="0">
                <a:solidFill>
                  <a:srgbClr val="595959"/>
                </a:solidFill>
                <a:latin typeface="Calibri"/>
              </a:rPr>
              <a:t>dự đoán + kết quả build thật</a:t>
            </a:r>
          </a:p>
        </p:txBody>
      </p:sp>
      <p:sp>
        <p:nvSpPr>
          <p:cNvPr id="332" name="Rounded Rectangle 331"/>
          <p:cNvSpPr/>
          <p:nvPr/>
        </p:nvSpPr>
        <p:spPr>
          <a:xfrm>
            <a:off x="9326880" y="1508760"/>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GitHub webhook</a:t>
            </a:r>
          </a:p>
          <a:p>
            <a:pPr algn="ctr"/>
            <a:r>
              <a:rPr sz="1100" b="0">
                <a:solidFill>
                  <a:srgbClr val="595959"/>
                </a:solidFill>
                <a:latin typeface="Calibri"/>
              </a:rPr>
              <a:t>push / pull request</a:t>
            </a:r>
          </a:p>
        </p:txBody>
      </p:sp>
      <p:sp>
        <p:nvSpPr>
          <p:cNvPr id="333" name="Rounded Rectangle 332"/>
          <p:cNvSpPr/>
          <p:nvPr/>
        </p:nvSpPr>
        <p:spPr>
          <a:xfrm>
            <a:off x="9326880" y="2441448"/>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Bot comment PR</a:t>
            </a:r>
          </a:p>
          <a:p>
            <a:pPr algn="ctr"/>
            <a:r>
              <a:rPr sz="1100" b="0">
                <a:solidFill>
                  <a:srgbClr val="595959"/>
                </a:solidFill>
                <a:latin typeface="Calibri"/>
              </a:rPr>
              <a:t>xác suất, loại lỗi, lý do</a:t>
            </a:r>
          </a:p>
        </p:txBody>
      </p:sp>
      <p:sp>
        <p:nvSpPr>
          <p:cNvPr id="334" name="Rounded Rectangle 333"/>
          <p:cNvSpPr/>
          <p:nvPr/>
        </p:nvSpPr>
        <p:spPr>
          <a:xfrm>
            <a:off x="9326880" y="3374136"/>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dirty="0">
                <a:solidFill>
                  <a:srgbClr val="262626"/>
                </a:solidFill>
                <a:latin typeface="Calibri"/>
              </a:rPr>
              <a:t>Dashboard</a:t>
            </a:r>
          </a:p>
          <a:p>
            <a:pPr algn="ctr"/>
            <a:r>
              <a:rPr sz="1100" b="0" dirty="0">
                <a:solidFill>
                  <a:srgbClr val="595959"/>
                </a:solidFill>
                <a:latin typeface="Calibri"/>
              </a:rPr>
              <a:t>so sánh baseline, P0–P3</a:t>
            </a:r>
          </a:p>
        </p:txBody>
      </p:sp>
      <p:cxnSp>
        <p:nvCxnSpPr>
          <p:cNvPr id="335" name="Connector 334"/>
          <p:cNvCxnSpPr/>
          <p:nvPr/>
        </p:nvCxnSpPr>
        <p:spPr>
          <a:xfrm>
            <a:off x="1668780" y="2221991"/>
            <a:ext cx="0" cy="219457"/>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1668780" y="3154680"/>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4594860" y="2221991"/>
            <a:ext cx="0" cy="219457"/>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4594860" y="3154680"/>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10447019" y="2221991"/>
            <a:ext cx="0" cy="219457"/>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10447019" y="3154680"/>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4594860" y="4087368"/>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7520940" y="2221991"/>
            <a:ext cx="0" cy="219457"/>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7520940" y="3154680"/>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2788920" y="1865376"/>
            <a:ext cx="685800" cy="1865376"/>
          </a:xfrm>
          <a:prstGeom prst="line">
            <a:avLst/>
          </a:prstGeom>
          <a:ln w="22225">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5" name="Rectangle 344"/>
          <p:cNvSpPr/>
          <p:nvPr/>
        </p:nvSpPr>
        <p:spPr>
          <a:xfrm>
            <a:off x="2802636" y="2670048"/>
            <a:ext cx="658368" cy="256032"/>
          </a:xfrm>
          <a:prstGeom prst="rect">
            <a:avLst/>
          </a:prstGeom>
          <a:solidFill>
            <a:srgbClr val="FFFFFF"/>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900" b="1">
                <a:solidFill>
                  <a:srgbClr val="C0141B"/>
                </a:solidFill>
                <a:latin typeface="Calibri"/>
              </a:rPr>
              <a:t>① dữ liệu</a:t>
            </a:r>
          </a:p>
        </p:txBody>
      </p:sp>
      <p:cxnSp>
        <p:nvCxnSpPr>
          <p:cNvPr id="346" name="Connector 345"/>
          <p:cNvCxnSpPr/>
          <p:nvPr/>
        </p:nvCxnSpPr>
        <p:spPr>
          <a:xfrm flipV="1">
            <a:off x="5715000" y="1865376"/>
            <a:ext cx="685800" cy="1865376"/>
          </a:xfrm>
          <a:prstGeom prst="line">
            <a:avLst/>
          </a:prstGeom>
          <a:ln w="22225">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7" name="Rectangle 346"/>
          <p:cNvSpPr/>
          <p:nvPr/>
        </p:nvSpPr>
        <p:spPr>
          <a:xfrm>
            <a:off x="5728716" y="2670048"/>
            <a:ext cx="658368" cy="256032"/>
          </a:xfrm>
          <a:prstGeom prst="rect">
            <a:avLst/>
          </a:prstGeom>
          <a:solidFill>
            <a:srgbClr val="FFFFFF"/>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900" b="1">
                <a:solidFill>
                  <a:srgbClr val="C0141B"/>
                </a:solidFill>
                <a:latin typeface="Calibri"/>
              </a:rPr>
              <a:t>② model</a:t>
            </a:r>
          </a:p>
        </p:txBody>
      </p:sp>
      <p:cxnSp>
        <p:nvCxnSpPr>
          <p:cNvPr id="348" name="Connector 347"/>
          <p:cNvCxnSpPr/>
          <p:nvPr/>
        </p:nvCxnSpPr>
        <p:spPr>
          <a:xfrm>
            <a:off x="8641080" y="1865376"/>
            <a:ext cx="685800" cy="0"/>
          </a:xfrm>
          <a:prstGeom prst="line">
            <a:avLst/>
          </a:prstGeom>
          <a:ln w="22225">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9" name="Rectangle 348"/>
          <p:cNvSpPr/>
          <p:nvPr/>
        </p:nvSpPr>
        <p:spPr>
          <a:xfrm>
            <a:off x="8654796" y="1737360"/>
            <a:ext cx="658368" cy="256032"/>
          </a:xfrm>
          <a:prstGeom prst="rect">
            <a:avLst/>
          </a:prstGeom>
          <a:solidFill>
            <a:srgbClr val="FFFFFF"/>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900" b="1">
                <a:solidFill>
                  <a:srgbClr val="C0141B"/>
                </a:solidFill>
                <a:latin typeface="Calibri"/>
              </a:rPr>
              <a:t>③ dự đoán</a:t>
            </a:r>
          </a:p>
        </p:txBody>
      </p:sp>
      <p:sp>
        <p:nvSpPr>
          <p:cNvPr id="350" name="Rounded Rectangle 349"/>
          <p:cNvSpPr/>
          <p:nvPr/>
        </p:nvSpPr>
        <p:spPr>
          <a:xfrm>
            <a:off x="9326880" y="4325112"/>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dirty="0">
                <a:solidFill>
                  <a:srgbClr val="262626"/>
                </a:solidFill>
                <a:latin typeface="Calibri"/>
              </a:rPr>
              <a:t>Developer / DevOps</a:t>
            </a:r>
          </a:p>
          <a:p>
            <a:pPr algn="ctr"/>
            <a:r>
              <a:rPr sz="1100" dirty="0" err="1">
                <a:solidFill>
                  <a:srgbClr val="595959"/>
                </a:solidFill>
                <a:latin typeface="Calibri"/>
              </a:rPr>
              <a:t>review PR, ưu tiên job</a:t>
            </a:r>
            <a:endParaRPr sz="1100" dirty="0">
              <a:solidFill>
                <a:srgbClr val="595959"/>
              </a:solidFill>
              <a:latin typeface="Calibri"/>
            </a:endParaRPr>
          </a:p>
        </p:txBody>
      </p:sp>
      <p:cxnSp>
        <p:nvCxnSpPr>
          <p:cNvPr id="351" name="Connector 350"/>
          <p:cNvCxnSpPr/>
          <p:nvPr/>
        </p:nvCxnSpPr>
        <p:spPr>
          <a:xfrm>
            <a:off x="10447019" y="4087368"/>
            <a:ext cx="0" cy="237744"/>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9391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E0C4-4DAC-FF29-C456-D714E20113B7}"/>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9CD2AEEB-7E7C-F7CA-326F-DBF27F5334A9}"/>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spc="-1" dirty="0">
              <a:solidFill>
                <a:srgbClr val="000000"/>
              </a:solidFill>
              <a:latin typeface="Calibri"/>
            </a:endParaRPr>
          </a:p>
        </p:txBody>
      </p:sp>
      <p:sp>
        <p:nvSpPr>
          <p:cNvPr id="313" name="TextShape 2">
            <a:extLst>
              <a:ext uri="{FF2B5EF4-FFF2-40B4-BE49-F238E27FC236}">
                <a16:creationId xmlns:a16="http://schemas.microsoft.com/office/drawing/2014/main" id="{2291A77C-F9DB-F58B-5EFD-65DEB2EF3F55}"/>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9. Kế hoạch thực hiện</a:t>
            </a:r>
            <a:endParaRPr lang="en-US" sz="3200" spc="-1" dirty="0">
              <a:solidFill>
                <a:schemeClr val="bg1"/>
              </a:solidFill>
              <a:latin typeface="Calibri"/>
            </a:endParaRPr>
          </a:p>
        </p:txBody>
      </p:sp>
      <p:graphicFrame>
        <p:nvGraphicFramePr>
          <p:cNvPr id="2" name="Table 1">
            <a:extLst>
              <a:ext uri="{FF2B5EF4-FFF2-40B4-BE49-F238E27FC236}">
                <a16:creationId xmlns:a16="http://schemas.microsoft.com/office/drawing/2014/main" id="{12DBCEA9-F1F0-F76A-78CE-A275AE64F7BA}"/>
              </a:ext>
            </a:extLst>
          </p:cNvPr>
          <p:cNvGraphicFramePr>
            <a:graphicFrameLocks noGrp="1"/>
          </p:cNvGraphicFramePr>
          <p:nvPr>
            <p:extLst>
              <p:ext uri="{D42A27DB-BD31-4B8C-83A1-F6EECF244321}">
                <p14:modId xmlns:p14="http://schemas.microsoft.com/office/powerpoint/2010/main" val="3607284500"/>
              </p:ext>
            </p:extLst>
          </p:nvPr>
        </p:nvGraphicFramePr>
        <p:xfrm>
          <a:off x="338760" y="1846962"/>
          <a:ext cx="11514241" cy="3164075"/>
        </p:xfrm>
        <a:graphic>
          <a:graphicData uri="http://schemas.openxmlformats.org/drawingml/2006/table">
            <a:tbl>
              <a:tblPr firstRow="1" bandRow="1">
                <a:tableStyleId>{5C22544A-7EE6-4342-B048-85BDC9FD1C3A}</a:tableStyleId>
              </a:tblPr>
              <a:tblGrid>
                <a:gridCol w="2247134">
                  <a:extLst>
                    <a:ext uri="{9D8B030D-6E8A-4147-A177-3AD203B41FA5}">
                      <a16:colId xmlns:a16="http://schemas.microsoft.com/office/drawing/2014/main" val="2801464827"/>
                    </a:ext>
                  </a:extLst>
                </a:gridCol>
                <a:gridCol w="2887218">
                  <a:extLst>
                    <a:ext uri="{9D8B030D-6E8A-4147-A177-3AD203B41FA5}">
                      <a16:colId xmlns:a16="http://schemas.microsoft.com/office/drawing/2014/main" val="2144023698"/>
                    </a:ext>
                  </a:extLst>
                </a:gridCol>
                <a:gridCol w="3219983">
                  <a:extLst>
                    <a:ext uri="{9D8B030D-6E8A-4147-A177-3AD203B41FA5}">
                      <a16:colId xmlns:a16="http://schemas.microsoft.com/office/drawing/2014/main" val="4079731762"/>
                    </a:ext>
                  </a:extLst>
                </a:gridCol>
                <a:gridCol w="3159906">
                  <a:extLst>
                    <a:ext uri="{9D8B030D-6E8A-4147-A177-3AD203B41FA5}">
                      <a16:colId xmlns:a16="http://schemas.microsoft.com/office/drawing/2014/main" val="3786912315"/>
                    </a:ext>
                  </a:extLst>
                </a:gridCol>
              </a:tblGrid>
              <a:tr h="977901">
                <a:tc>
                  <a:txBody>
                    <a:bodyPr/>
                    <a:lstStyle/>
                    <a:p>
                      <a:endParaRPr lang="vi-VN" dirty="0"/>
                    </a:p>
                  </a:txBody>
                  <a:tcPr/>
                </a:tc>
                <a:tc>
                  <a:txBody>
                    <a:bodyPr/>
                    <a:lstStyle/>
                    <a:p>
                      <a:pPr algn="ctr"/>
                      <a:r>
                        <a:rPr lang="en-US" sz="1500" b="1">
                          <a:latin typeface="Calibri"/>
                        </a:rPr>
                        <a:t>Sprint 1 (tuần 1–5)</a:t>
                      </a:r>
                      <a:endParaRPr lang="vi-VN" b="1" dirty="0"/>
                    </a:p>
                  </a:txBody>
                  <a:tcPr anchor="ctr"/>
                </a:tc>
                <a:tc>
                  <a:txBody>
                    <a:bodyPr/>
                    <a:lstStyle/>
                    <a:p>
                      <a:pPr algn="ctr"/>
                      <a:r>
                        <a:rPr lang="en-US" sz="1500" b="1" dirty="0">
                          <a:latin typeface="Calibri"/>
                        </a:rPr>
                        <a:t>Sprint 2 (tuần 6–10)</a:t>
                      </a:r>
                      <a:endParaRPr lang="vi-VN" b="1" dirty="0"/>
                    </a:p>
                  </a:txBody>
                  <a:tcPr anchor="ctr"/>
                </a:tc>
                <a:tc>
                  <a:txBody>
                    <a:bodyPr/>
                    <a:lstStyle/>
                    <a:p>
                      <a:pPr algn="ctr"/>
                      <a:r>
                        <a:rPr lang="en-US" sz="1500" b="1" dirty="0">
                          <a:latin typeface="Calibri"/>
                        </a:rPr>
                        <a:t>Sprint 3 (tuần 11–14)</a:t>
                      </a:r>
                      <a:endParaRPr lang="vi-VN" b="1" dirty="0"/>
                    </a:p>
                  </a:txBody>
                  <a:tcPr anchor="ctr"/>
                </a:tc>
                <a:extLst>
                  <a:ext uri="{0D108BD9-81ED-4DB2-BD59-A6C34878D82A}">
                    <a16:rowId xmlns:a16="http://schemas.microsoft.com/office/drawing/2014/main" val="936761698"/>
                  </a:ext>
                </a:extLst>
              </a:tr>
              <a:tr h="1208273">
                <a:tc>
                  <a:txBody>
                    <a:bodyPr/>
                    <a:lstStyle/>
                    <a:p>
                      <a:pPr algn="ctr"/>
                      <a:r>
                        <a:rPr lang="en-US" sz="1500" b="1" dirty="0">
                          <a:latin typeface="Calibri"/>
                        </a:rPr>
                        <a:t>Công việc</a:t>
                      </a:r>
                      <a:endParaRPr lang="vi-VN" b="1" dirty="0"/>
                    </a:p>
                  </a:txBody>
                  <a:tcPr anchor="ctr"/>
                </a:tc>
                <a:tc>
                  <a:txBody>
                    <a:bodyPr/>
                    <a:lstStyle/>
                    <a:p>
                      <a:r>
                        <a:rPr lang="en-US" sz="1500" b="0" i="0" dirty="0">
                          <a:latin typeface="Calibri"/>
                        </a:rPr>
                        <a:t>L</a:t>
                      </a:r>
                      <a:r>
                        <a:rPr lang="vi-VN" sz="1500" b="0" i="0" dirty="0">
                          <a:latin typeface="Calibri"/>
                        </a:rPr>
                        <a:t>ấy dữ liệu GitHub Actions + log (11 repo); lấy diff</a:t>
                      </a:r>
                      <a:r>
                        <a:rPr lang="en-US" sz="1500" b="0" i="0" dirty="0">
                          <a:latin typeface="Calibri"/>
                        </a:rPr>
                        <a:t> repository</a:t>
                      </a:r>
                      <a:r>
                        <a:rPr lang="vi-VN" sz="1500" b="0" i="0" dirty="0">
                          <a:latin typeface="Calibri"/>
                        </a:rPr>
                        <a:t>; </a:t>
                      </a:r>
                      <a:r>
                        <a:rPr lang="en-US" sz="1500" b="0" i="0" dirty="0" err="1">
                          <a:latin typeface="Calibri"/>
                        </a:rPr>
                        <a:t>chạy</a:t>
                      </a:r>
                      <a:r>
                        <a:rPr lang="en-US" sz="1500" b="0" i="0" dirty="0">
                          <a:latin typeface="Calibri"/>
                        </a:rPr>
                        <a:t> </a:t>
                      </a:r>
                      <a:r>
                        <a:rPr lang="vi-VN" sz="1500" b="0" i="0" dirty="0">
                          <a:latin typeface="Calibri"/>
                        </a:rPr>
                        <a:t>baseline Parrot/LR</a:t>
                      </a:r>
                    </a:p>
                  </a:txBody>
                  <a:tcPr/>
                </a:tc>
                <a:tc>
                  <a:txBody>
                    <a:bodyPr/>
                    <a:lstStyle/>
                    <a:p>
                      <a:r>
                        <a:rPr lang="en-US" sz="1500" b="0" i="0" dirty="0" err="1">
                          <a:latin typeface="Calibri"/>
                        </a:rPr>
                        <a:t>Chạy</a:t>
                      </a:r>
                      <a:r>
                        <a:rPr lang="en-US" sz="1500" b="0" i="0" dirty="0">
                          <a:latin typeface="Calibri"/>
                        </a:rPr>
                        <a:t> b</a:t>
                      </a:r>
                      <a:r>
                        <a:rPr lang="vi-VN" sz="1500" b="0" i="0" dirty="0">
                          <a:latin typeface="Calibri"/>
                        </a:rPr>
                        <a:t>aseline XGBoost, CodeBERT, GitSense; encoder phân cấp + hierarchical contrastive loss</a:t>
                      </a:r>
                    </a:p>
                  </a:txBody>
                  <a:tcPr/>
                </a:tc>
                <a:tc>
                  <a:txBody>
                    <a:bodyPr/>
                    <a:lstStyle/>
                    <a:p>
                      <a:r>
                        <a:rPr lang="vi-VN" sz="1500" b="0" i="0" dirty="0">
                          <a:latin typeface="Calibri"/>
                        </a:rPr>
                        <a:t>Đánh giá P0–P3, ablation, trực quan hóa embedding; API + bot PR; báo cáo</a:t>
                      </a:r>
                    </a:p>
                  </a:txBody>
                  <a:tcPr/>
                </a:tc>
                <a:extLst>
                  <a:ext uri="{0D108BD9-81ED-4DB2-BD59-A6C34878D82A}">
                    <a16:rowId xmlns:a16="http://schemas.microsoft.com/office/drawing/2014/main" val="1164453253"/>
                  </a:ext>
                </a:extLst>
              </a:tr>
              <a:tr h="977901">
                <a:tc>
                  <a:txBody>
                    <a:bodyPr/>
                    <a:lstStyle/>
                    <a:p>
                      <a:pPr algn="ctr"/>
                      <a:r>
                        <a:rPr lang="en-US" sz="1500" b="1" dirty="0" err="1">
                          <a:latin typeface="Calibri"/>
                        </a:rPr>
                        <a:t>Sản phẩm</a:t>
                      </a:r>
                      <a:endParaRPr lang="vi-VN" b="1" dirty="0"/>
                    </a:p>
                  </a:txBody>
                  <a:tcPr anchor="ctr"/>
                </a:tc>
                <a:tc>
                  <a:txBody>
                    <a:bodyPr/>
                    <a:lstStyle/>
                    <a:p>
                      <a:r>
                        <a:rPr lang="vi-VN" sz="1500" b="0" i="0" dirty="0">
                          <a:latin typeface="Calibri"/>
                        </a:rPr>
                        <a:t>Dataset commit có nhãn loại lỗi + kết quả baseline</a:t>
                      </a:r>
                    </a:p>
                  </a:txBody>
                  <a:tcPr/>
                </a:tc>
                <a:tc>
                  <a:txBody>
                    <a:bodyPr/>
                    <a:lstStyle/>
                    <a:p>
                      <a:r>
                        <a:rPr lang="vi-VN" sz="1500" b="0" i="0" dirty="0">
                          <a:latin typeface="Calibri"/>
                        </a:rPr>
                        <a:t>HCL chạy được, bảng so sánh với baseline</a:t>
                      </a:r>
                      <a:endParaRPr lang="vi-VN" dirty="0"/>
                    </a:p>
                  </a:txBody>
                  <a:tcPr/>
                </a:tc>
                <a:tc>
                  <a:txBody>
                    <a:bodyPr/>
                    <a:lstStyle/>
                    <a:p>
                      <a:r>
                        <a:rPr lang="vi-VN" sz="1500" b="0" i="0" dirty="0">
                          <a:latin typeface="Calibri"/>
                        </a:rPr>
                        <a:t>Demo bot comment trên PR + báo cáo kết quả</a:t>
                      </a:r>
                    </a:p>
                  </a:txBody>
                  <a:tcPr/>
                </a:tc>
                <a:extLst>
                  <a:ext uri="{0D108BD9-81ED-4DB2-BD59-A6C34878D82A}">
                    <a16:rowId xmlns:a16="http://schemas.microsoft.com/office/drawing/2014/main" val="2166562580"/>
                  </a:ext>
                </a:extLst>
              </a:tr>
            </a:tbl>
          </a:graphicData>
        </a:graphic>
      </p:graphicFrame>
    </p:spTree>
    <p:extLst>
      <p:ext uri="{BB962C8B-B14F-4D97-AF65-F5344CB8AC3E}">
        <p14:creationId xmlns:p14="http://schemas.microsoft.com/office/powerpoint/2010/main" val="1902362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CustomShape 1"/>
          <p:cNvSpPr/>
          <p:nvPr/>
        </p:nvSpPr>
        <p:spPr>
          <a:xfrm>
            <a:off x="5756400" y="2824200"/>
            <a:ext cx="5136480" cy="97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6000" b="1" strike="noStrike" spc="-1">
                <a:solidFill>
                  <a:srgbClr val="C00000"/>
                </a:solidFill>
                <a:latin typeface="Lato"/>
                <a:ea typeface="Lato"/>
              </a:rPr>
              <a:t>THANK YOU !</a:t>
            </a:r>
            <a:endParaRPr lang="en-US" sz="60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Shape 2">
            <a:extLst>
              <a:ext uri="{FF2B5EF4-FFF2-40B4-BE49-F238E27FC236}">
                <a16:creationId xmlns:a16="http://schemas.microsoft.com/office/drawing/2014/main" id="{9BBE9FD3-A9D5-71FE-72E3-672B6138213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Phụ lục A. Mô hình: đọc diff theo phân cấp hunk → file → commit</a:t>
            </a:r>
            <a:endParaRPr lang="en-US" sz="3200" spc="-1" dirty="0">
              <a:solidFill>
                <a:schemeClr val="bg1"/>
              </a:solidFill>
              <a:latin typeface="Calibri"/>
            </a:endParaRPr>
          </a:p>
        </p:txBody>
      </p:sp>
      <p:sp>
        <p:nvSpPr>
          <p:cNvPr id="314" name="TextBox 313"/>
          <p:cNvSpPr txBox="1"/>
          <p:nvPr/>
        </p:nvSpPr>
        <p:spPr>
          <a:xfrm>
            <a:off x="320040" y="1097280"/>
            <a:ext cx="2103120" cy="320040"/>
          </a:xfrm>
          <a:prstGeom prst="rect">
            <a:avLst/>
          </a:prstGeom>
          <a:noFill/>
        </p:spPr>
        <p:txBody>
          <a:bodyPr wrap="square" lIns="45720" tIns="27432" rIns="45720" bIns="27432" anchor="t">
            <a:spAutoFit/>
          </a:bodyPr>
          <a:lstStyle/>
          <a:p>
            <a:pPr algn="l"/>
            <a:r>
              <a:rPr sz="1300" b="1">
                <a:solidFill>
                  <a:srgbClr val="013364"/>
                </a:solidFill>
                <a:latin typeface="Calibri"/>
              </a:rPr>
              <a:t>① Cắt diff thành hunk</a:t>
            </a:r>
          </a:p>
        </p:txBody>
      </p:sp>
      <p:sp>
        <p:nvSpPr>
          <p:cNvPr id="315" name="TextBox 314"/>
          <p:cNvSpPr txBox="1"/>
          <p:nvPr/>
        </p:nvSpPr>
        <p:spPr>
          <a:xfrm>
            <a:off x="2697480" y="1097280"/>
            <a:ext cx="2423160" cy="320040"/>
          </a:xfrm>
          <a:prstGeom prst="rect">
            <a:avLst/>
          </a:prstGeom>
          <a:noFill/>
        </p:spPr>
        <p:txBody>
          <a:bodyPr wrap="square" lIns="45720" tIns="27432" rIns="45720" bIns="27432" anchor="t">
            <a:spAutoFit/>
          </a:bodyPr>
          <a:lstStyle/>
          <a:p>
            <a:pPr algn="l"/>
            <a:r>
              <a:rPr sz="1300" b="1">
                <a:solidFill>
                  <a:srgbClr val="013364"/>
                </a:solidFill>
                <a:latin typeface="Calibri"/>
              </a:rPr>
              <a:t>② Mã hoá từng hunk</a:t>
            </a:r>
          </a:p>
        </p:txBody>
      </p:sp>
      <p:sp>
        <p:nvSpPr>
          <p:cNvPr id="316" name="TextBox 315"/>
          <p:cNvSpPr txBox="1"/>
          <p:nvPr/>
        </p:nvSpPr>
        <p:spPr>
          <a:xfrm>
            <a:off x="5577840" y="1097280"/>
            <a:ext cx="2834639" cy="320040"/>
          </a:xfrm>
          <a:prstGeom prst="rect">
            <a:avLst/>
          </a:prstGeom>
          <a:noFill/>
        </p:spPr>
        <p:txBody>
          <a:bodyPr wrap="square" lIns="45720" tIns="27432" rIns="45720" bIns="27432" anchor="t">
            <a:spAutoFit/>
          </a:bodyPr>
          <a:lstStyle/>
          <a:p>
            <a:pPr algn="l"/>
            <a:r>
              <a:rPr sz="1300" b="1">
                <a:solidFill>
                  <a:srgbClr val="013364"/>
                </a:solidFill>
                <a:latin typeface="Calibri"/>
              </a:rPr>
              <a:t>③ Gộp phân cấp (attention)</a:t>
            </a:r>
          </a:p>
        </p:txBody>
      </p:sp>
      <p:sp>
        <p:nvSpPr>
          <p:cNvPr id="317" name="TextBox 316"/>
          <p:cNvSpPr txBox="1"/>
          <p:nvPr/>
        </p:nvSpPr>
        <p:spPr>
          <a:xfrm>
            <a:off x="8595360" y="1097280"/>
            <a:ext cx="1463040" cy="320040"/>
          </a:xfrm>
          <a:prstGeom prst="rect">
            <a:avLst/>
          </a:prstGeom>
          <a:noFill/>
        </p:spPr>
        <p:txBody>
          <a:bodyPr wrap="square" lIns="45720" tIns="27432" rIns="45720" bIns="27432" anchor="t">
            <a:spAutoFit/>
          </a:bodyPr>
          <a:lstStyle/>
          <a:p>
            <a:pPr algn="l"/>
            <a:r>
              <a:rPr sz="1300" b="1">
                <a:solidFill>
                  <a:srgbClr val="013364"/>
                </a:solidFill>
                <a:latin typeface="Calibri"/>
              </a:rPr>
              <a:t>④ Ghép lịch sử</a:t>
            </a:r>
          </a:p>
        </p:txBody>
      </p:sp>
      <p:sp>
        <p:nvSpPr>
          <p:cNvPr id="318" name="TextBox 317"/>
          <p:cNvSpPr txBox="1"/>
          <p:nvPr/>
        </p:nvSpPr>
        <p:spPr>
          <a:xfrm>
            <a:off x="10058400" y="1097280"/>
            <a:ext cx="1783080" cy="320040"/>
          </a:xfrm>
          <a:prstGeom prst="rect">
            <a:avLst/>
          </a:prstGeom>
          <a:noFill/>
        </p:spPr>
        <p:txBody>
          <a:bodyPr wrap="square" lIns="45720" tIns="27432" rIns="45720" bIns="27432" anchor="t">
            <a:spAutoFit/>
          </a:bodyPr>
          <a:lstStyle/>
          <a:p>
            <a:pPr algn="l"/>
            <a:r>
              <a:rPr sz="1300" b="1">
                <a:solidFill>
                  <a:srgbClr val="013364"/>
                </a:solidFill>
                <a:latin typeface="Calibri"/>
              </a:rPr>
              <a:t>⑤ Hai đầu ra</a:t>
            </a:r>
          </a:p>
        </p:txBody>
      </p:sp>
      <p:sp>
        <p:nvSpPr>
          <p:cNvPr id="319" name="Rounded Rectangle 318"/>
          <p:cNvSpPr/>
          <p:nvPr/>
        </p:nvSpPr>
        <p:spPr>
          <a:xfrm>
            <a:off x="320040" y="1508760"/>
            <a:ext cx="2103120" cy="3246120"/>
          </a:xfrm>
          <a:prstGeom prst="roundRect">
            <a:avLst>
              <a:gd name="adj" fmla="val 12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Rounded Rectangle 319"/>
          <p:cNvSpPr/>
          <p:nvPr/>
        </p:nvSpPr>
        <p:spPr>
          <a:xfrm>
            <a:off x="429768" y="1618488"/>
            <a:ext cx="1883663" cy="1783080"/>
          </a:xfrm>
          <a:prstGeom prst="roundRect">
            <a:avLst>
              <a:gd name="adj" fmla="val 12000"/>
            </a:avLst>
          </a:prstGeom>
          <a:solidFill>
            <a:srgbClr val="FFFFFF"/>
          </a:solidFill>
          <a:ln w="9525">
            <a:solidFill>
              <a:srgbClr val="8C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TextBox 320"/>
          <p:cNvSpPr txBox="1"/>
          <p:nvPr/>
        </p:nvSpPr>
        <p:spPr>
          <a:xfrm>
            <a:off x="502920" y="1645919"/>
            <a:ext cx="1737360" cy="274320"/>
          </a:xfrm>
          <a:prstGeom prst="rect">
            <a:avLst/>
          </a:prstGeom>
          <a:noFill/>
        </p:spPr>
        <p:txBody>
          <a:bodyPr wrap="square" lIns="45720" tIns="27432" rIns="45720" bIns="27432" anchor="t">
            <a:spAutoFit/>
          </a:bodyPr>
          <a:lstStyle/>
          <a:p>
            <a:pPr algn="l"/>
            <a:r>
              <a:rPr sz="1100" b="1">
                <a:solidFill>
                  <a:srgbClr val="262626"/>
                </a:solidFill>
                <a:latin typeface="Calibri"/>
              </a:rPr>
              <a:t>File 1: UserService.java</a:t>
            </a:r>
          </a:p>
        </p:txBody>
      </p:sp>
      <p:sp>
        <p:nvSpPr>
          <p:cNvPr id="322" name="Rounded Rectangle 321"/>
          <p:cNvSpPr/>
          <p:nvPr/>
        </p:nvSpPr>
        <p:spPr>
          <a:xfrm>
            <a:off x="429768" y="3520440"/>
            <a:ext cx="1883663" cy="1097280"/>
          </a:xfrm>
          <a:prstGeom prst="roundRect">
            <a:avLst>
              <a:gd name="adj" fmla="val 12000"/>
            </a:avLst>
          </a:prstGeom>
          <a:solidFill>
            <a:srgbClr val="FFFFFF"/>
          </a:solidFill>
          <a:ln w="9525">
            <a:solidFill>
              <a:srgbClr val="8C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TextBox 322"/>
          <p:cNvSpPr txBox="1"/>
          <p:nvPr/>
        </p:nvSpPr>
        <p:spPr>
          <a:xfrm>
            <a:off x="502920" y="3547872"/>
            <a:ext cx="1737360" cy="274320"/>
          </a:xfrm>
          <a:prstGeom prst="rect">
            <a:avLst/>
          </a:prstGeom>
          <a:noFill/>
        </p:spPr>
        <p:txBody>
          <a:bodyPr wrap="square" lIns="45720" tIns="27432" rIns="45720" bIns="27432" anchor="t">
            <a:spAutoFit/>
          </a:bodyPr>
          <a:lstStyle/>
          <a:p>
            <a:pPr algn="l"/>
            <a:r>
              <a:rPr sz="1100" b="1">
                <a:solidFill>
                  <a:srgbClr val="262626"/>
                </a:solidFill>
                <a:latin typeface="Calibri"/>
              </a:rPr>
              <a:t>File 2: UserServiceTest.java</a:t>
            </a:r>
          </a:p>
        </p:txBody>
      </p:sp>
      <p:sp>
        <p:nvSpPr>
          <p:cNvPr id="324" name="Rounded Rectangle 323"/>
          <p:cNvSpPr/>
          <p:nvPr/>
        </p:nvSpPr>
        <p:spPr>
          <a:xfrm>
            <a:off x="548640" y="1965960"/>
            <a:ext cx="1645919" cy="566928"/>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dirty="0">
                <a:solidFill>
                  <a:srgbClr val="262626"/>
                </a:solidFill>
                <a:latin typeface="Calibri"/>
              </a:rPr>
              <a:t>hunk 1</a:t>
            </a:r>
          </a:p>
          <a:p>
            <a:pPr algn="ctr"/>
            <a:r>
              <a:rPr sz="1000" b="0" dirty="0" err="1">
                <a:solidFill>
                  <a:srgbClr val="595959"/>
                </a:solidFill>
                <a:latin typeface="Calibri"/>
              </a:rPr>
              <a:t>getUser</a:t>
            </a:r>
            <a:r>
              <a:rPr sz="1000" b="0" dirty="0">
                <a:solidFill>
                  <a:srgbClr val="595959"/>
                </a:solidFill>
                <a:latin typeface="Calibri"/>
              </a:rPr>
              <a:t> → </a:t>
            </a:r>
            <a:r>
              <a:rPr sz="1000" b="0" dirty="0" err="1">
                <a:solidFill>
                  <a:srgbClr val="595959"/>
                </a:solidFill>
                <a:latin typeface="Calibri"/>
              </a:rPr>
              <a:t>findUser</a:t>
            </a:r>
            <a:endParaRPr sz="1000" b="0" dirty="0">
              <a:solidFill>
                <a:srgbClr val="595959"/>
              </a:solidFill>
              <a:latin typeface="Calibri"/>
            </a:endParaRPr>
          </a:p>
        </p:txBody>
      </p:sp>
      <p:sp>
        <p:nvSpPr>
          <p:cNvPr id="325" name="Rounded Rectangle 324"/>
          <p:cNvSpPr/>
          <p:nvPr/>
        </p:nvSpPr>
        <p:spPr>
          <a:xfrm>
            <a:off x="548640" y="2651760"/>
            <a:ext cx="1645919" cy="566928"/>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262626"/>
                </a:solidFill>
                <a:latin typeface="Calibri"/>
              </a:rPr>
              <a:t>hunk 2</a:t>
            </a:r>
          </a:p>
          <a:p>
            <a:pPr algn="ctr"/>
            <a:r>
              <a:rPr sz="1000" b="0">
                <a:solidFill>
                  <a:srgbClr val="595959"/>
                </a:solidFill>
                <a:latin typeface="Calibri"/>
              </a:rPr>
              <a:t>+ thêm dòng log</a:t>
            </a:r>
          </a:p>
        </p:txBody>
      </p:sp>
      <p:sp>
        <p:nvSpPr>
          <p:cNvPr id="326" name="Rounded Rectangle 325"/>
          <p:cNvSpPr/>
          <p:nvPr/>
        </p:nvSpPr>
        <p:spPr>
          <a:xfrm>
            <a:off x="548640" y="3867912"/>
            <a:ext cx="1645919" cy="566928"/>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262626"/>
                </a:solidFill>
                <a:latin typeface="Calibri"/>
              </a:rPr>
              <a:t>hunk 3</a:t>
            </a:r>
          </a:p>
          <a:p>
            <a:pPr algn="ctr"/>
            <a:r>
              <a:rPr sz="1000" b="0">
                <a:solidFill>
                  <a:srgbClr val="595959"/>
                </a:solidFill>
                <a:latin typeface="Calibri"/>
              </a:rPr>
              <a:t>sửa test theo tên mới</a:t>
            </a:r>
          </a:p>
        </p:txBody>
      </p:sp>
      <p:sp>
        <p:nvSpPr>
          <p:cNvPr id="327" name="TextBox 326"/>
          <p:cNvSpPr txBox="1"/>
          <p:nvPr/>
        </p:nvSpPr>
        <p:spPr>
          <a:xfrm>
            <a:off x="320040" y="4800600"/>
            <a:ext cx="2377439" cy="457200"/>
          </a:xfrm>
          <a:prstGeom prst="rect">
            <a:avLst/>
          </a:prstGeom>
          <a:noFill/>
        </p:spPr>
        <p:txBody>
          <a:bodyPr wrap="square" lIns="45720" tIns="27432" rIns="45720" bIns="27432" anchor="t">
            <a:spAutoFit/>
          </a:bodyPr>
          <a:lstStyle/>
          <a:p>
            <a:pPr algn="l"/>
            <a:r>
              <a:rPr sz="1000" b="0">
                <a:solidFill>
                  <a:srgbClr val="595959"/>
                </a:solidFill>
                <a:latin typeface="Calibri"/>
              </a:rPr>
              <a:t>Tối đa 8 hunk/commit, chia đều các file;</a:t>
            </a:r>
          </a:p>
          <a:p>
            <a:pPr algn="l"/>
            <a:r>
              <a:rPr sz="1000" b="0">
                <a:solidFill>
                  <a:srgbClr val="595959"/>
                </a:solidFill>
                <a:latin typeface="Calibri"/>
              </a:rPr>
              <a:t>mỗi hunk ≤ 256 token</a:t>
            </a:r>
          </a:p>
        </p:txBody>
      </p:sp>
      <p:sp>
        <p:nvSpPr>
          <p:cNvPr id="328" name="Rounded Rectangle 327"/>
          <p:cNvSpPr/>
          <p:nvPr/>
        </p:nvSpPr>
        <p:spPr>
          <a:xfrm>
            <a:off x="2697480" y="1828800"/>
            <a:ext cx="1463040" cy="274320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dirty="0" err="1">
                <a:solidFill>
                  <a:srgbClr val="262626"/>
                </a:solidFill>
                <a:latin typeface="Calibri"/>
              </a:rPr>
              <a:t>UniXcoder</a:t>
            </a:r>
            <a:endParaRPr sz="1400" b="1" dirty="0">
              <a:solidFill>
                <a:srgbClr val="262626"/>
              </a:solidFill>
              <a:latin typeface="Calibri"/>
            </a:endParaRPr>
          </a:p>
          <a:p>
            <a:pPr algn="ctr"/>
            <a:r>
              <a:rPr sz="1050" b="0" dirty="0">
                <a:solidFill>
                  <a:srgbClr val="595959"/>
                </a:solidFill>
                <a:latin typeface="Calibri"/>
              </a:rPr>
              <a:t>Transformer 12 </a:t>
            </a:r>
            <a:r>
              <a:rPr sz="1050" b="0" dirty="0" err="1">
                <a:solidFill>
                  <a:srgbClr val="595959"/>
                </a:solidFill>
                <a:latin typeface="Calibri"/>
              </a:rPr>
              <a:t>lớp</a:t>
            </a:r>
            <a:r>
              <a:rPr sz="1050" b="0" dirty="0">
                <a:solidFill>
                  <a:srgbClr val="595959"/>
                </a:solidFill>
                <a:latin typeface="Calibri"/>
              </a:rPr>
              <a:t>, </a:t>
            </a:r>
            <a:r>
              <a:rPr sz="1050" b="0" dirty="0" err="1">
                <a:solidFill>
                  <a:srgbClr val="595959"/>
                </a:solidFill>
                <a:latin typeface="Calibri"/>
              </a:rPr>
              <a:t>đã</a:t>
            </a:r>
            <a:r>
              <a:rPr sz="1050" b="0" dirty="0">
                <a:solidFill>
                  <a:srgbClr val="595959"/>
                </a:solidFill>
                <a:latin typeface="Calibri"/>
              </a:rPr>
              <a:t> </a:t>
            </a:r>
            <a:r>
              <a:rPr sz="1050" b="0" dirty="0" err="1">
                <a:solidFill>
                  <a:srgbClr val="595959"/>
                </a:solidFill>
                <a:latin typeface="Calibri"/>
              </a:rPr>
              <a:t>học</a:t>
            </a:r>
            <a:r>
              <a:rPr sz="1050" b="0" dirty="0">
                <a:solidFill>
                  <a:srgbClr val="595959"/>
                </a:solidFill>
                <a:latin typeface="Calibri"/>
              </a:rPr>
              <a:t> </a:t>
            </a:r>
            <a:r>
              <a:rPr sz="1050" b="0" dirty="0" err="1">
                <a:solidFill>
                  <a:srgbClr val="595959"/>
                </a:solidFill>
                <a:latin typeface="Calibri"/>
              </a:rPr>
              <a:t>sẵn</a:t>
            </a:r>
            <a:r>
              <a:rPr sz="1050" b="0" dirty="0">
                <a:solidFill>
                  <a:srgbClr val="595959"/>
                </a:solidFill>
                <a:latin typeface="Calibri"/>
              </a:rPr>
              <a:t> </a:t>
            </a:r>
            <a:r>
              <a:rPr sz="1050" b="0" dirty="0" err="1">
                <a:solidFill>
                  <a:srgbClr val="595959"/>
                </a:solidFill>
                <a:latin typeface="Calibri"/>
              </a:rPr>
              <a:t>trên</a:t>
            </a:r>
            <a:r>
              <a:rPr sz="1050" b="0" dirty="0">
                <a:solidFill>
                  <a:srgbClr val="595959"/>
                </a:solidFill>
                <a:latin typeface="Calibri"/>
              </a:rPr>
              <a:t> </a:t>
            </a:r>
            <a:r>
              <a:rPr sz="1050" b="0" dirty="0" err="1">
                <a:solidFill>
                  <a:srgbClr val="595959"/>
                </a:solidFill>
                <a:latin typeface="Calibri"/>
              </a:rPr>
              <a:t>mã</a:t>
            </a:r>
            <a:r>
              <a:rPr sz="1050" b="0" dirty="0">
                <a:solidFill>
                  <a:srgbClr val="595959"/>
                </a:solidFill>
                <a:latin typeface="Calibri"/>
              </a:rPr>
              <a:t> </a:t>
            </a:r>
            <a:r>
              <a:rPr sz="1050" b="0" dirty="0" err="1">
                <a:solidFill>
                  <a:srgbClr val="595959"/>
                </a:solidFill>
                <a:latin typeface="Calibri"/>
              </a:rPr>
              <a:t>nguồn</a:t>
            </a:r>
            <a:endParaRPr sz="1050" b="0" dirty="0">
              <a:solidFill>
                <a:srgbClr val="595959"/>
              </a:solidFill>
              <a:latin typeface="Calibri"/>
            </a:endParaRPr>
          </a:p>
          <a:p>
            <a:pPr algn="ctr"/>
            <a:endParaRPr sz="1050" b="0" dirty="0">
              <a:solidFill>
                <a:srgbClr val="595959"/>
              </a:solidFill>
              <a:latin typeface="Calibri"/>
            </a:endParaRPr>
          </a:p>
          <a:p>
            <a:pPr algn="ctr"/>
            <a:r>
              <a:rPr sz="1050" b="0" dirty="0">
                <a:solidFill>
                  <a:srgbClr val="595959"/>
                </a:solidFill>
                <a:latin typeface="Calibri"/>
              </a:rPr>
              <a:t>6 </a:t>
            </a:r>
            <a:r>
              <a:rPr sz="1050" b="0" dirty="0" err="1">
                <a:solidFill>
                  <a:srgbClr val="595959"/>
                </a:solidFill>
                <a:latin typeface="Calibri"/>
              </a:rPr>
              <a:t>lớp</a:t>
            </a:r>
            <a:r>
              <a:rPr sz="1050" b="0" dirty="0">
                <a:solidFill>
                  <a:srgbClr val="595959"/>
                </a:solidFill>
                <a:latin typeface="Calibri"/>
              </a:rPr>
              <a:t> </a:t>
            </a:r>
            <a:r>
              <a:rPr sz="1050" b="0" dirty="0" err="1">
                <a:solidFill>
                  <a:srgbClr val="595959"/>
                </a:solidFill>
                <a:latin typeface="Calibri"/>
              </a:rPr>
              <a:t>dưới</a:t>
            </a:r>
            <a:r>
              <a:rPr sz="1050" b="0" dirty="0">
                <a:solidFill>
                  <a:srgbClr val="595959"/>
                </a:solidFill>
                <a:latin typeface="Calibri"/>
              </a:rPr>
              <a:t> </a:t>
            </a:r>
            <a:r>
              <a:rPr sz="1050" b="0" dirty="0" err="1">
                <a:solidFill>
                  <a:srgbClr val="595959"/>
                </a:solidFill>
                <a:latin typeface="Calibri"/>
              </a:rPr>
              <a:t>đóng</a:t>
            </a:r>
            <a:r>
              <a:rPr sz="1050" b="0" dirty="0">
                <a:solidFill>
                  <a:srgbClr val="595959"/>
                </a:solidFill>
                <a:latin typeface="Calibri"/>
              </a:rPr>
              <a:t> </a:t>
            </a:r>
            <a:r>
              <a:rPr sz="1050" b="0" dirty="0" err="1">
                <a:solidFill>
                  <a:srgbClr val="595959"/>
                </a:solidFill>
                <a:latin typeface="Calibri"/>
              </a:rPr>
              <a:t>băng</a:t>
            </a:r>
            <a:endParaRPr sz="1050" b="0" dirty="0">
              <a:solidFill>
                <a:srgbClr val="595959"/>
              </a:solidFill>
              <a:latin typeface="Calibri"/>
            </a:endParaRPr>
          </a:p>
          <a:p>
            <a:pPr algn="ctr"/>
            <a:endParaRPr sz="1050" b="0" dirty="0">
              <a:solidFill>
                <a:srgbClr val="595959"/>
              </a:solidFill>
              <a:latin typeface="Calibri"/>
            </a:endParaRPr>
          </a:p>
          <a:p>
            <a:pPr algn="ctr"/>
            <a:r>
              <a:rPr sz="1050" b="0" dirty="0" err="1">
                <a:solidFill>
                  <a:srgbClr val="595959"/>
                </a:solidFill>
                <a:latin typeface="Calibri"/>
              </a:rPr>
              <a:t>trung</a:t>
            </a:r>
            <a:r>
              <a:rPr sz="1050" b="0" dirty="0">
                <a:solidFill>
                  <a:srgbClr val="595959"/>
                </a:solidFill>
                <a:latin typeface="Calibri"/>
              </a:rPr>
              <a:t> </a:t>
            </a:r>
            <a:r>
              <a:rPr sz="1050" b="0" dirty="0" err="1">
                <a:solidFill>
                  <a:srgbClr val="595959"/>
                </a:solidFill>
                <a:latin typeface="Calibri"/>
              </a:rPr>
              <a:t>bình</a:t>
            </a:r>
            <a:r>
              <a:rPr sz="1050" b="0" dirty="0">
                <a:solidFill>
                  <a:srgbClr val="595959"/>
                </a:solidFill>
                <a:latin typeface="Calibri"/>
              </a:rPr>
              <a:t> </a:t>
            </a:r>
            <a:r>
              <a:rPr sz="1050" b="0" dirty="0" err="1">
                <a:solidFill>
                  <a:srgbClr val="595959"/>
                </a:solidFill>
                <a:latin typeface="Calibri"/>
              </a:rPr>
              <a:t>các</a:t>
            </a:r>
            <a:r>
              <a:rPr sz="1050" b="0" dirty="0">
                <a:solidFill>
                  <a:srgbClr val="595959"/>
                </a:solidFill>
                <a:latin typeface="Calibri"/>
              </a:rPr>
              <a:t> token</a:t>
            </a:r>
          </a:p>
          <a:p>
            <a:pPr algn="ctr"/>
            <a:r>
              <a:rPr sz="1050" b="0" dirty="0">
                <a:solidFill>
                  <a:srgbClr val="595959"/>
                </a:solidFill>
                <a:latin typeface="Calibri"/>
              </a:rPr>
              <a:t>→ 1 vector / hunk</a:t>
            </a:r>
          </a:p>
        </p:txBody>
      </p:sp>
      <p:cxnSp>
        <p:nvCxnSpPr>
          <p:cNvPr id="329" name="Connector 328"/>
          <p:cNvCxnSpPr/>
          <p:nvPr/>
        </p:nvCxnSpPr>
        <p:spPr>
          <a:xfrm>
            <a:off x="2194560" y="2249424"/>
            <a:ext cx="50292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0" name="Rounded Rectangle 329"/>
          <p:cNvSpPr/>
          <p:nvPr/>
        </p:nvSpPr>
        <p:spPr>
          <a:xfrm>
            <a:off x="4434840" y="2048255"/>
            <a:ext cx="685800" cy="402336"/>
          </a:xfrm>
          <a:prstGeom prst="roundRect">
            <a:avLst>
              <a:gd name="adj" fmla="val 12000"/>
            </a:avLst>
          </a:prstGeom>
          <a:solidFill>
            <a:srgbClr val="FFFFFF"/>
          </a:solidFill>
          <a:ln w="12700">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1" name="Connector 330"/>
          <p:cNvCxnSpPr/>
          <p:nvPr/>
        </p:nvCxnSpPr>
        <p:spPr>
          <a:xfrm>
            <a:off x="4160520" y="2249424"/>
            <a:ext cx="27432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2194560" y="2935224"/>
            <a:ext cx="50292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3" name="Rounded Rectangle 332"/>
          <p:cNvSpPr/>
          <p:nvPr/>
        </p:nvSpPr>
        <p:spPr>
          <a:xfrm>
            <a:off x="4434840" y="2734056"/>
            <a:ext cx="685800" cy="402336"/>
          </a:xfrm>
          <a:prstGeom prst="roundRect">
            <a:avLst>
              <a:gd name="adj" fmla="val 12000"/>
            </a:avLst>
          </a:prstGeom>
          <a:solidFill>
            <a:srgbClr val="FFFFFF"/>
          </a:solidFill>
          <a:ln w="12700">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4" name="Connector 333"/>
          <p:cNvCxnSpPr/>
          <p:nvPr/>
        </p:nvCxnSpPr>
        <p:spPr>
          <a:xfrm>
            <a:off x="4160520" y="2935224"/>
            <a:ext cx="27432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2194560" y="4151376"/>
            <a:ext cx="50292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6" name="Rounded Rectangle 335"/>
          <p:cNvSpPr/>
          <p:nvPr/>
        </p:nvSpPr>
        <p:spPr>
          <a:xfrm>
            <a:off x="4434840" y="3950208"/>
            <a:ext cx="685800" cy="402336"/>
          </a:xfrm>
          <a:prstGeom prst="roundRect">
            <a:avLst>
              <a:gd name="adj" fmla="val 12000"/>
            </a:avLst>
          </a:prstGeom>
          <a:solidFill>
            <a:srgbClr val="FFFFFF"/>
          </a:solidFill>
          <a:ln w="12700">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7" name="Connector 336"/>
          <p:cNvCxnSpPr/>
          <p:nvPr/>
        </p:nvCxnSpPr>
        <p:spPr>
          <a:xfrm>
            <a:off x="4160520" y="4151376"/>
            <a:ext cx="27432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8" name="TextBox 337"/>
          <p:cNvSpPr txBox="1"/>
          <p:nvPr/>
        </p:nvSpPr>
        <p:spPr>
          <a:xfrm>
            <a:off x="4434840" y="2066543"/>
            <a:ext cx="685800" cy="365760"/>
          </a:xfrm>
          <a:prstGeom prst="rect">
            <a:avLst/>
          </a:prstGeom>
          <a:noFill/>
        </p:spPr>
        <p:txBody>
          <a:bodyPr wrap="square" lIns="45720" tIns="27432" rIns="45720" bIns="27432" anchor="t">
            <a:spAutoFit/>
          </a:bodyPr>
          <a:lstStyle/>
          <a:p>
            <a:pPr algn="ctr"/>
            <a:r>
              <a:rPr sz="1100" b="1">
                <a:solidFill>
                  <a:srgbClr val="262626"/>
                </a:solidFill>
                <a:latin typeface="Calibri"/>
              </a:rPr>
              <a:t>h₁  768</a:t>
            </a:r>
          </a:p>
        </p:txBody>
      </p:sp>
      <p:sp>
        <p:nvSpPr>
          <p:cNvPr id="339" name="TextBox 338"/>
          <p:cNvSpPr txBox="1"/>
          <p:nvPr/>
        </p:nvSpPr>
        <p:spPr>
          <a:xfrm>
            <a:off x="4434840" y="2752344"/>
            <a:ext cx="685800" cy="365760"/>
          </a:xfrm>
          <a:prstGeom prst="rect">
            <a:avLst/>
          </a:prstGeom>
          <a:noFill/>
        </p:spPr>
        <p:txBody>
          <a:bodyPr wrap="square" lIns="45720" tIns="27432" rIns="45720" bIns="27432" anchor="t">
            <a:spAutoFit/>
          </a:bodyPr>
          <a:lstStyle/>
          <a:p>
            <a:pPr algn="ctr"/>
            <a:r>
              <a:rPr sz="1100" b="1" dirty="0">
                <a:solidFill>
                  <a:srgbClr val="262626"/>
                </a:solidFill>
                <a:latin typeface="Calibri"/>
              </a:rPr>
              <a:t>h₂  768</a:t>
            </a:r>
          </a:p>
        </p:txBody>
      </p:sp>
      <p:sp>
        <p:nvSpPr>
          <p:cNvPr id="340" name="TextBox 339"/>
          <p:cNvSpPr txBox="1"/>
          <p:nvPr/>
        </p:nvSpPr>
        <p:spPr>
          <a:xfrm>
            <a:off x="4434840" y="3968496"/>
            <a:ext cx="685800" cy="365760"/>
          </a:xfrm>
          <a:prstGeom prst="rect">
            <a:avLst/>
          </a:prstGeom>
          <a:noFill/>
        </p:spPr>
        <p:txBody>
          <a:bodyPr wrap="square" lIns="45720" tIns="27432" rIns="45720" bIns="27432" anchor="t">
            <a:spAutoFit/>
          </a:bodyPr>
          <a:lstStyle/>
          <a:p>
            <a:pPr algn="ctr"/>
            <a:r>
              <a:rPr sz="1100" b="1" dirty="0">
                <a:solidFill>
                  <a:srgbClr val="262626"/>
                </a:solidFill>
                <a:latin typeface="Calibri"/>
              </a:rPr>
              <a:t>h₃  768</a:t>
            </a:r>
          </a:p>
        </p:txBody>
      </p:sp>
      <p:sp>
        <p:nvSpPr>
          <p:cNvPr id="341" name="Rounded Rectangle 340"/>
          <p:cNvSpPr/>
          <p:nvPr/>
        </p:nvSpPr>
        <p:spPr>
          <a:xfrm>
            <a:off x="5577840" y="2208276"/>
            <a:ext cx="1280160" cy="768096"/>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262626"/>
                </a:solidFill>
                <a:latin typeface="Calibri"/>
              </a:rPr>
              <a:t>vector file 1</a:t>
            </a:r>
          </a:p>
          <a:p>
            <a:pPr algn="ctr"/>
            <a:r>
              <a:rPr sz="1000" b="0">
                <a:solidFill>
                  <a:srgbClr val="595959"/>
                </a:solidFill>
                <a:latin typeface="Calibri"/>
              </a:rPr>
              <a:t>768 số</a:t>
            </a:r>
          </a:p>
        </p:txBody>
      </p:sp>
      <p:sp>
        <p:nvSpPr>
          <p:cNvPr id="342" name="Rounded Rectangle 341"/>
          <p:cNvSpPr/>
          <p:nvPr/>
        </p:nvSpPr>
        <p:spPr>
          <a:xfrm>
            <a:off x="5577840" y="3767328"/>
            <a:ext cx="1280160" cy="768096"/>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262626"/>
                </a:solidFill>
                <a:latin typeface="Calibri"/>
              </a:rPr>
              <a:t>vector file 2</a:t>
            </a:r>
          </a:p>
          <a:p>
            <a:pPr algn="ctr"/>
            <a:r>
              <a:rPr sz="1000" b="0">
                <a:solidFill>
                  <a:srgbClr val="595959"/>
                </a:solidFill>
                <a:latin typeface="Calibri"/>
              </a:rPr>
              <a:t>768 số</a:t>
            </a:r>
          </a:p>
        </p:txBody>
      </p:sp>
      <p:cxnSp>
        <p:nvCxnSpPr>
          <p:cNvPr id="343" name="Connector 342"/>
          <p:cNvCxnSpPr/>
          <p:nvPr/>
        </p:nvCxnSpPr>
        <p:spPr>
          <a:xfrm>
            <a:off x="5120640" y="2249424"/>
            <a:ext cx="457200" cy="34290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4" name="TextBox 343"/>
          <p:cNvSpPr txBox="1"/>
          <p:nvPr/>
        </p:nvSpPr>
        <p:spPr>
          <a:xfrm>
            <a:off x="5120640" y="1975104"/>
            <a:ext cx="548640" cy="228600"/>
          </a:xfrm>
          <a:prstGeom prst="rect">
            <a:avLst/>
          </a:prstGeom>
          <a:noFill/>
        </p:spPr>
        <p:txBody>
          <a:bodyPr wrap="square" lIns="45720" tIns="27432" rIns="45720" bIns="27432" anchor="t">
            <a:spAutoFit/>
          </a:bodyPr>
          <a:lstStyle/>
          <a:p>
            <a:pPr algn="l"/>
            <a:r>
              <a:rPr sz="1000" b="0" i="1">
                <a:solidFill>
                  <a:srgbClr val="C00000"/>
                </a:solidFill>
                <a:latin typeface="Calibri"/>
              </a:rPr>
              <a:t>α = 0,8</a:t>
            </a:r>
          </a:p>
        </p:txBody>
      </p:sp>
      <p:cxnSp>
        <p:nvCxnSpPr>
          <p:cNvPr id="345" name="Connector 344"/>
          <p:cNvCxnSpPr/>
          <p:nvPr/>
        </p:nvCxnSpPr>
        <p:spPr>
          <a:xfrm flipV="1">
            <a:off x="5120640" y="2592324"/>
            <a:ext cx="457200" cy="34290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6" name="TextBox 345"/>
          <p:cNvSpPr txBox="1"/>
          <p:nvPr/>
        </p:nvSpPr>
        <p:spPr>
          <a:xfrm>
            <a:off x="5120640" y="2971800"/>
            <a:ext cx="548640" cy="228600"/>
          </a:xfrm>
          <a:prstGeom prst="rect">
            <a:avLst/>
          </a:prstGeom>
          <a:noFill/>
        </p:spPr>
        <p:txBody>
          <a:bodyPr wrap="square" lIns="45720" tIns="27432" rIns="45720" bIns="27432" anchor="t">
            <a:spAutoFit/>
          </a:bodyPr>
          <a:lstStyle/>
          <a:p>
            <a:pPr algn="l"/>
            <a:r>
              <a:rPr sz="1000" b="0" i="1">
                <a:solidFill>
                  <a:srgbClr val="C00000"/>
                </a:solidFill>
                <a:latin typeface="Calibri"/>
              </a:rPr>
              <a:t>α = 0,2</a:t>
            </a:r>
          </a:p>
        </p:txBody>
      </p:sp>
      <p:cxnSp>
        <p:nvCxnSpPr>
          <p:cNvPr id="347" name="Connector 346"/>
          <p:cNvCxnSpPr/>
          <p:nvPr/>
        </p:nvCxnSpPr>
        <p:spPr>
          <a:xfrm>
            <a:off x="5120640" y="4151376"/>
            <a:ext cx="45720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8" name="TextBox 347"/>
          <p:cNvSpPr txBox="1"/>
          <p:nvPr/>
        </p:nvSpPr>
        <p:spPr>
          <a:xfrm>
            <a:off x="5120640" y="3877056"/>
            <a:ext cx="548640" cy="228600"/>
          </a:xfrm>
          <a:prstGeom prst="rect">
            <a:avLst/>
          </a:prstGeom>
          <a:noFill/>
        </p:spPr>
        <p:txBody>
          <a:bodyPr wrap="square" lIns="45720" tIns="27432" rIns="45720" bIns="27432" anchor="t">
            <a:spAutoFit/>
          </a:bodyPr>
          <a:lstStyle/>
          <a:p>
            <a:pPr algn="l"/>
            <a:r>
              <a:rPr sz="1000" b="0" i="1">
                <a:solidFill>
                  <a:srgbClr val="C00000"/>
                </a:solidFill>
                <a:latin typeface="Calibri"/>
              </a:rPr>
              <a:t>α = 1</a:t>
            </a:r>
          </a:p>
        </p:txBody>
      </p:sp>
      <p:sp>
        <p:nvSpPr>
          <p:cNvPr id="349" name="Rounded Rectangle 348"/>
          <p:cNvSpPr/>
          <p:nvPr/>
        </p:nvSpPr>
        <p:spPr>
          <a:xfrm>
            <a:off x="7132320" y="2868930"/>
            <a:ext cx="1280160" cy="100584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262626"/>
                </a:solidFill>
                <a:latin typeface="Calibri"/>
              </a:rPr>
              <a:t>vector commit</a:t>
            </a:r>
          </a:p>
          <a:p>
            <a:pPr algn="ctr"/>
            <a:r>
              <a:rPr sz="1000" b="0">
                <a:solidFill>
                  <a:srgbClr val="595959"/>
                </a:solidFill>
                <a:latin typeface="Calibri"/>
              </a:rPr>
              <a:t>c: 768 số</a:t>
            </a:r>
          </a:p>
        </p:txBody>
      </p:sp>
      <p:cxnSp>
        <p:nvCxnSpPr>
          <p:cNvPr id="350" name="Connector 349"/>
          <p:cNvCxnSpPr/>
          <p:nvPr/>
        </p:nvCxnSpPr>
        <p:spPr>
          <a:xfrm>
            <a:off x="6858000" y="2592324"/>
            <a:ext cx="274320" cy="642366"/>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6858000" y="3509010"/>
            <a:ext cx="274320" cy="642366"/>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2" name="Rounded Rectangle 351"/>
          <p:cNvSpPr/>
          <p:nvPr/>
        </p:nvSpPr>
        <p:spPr>
          <a:xfrm>
            <a:off x="7040880" y="4480560"/>
            <a:ext cx="1463039" cy="91440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262626"/>
                </a:solidFill>
                <a:latin typeface="Calibri"/>
              </a:rPr>
              <a:t>Lịch sử build</a:t>
            </a:r>
          </a:p>
          <a:p>
            <a:pPr algn="ctr"/>
            <a:r>
              <a:rPr sz="950" b="0">
                <a:solidFill>
                  <a:srgbClr val="595959"/>
                </a:solidFill>
                <a:latin typeface="Calibri"/>
              </a:rPr>
              <a:t>lần trước fail?, loại lỗi trước, số file, repo…</a:t>
            </a:r>
          </a:p>
          <a:p>
            <a:pPr algn="ctr"/>
            <a:r>
              <a:rPr sz="950" b="0">
                <a:solidFill>
                  <a:srgbClr val="595959"/>
                </a:solidFill>
                <a:latin typeface="Calibri"/>
              </a:rPr>
              <a:t>→ 64 số</a:t>
            </a:r>
          </a:p>
        </p:txBody>
      </p:sp>
      <p:sp>
        <p:nvSpPr>
          <p:cNvPr id="353" name="Rounded Rectangle 352"/>
          <p:cNvSpPr/>
          <p:nvPr/>
        </p:nvSpPr>
        <p:spPr>
          <a:xfrm>
            <a:off x="8686800" y="2777490"/>
            <a:ext cx="1097280" cy="11887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262626"/>
                </a:solidFill>
                <a:latin typeface="Calibri"/>
              </a:rPr>
              <a:t>Ghép + MLP</a:t>
            </a:r>
          </a:p>
          <a:p>
            <a:pPr algn="ctr"/>
            <a:r>
              <a:rPr sz="1050" b="0">
                <a:solidFill>
                  <a:srgbClr val="595959"/>
                </a:solidFill>
                <a:latin typeface="Calibri"/>
              </a:rPr>
              <a:t>768 + 64</a:t>
            </a:r>
          </a:p>
          <a:p>
            <a:pPr algn="ctr"/>
            <a:r>
              <a:rPr sz="1050" b="0">
                <a:solidFill>
                  <a:srgbClr val="595959"/>
                </a:solidFill>
                <a:latin typeface="Calibri"/>
              </a:rPr>
              <a:t>→ z: 256 số</a:t>
            </a:r>
          </a:p>
        </p:txBody>
      </p:sp>
      <p:cxnSp>
        <p:nvCxnSpPr>
          <p:cNvPr id="354" name="Connector 353"/>
          <p:cNvCxnSpPr/>
          <p:nvPr/>
        </p:nvCxnSpPr>
        <p:spPr>
          <a:xfrm>
            <a:off x="8412480" y="3371850"/>
            <a:ext cx="27432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8503919" y="3966210"/>
            <a:ext cx="731521" cy="97155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6" name="Rounded Rectangle 355"/>
          <p:cNvSpPr/>
          <p:nvPr/>
        </p:nvSpPr>
        <p:spPr>
          <a:xfrm>
            <a:off x="10058400" y="1828800"/>
            <a:ext cx="1783080" cy="123444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dirty="0" err="1">
                <a:solidFill>
                  <a:srgbClr val="262626"/>
                </a:solidFill>
                <a:latin typeface="Calibri"/>
              </a:rPr>
              <a:t>Đầu</a:t>
            </a:r>
            <a:r>
              <a:rPr sz="1300" b="1" dirty="0">
                <a:solidFill>
                  <a:srgbClr val="262626"/>
                </a:solidFill>
                <a:latin typeface="Calibri"/>
              </a:rPr>
              <a:t> </a:t>
            </a:r>
            <a:r>
              <a:rPr sz="1300" b="1" dirty="0" err="1">
                <a:solidFill>
                  <a:srgbClr val="262626"/>
                </a:solidFill>
                <a:latin typeface="Calibri"/>
              </a:rPr>
              <a:t>phân</a:t>
            </a:r>
            <a:r>
              <a:rPr sz="1300" b="1" dirty="0">
                <a:solidFill>
                  <a:srgbClr val="262626"/>
                </a:solidFill>
                <a:latin typeface="Calibri"/>
              </a:rPr>
              <a:t> </a:t>
            </a:r>
            <a:r>
              <a:rPr sz="1300" b="1" dirty="0" err="1">
                <a:solidFill>
                  <a:srgbClr val="262626"/>
                </a:solidFill>
                <a:latin typeface="Calibri"/>
              </a:rPr>
              <a:t>loại</a:t>
            </a:r>
            <a:endParaRPr sz="1300" b="1" dirty="0">
              <a:solidFill>
                <a:srgbClr val="262626"/>
              </a:solidFill>
              <a:latin typeface="Calibri"/>
            </a:endParaRPr>
          </a:p>
        </p:txBody>
      </p:sp>
      <p:sp>
        <p:nvSpPr>
          <p:cNvPr id="357" name="Rounded Rectangle 356"/>
          <p:cNvSpPr/>
          <p:nvPr/>
        </p:nvSpPr>
        <p:spPr>
          <a:xfrm>
            <a:off x="10058400" y="3383279"/>
            <a:ext cx="1783080" cy="1417320"/>
          </a:xfrm>
          <a:prstGeom prst="roundRect">
            <a:avLst>
              <a:gd name="adj" fmla="val 12000"/>
            </a:avLst>
          </a:prstGeom>
          <a:solidFill>
            <a:srgbClr val="FDF5F5"/>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dirty="0" err="1">
                <a:solidFill>
                  <a:srgbClr val="262626"/>
                </a:solidFill>
                <a:latin typeface="Calibri"/>
              </a:rPr>
              <a:t>Đầu</a:t>
            </a:r>
            <a:r>
              <a:rPr sz="1300" b="1" dirty="0">
                <a:solidFill>
                  <a:srgbClr val="262626"/>
                </a:solidFill>
                <a:latin typeface="Calibri"/>
              </a:rPr>
              <a:t> so </a:t>
            </a:r>
            <a:r>
              <a:rPr sz="1300" b="1" dirty="0" err="1">
                <a:solidFill>
                  <a:srgbClr val="262626"/>
                </a:solidFill>
                <a:latin typeface="Calibri"/>
              </a:rPr>
              <a:t>sánh</a:t>
            </a:r>
            <a:endParaRPr sz="1300" b="1" dirty="0">
              <a:solidFill>
                <a:srgbClr val="262626"/>
              </a:solidFill>
              <a:latin typeface="Calibri"/>
            </a:endParaRPr>
          </a:p>
        </p:txBody>
      </p:sp>
      <p:cxnSp>
        <p:nvCxnSpPr>
          <p:cNvPr id="358" name="Connector 357"/>
          <p:cNvCxnSpPr/>
          <p:nvPr/>
        </p:nvCxnSpPr>
        <p:spPr>
          <a:xfrm flipV="1">
            <a:off x="9784080" y="2446020"/>
            <a:ext cx="274320" cy="69723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9784080" y="3600450"/>
            <a:ext cx="274320" cy="491489"/>
          </a:xfrm>
          <a:prstGeom prst="line">
            <a:avLst/>
          </a:prstGeom>
          <a:ln w="158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0" name="TextBox 359"/>
          <p:cNvSpPr txBox="1"/>
          <p:nvPr/>
        </p:nvSpPr>
        <p:spPr>
          <a:xfrm>
            <a:off x="320040" y="5440680"/>
            <a:ext cx="11521440" cy="457200"/>
          </a:xfrm>
          <a:prstGeom prst="rect">
            <a:avLst/>
          </a:prstGeom>
          <a:noFill/>
        </p:spPr>
        <p:txBody>
          <a:bodyPr wrap="square" lIns="45720" tIns="27432" rIns="45720" bIns="27432" anchor="t">
            <a:spAutoFit/>
          </a:bodyPr>
          <a:lstStyle/>
          <a:p>
            <a:pPr algn="l"/>
            <a:r>
              <a:rPr sz="1050" b="0" dirty="0">
                <a:solidFill>
                  <a:srgbClr val="595959"/>
                </a:solidFill>
                <a:latin typeface="Calibri"/>
              </a:rPr>
              <a:t>Attention: </a:t>
            </a:r>
            <a:r>
              <a:rPr sz="1050" b="0" dirty="0" err="1">
                <a:solidFill>
                  <a:srgbClr val="595959"/>
                </a:solidFill>
                <a:latin typeface="Calibri"/>
              </a:rPr>
              <a:t>mỗi</a:t>
            </a:r>
            <a:r>
              <a:rPr sz="1050" b="0" dirty="0">
                <a:solidFill>
                  <a:srgbClr val="595959"/>
                </a:solidFill>
                <a:latin typeface="Calibri"/>
              </a:rPr>
              <a:t> hunk (</a:t>
            </a:r>
            <a:r>
              <a:rPr sz="1050" b="0" dirty="0" err="1">
                <a:solidFill>
                  <a:srgbClr val="595959"/>
                </a:solidFill>
                <a:latin typeface="Calibri"/>
              </a:rPr>
              <a:t>rồi</a:t>
            </a:r>
            <a:r>
              <a:rPr sz="1050" b="0" dirty="0">
                <a:solidFill>
                  <a:srgbClr val="595959"/>
                </a:solidFill>
                <a:latin typeface="Calibri"/>
              </a:rPr>
              <a:t> </a:t>
            </a:r>
            <a:r>
              <a:rPr sz="1050" b="0" dirty="0" err="1">
                <a:solidFill>
                  <a:srgbClr val="595959"/>
                </a:solidFill>
                <a:latin typeface="Calibri"/>
              </a:rPr>
              <a:t>mỗi</a:t>
            </a:r>
            <a:r>
              <a:rPr sz="1050" b="0" dirty="0">
                <a:solidFill>
                  <a:srgbClr val="595959"/>
                </a:solidFill>
                <a:latin typeface="Calibri"/>
              </a:rPr>
              <a:t> file) </a:t>
            </a:r>
            <a:r>
              <a:rPr sz="1050" b="0" dirty="0" err="1">
                <a:solidFill>
                  <a:srgbClr val="595959"/>
                </a:solidFill>
                <a:latin typeface="Calibri"/>
              </a:rPr>
              <a:t>được</a:t>
            </a:r>
            <a:r>
              <a:rPr sz="1050" b="0" dirty="0">
                <a:solidFill>
                  <a:srgbClr val="595959"/>
                </a:solidFill>
                <a:latin typeface="Calibri"/>
              </a:rPr>
              <a:t> </a:t>
            </a:r>
            <a:r>
              <a:rPr sz="1050" b="0" dirty="0" err="1">
                <a:solidFill>
                  <a:srgbClr val="595959"/>
                </a:solidFill>
                <a:latin typeface="Calibri"/>
              </a:rPr>
              <a:t>chấm</a:t>
            </a:r>
            <a:r>
              <a:rPr sz="1050" b="0" dirty="0">
                <a:solidFill>
                  <a:srgbClr val="595959"/>
                </a:solidFill>
                <a:latin typeface="Calibri"/>
              </a:rPr>
              <a:t> </a:t>
            </a:r>
            <a:r>
              <a:rPr sz="1050" b="0" dirty="0" err="1">
                <a:solidFill>
                  <a:srgbClr val="595959"/>
                </a:solidFill>
                <a:latin typeface="Calibri"/>
              </a:rPr>
              <a:t>một</a:t>
            </a:r>
            <a:r>
              <a:rPr sz="1050" b="0" dirty="0">
                <a:solidFill>
                  <a:srgbClr val="595959"/>
                </a:solidFill>
                <a:latin typeface="Calibri"/>
              </a:rPr>
              <a:t> </a:t>
            </a:r>
            <a:r>
              <a:rPr sz="1050" b="0" dirty="0" err="1">
                <a:solidFill>
                  <a:srgbClr val="595959"/>
                </a:solidFill>
                <a:latin typeface="Calibri"/>
              </a:rPr>
              <a:t>điểm</a:t>
            </a:r>
            <a:r>
              <a:rPr sz="1050" b="0" dirty="0">
                <a:solidFill>
                  <a:srgbClr val="595959"/>
                </a:solidFill>
                <a:latin typeface="Calibri"/>
              </a:rPr>
              <a:t> </a:t>
            </a:r>
            <a:r>
              <a:rPr sz="1050" b="0" dirty="0" err="1">
                <a:solidFill>
                  <a:srgbClr val="595959"/>
                </a:solidFill>
                <a:latin typeface="Calibri"/>
              </a:rPr>
              <a:t>quan</a:t>
            </a:r>
            <a:r>
              <a:rPr sz="1050" b="0" dirty="0">
                <a:solidFill>
                  <a:srgbClr val="595959"/>
                </a:solidFill>
                <a:latin typeface="Calibri"/>
              </a:rPr>
              <a:t> </a:t>
            </a:r>
            <a:r>
              <a:rPr sz="1050" b="0" dirty="0" err="1">
                <a:solidFill>
                  <a:srgbClr val="595959"/>
                </a:solidFill>
                <a:latin typeface="Calibri"/>
              </a:rPr>
              <a:t>trọng</a:t>
            </a:r>
            <a:r>
              <a:rPr sz="1050" b="0" dirty="0">
                <a:solidFill>
                  <a:srgbClr val="595959"/>
                </a:solidFill>
                <a:latin typeface="Calibri"/>
              </a:rPr>
              <a:t>; </a:t>
            </a:r>
            <a:r>
              <a:rPr sz="1050" b="0" dirty="0" err="1">
                <a:solidFill>
                  <a:srgbClr val="595959"/>
                </a:solidFill>
                <a:latin typeface="Calibri"/>
              </a:rPr>
              <a:t>softmax</a:t>
            </a:r>
            <a:r>
              <a:rPr sz="1050" b="0" dirty="0">
                <a:solidFill>
                  <a:srgbClr val="595959"/>
                </a:solidFill>
                <a:latin typeface="Calibri"/>
              </a:rPr>
              <a:t> </a:t>
            </a:r>
            <a:r>
              <a:rPr sz="1050" b="0" dirty="0" err="1">
                <a:solidFill>
                  <a:srgbClr val="595959"/>
                </a:solidFill>
                <a:latin typeface="Calibri"/>
              </a:rPr>
              <a:t>trong</a:t>
            </a:r>
            <a:r>
              <a:rPr sz="1050" b="0" dirty="0">
                <a:solidFill>
                  <a:srgbClr val="595959"/>
                </a:solidFill>
                <a:latin typeface="Calibri"/>
              </a:rPr>
              <a:t> </a:t>
            </a:r>
            <a:r>
              <a:rPr sz="1050" b="0" dirty="0" err="1">
                <a:solidFill>
                  <a:srgbClr val="595959"/>
                </a:solidFill>
                <a:latin typeface="Calibri"/>
              </a:rPr>
              <a:t>nhóm</a:t>
            </a:r>
            <a:r>
              <a:rPr sz="1050" b="0" dirty="0">
                <a:solidFill>
                  <a:srgbClr val="595959"/>
                </a:solidFill>
                <a:latin typeface="Calibri"/>
              </a:rPr>
              <a:t> </a:t>
            </a:r>
            <a:r>
              <a:rPr sz="1050" b="0" dirty="0" err="1">
                <a:solidFill>
                  <a:srgbClr val="595959"/>
                </a:solidFill>
                <a:latin typeface="Calibri"/>
              </a:rPr>
              <a:t>cho</a:t>
            </a:r>
            <a:r>
              <a:rPr sz="1050" b="0" dirty="0">
                <a:solidFill>
                  <a:srgbClr val="595959"/>
                </a:solidFill>
                <a:latin typeface="Calibri"/>
              </a:rPr>
              <a:t> </a:t>
            </a:r>
            <a:r>
              <a:rPr sz="1050" b="0" dirty="0" err="1">
                <a:solidFill>
                  <a:srgbClr val="595959"/>
                </a:solidFill>
                <a:latin typeface="Calibri"/>
              </a:rPr>
              <a:t>trọng</a:t>
            </a:r>
            <a:r>
              <a:rPr sz="1050" b="0" dirty="0">
                <a:solidFill>
                  <a:srgbClr val="595959"/>
                </a:solidFill>
                <a:latin typeface="Calibri"/>
              </a:rPr>
              <a:t> </a:t>
            </a:r>
            <a:r>
              <a:rPr sz="1050" b="0" dirty="0" err="1">
                <a:solidFill>
                  <a:srgbClr val="595959"/>
                </a:solidFill>
                <a:latin typeface="Calibri"/>
              </a:rPr>
              <a:t>số</a:t>
            </a:r>
            <a:r>
              <a:rPr sz="1050" b="0" dirty="0">
                <a:solidFill>
                  <a:srgbClr val="595959"/>
                </a:solidFill>
                <a:latin typeface="Calibri"/>
              </a:rPr>
              <a:t> α, β; vector </a:t>
            </a:r>
            <a:r>
              <a:rPr sz="1050" b="0" dirty="0" err="1">
                <a:solidFill>
                  <a:srgbClr val="595959"/>
                </a:solidFill>
                <a:latin typeface="Calibri"/>
              </a:rPr>
              <a:t>cấp</a:t>
            </a:r>
            <a:r>
              <a:rPr sz="1050" b="0" dirty="0">
                <a:solidFill>
                  <a:srgbClr val="595959"/>
                </a:solidFill>
                <a:latin typeface="Calibri"/>
              </a:rPr>
              <a:t> </a:t>
            </a:r>
            <a:r>
              <a:rPr sz="1050" b="0" dirty="0" err="1">
                <a:solidFill>
                  <a:srgbClr val="595959"/>
                </a:solidFill>
                <a:latin typeface="Calibri"/>
              </a:rPr>
              <a:t>trên</a:t>
            </a:r>
            <a:r>
              <a:rPr sz="1050" b="0" dirty="0">
                <a:solidFill>
                  <a:srgbClr val="595959"/>
                </a:solidFill>
                <a:latin typeface="Calibri"/>
              </a:rPr>
              <a:t> = </a:t>
            </a:r>
            <a:r>
              <a:rPr sz="1050" b="0" dirty="0" err="1">
                <a:solidFill>
                  <a:srgbClr val="595959"/>
                </a:solidFill>
                <a:latin typeface="Calibri"/>
              </a:rPr>
              <a:t>tổng</a:t>
            </a:r>
            <a:r>
              <a:rPr sz="1050" b="0" dirty="0">
                <a:solidFill>
                  <a:srgbClr val="595959"/>
                </a:solidFill>
                <a:latin typeface="Calibri"/>
              </a:rPr>
              <a:t> </a:t>
            </a:r>
            <a:r>
              <a:rPr sz="1050" b="0" dirty="0" err="1">
                <a:solidFill>
                  <a:srgbClr val="595959"/>
                </a:solidFill>
                <a:latin typeface="Calibri"/>
              </a:rPr>
              <a:t>có</a:t>
            </a:r>
            <a:r>
              <a:rPr sz="1050" b="0" dirty="0">
                <a:solidFill>
                  <a:srgbClr val="595959"/>
                </a:solidFill>
                <a:latin typeface="Calibri"/>
              </a:rPr>
              <a:t> </a:t>
            </a:r>
            <a:r>
              <a:rPr sz="1050" b="0" dirty="0" err="1">
                <a:solidFill>
                  <a:srgbClr val="595959"/>
                </a:solidFill>
                <a:latin typeface="Calibri"/>
              </a:rPr>
              <a:t>trọng</a:t>
            </a:r>
            <a:r>
              <a:rPr sz="1050" b="0" dirty="0">
                <a:solidFill>
                  <a:srgbClr val="595959"/>
                </a:solidFill>
                <a:latin typeface="Calibri"/>
              </a:rPr>
              <a:t> </a:t>
            </a:r>
            <a:r>
              <a:rPr sz="1050" b="0" dirty="0" err="1">
                <a:solidFill>
                  <a:srgbClr val="595959"/>
                </a:solidFill>
                <a:latin typeface="Calibri"/>
              </a:rPr>
              <a:t>số</a:t>
            </a:r>
            <a:r>
              <a:rPr sz="1050" b="0" dirty="0">
                <a:solidFill>
                  <a:srgbClr val="595959"/>
                </a:solidFill>
                <a:latin typeface="Calibri"/>
              </a:rPr>
              <a:t>. </a:t>
            </a:r>
            <a:r>
              <a:rPr sz="1050" b="0" dirty="0" err="1">
                <a:solidFill>
                  <a:srgbClr val="595959"/>
                </a:solidFill>
                <a:latin typeface="Calibri"/>
              </a:rPr>
              <a:t>Mô</a:t>
            </a:r>
            <a:r>
              <a:rPr sz="1050" b="0" dirty="0">
                <a:solidFill>
                  <a:srgbClr val="595959"/>
                </a:solidFill>
                <a:latin typeface="Calibri"/>
              </a:rPr>
              <a:t> </a:t>
            </a:r>
            <a:r>
              <a:rPr sz="1050" b="0" dirty="0" err="1">
                <a:solidFill>
                  <a:srgbClr val="595959"/>
                </a:solidFill>
                <a:latin typeface="Calibri"/>
              </a:rPr>
              <a:t>hình</a:t>
            </a:r>
            <a:r>
              <a:rPr sz="1050" b="0" dirty="0">
                <a:solidFill>
                  <a:srgbClr val="595959"/>
                </a:solidFill>
                <a:latin typeface="Calibri"/>
              </a:rPr>
              <a:t> </a:t>
            </a:r>
            <a:r>
              <a:rPr sz="1050" b="0" dirty="0" err="1">
                <a:solidFill>
                  <a:srgbClr val="595959"/>
                </a:solidFill>
                <a:latin typeface="Calibri"/>
              </a:rPr>
              <a:t>tự</a:t>
            </a:r>
            <a:r>
              <a:rPr sz="1050" b="0" dirty="0">
                <a:solidFill>
                  <a:srgbClr val="595959"/>
                </a:solidFill>
                <a:latin typeface="Calibri"/>
              </a:rPr>
              <a:t> </a:t>
            </a:r>
            <a:r>
              <a:rPr sz="1050" b="0" dirty="0" err="1">
                <a:solidFill>
                  <a:srgbClr val="595959"/>
                </a:solidFill>
                <a:latin typeface="Calibri"/>
              </a:rPr>
              <a:t>học</a:t>
            </a:r>
            <a:r>
              <a:rPr sz="1050" b="0" dirty="0">
                <a:solidFill>
                  <a:srgbClr val="595959"/>
                </a:solidFill>
                <a:latin typeface="Calibri"/>
              </a:rPr>
              <a:t> </a:t>
            </a:r>
            <a:r>
              <a:rPr sz="1050" b="0" dirty="0" err="1">
                <a:solidFill>
                  <a:srgbClr val="595959"/>
                </a:solidFill>
                <a:latin typeface="Calibri"/>
              </a:rPr>
              <a:t>chỗ</a:t>
            </a:r>
            <a:r>
              <a:rPr sz="1050" b="0" dirty="0">
                <a:solidFill>
                  <a:srgbClr val="595959"/>
                </a:solidFill>
                <a:latin typeface="Calibri"/>
              </a:rPr>
              <a:t> </a:t>
            </a:r>
            <a:r>
              <a:rPr sz="1050" b="0" dirty="0" err="1">
                <a:solidFill>
                  <a:srgbClr val="595959"/>
                </a:solidFill>
                <a:latin typeface="Calibri"/>
              </a:rPr>
              <a:t>đáng</a:t>
            </a:r>
            <a:r>
              <a:rPr sz="1050" b="0" dirty="0">
                <a:solidFill>
                  <a:srgbClr val="595959"/>
                </a:solidFill>
                <a:latin typeface="Calibri"/>
              </a:rPr>
              <a:t> </a:t>
            </a:r>
            <a:r>
              <a:rPr sz="1050" b="0" dirty="0" err="1">
                <a:solidFill>
                  <a:srgbClr val="595959"/>
                </a:solidFill>
                <a:latin typeface="Calibri"/>
              </a:rPr>
              <a:t>chú</a:t>
            </a:r>
            <a:r>
              <a:rPr sz="1050" b="0" dirty="0">
                <a:solidFill>
                  <a:srgbClr val="595959"/>
                </a:solidFill>
                <a:latin typeface="Calibri"/>
              </a:rPr>
              <a:t> ý (</a:t>
            </a:r>
            <a:r>
              <a:rPr sz="1050" b="0" dirty="0" err="1">
                <a:solidFill>
                  <a:srgbClr val="595959"/>
                </a:solidFill>
                <a:latin typeface="Calibri"/>
              </a:rPr>
              <a:t>vd</a:t>
            </a:r>
            <a:r>
              <a:rPr sz="1050" b="0" dirty="0">
                <a:solidFill>
                  <a:srgbClr val="595959"/>
                </a:solidFill>
                <a:latin typeface="Calibri"/>
              </a:rPr>
              <a:t>. </a:t>
            </a:r>
            <a:r>
              <a:rPr sz="1050" b="0" dirty="0" err="1">
                <a:solidFill>
                  <a:srgbClr val="595959"/>
                </a:solidFill>
                <a:latin typeface="Calibri"/>
              </a:rPr>
              <a:t>đổi</a:t>
            </a:r>
            <a:r>
              <a:rPr sz="1050" b="0" dirty="0">
                <a:solidFill>
                  <a:srgbClr val="595959"/>
                </a:solidFill>
                <a:latin typeface="Calibri"/>
              </a:rPr>
              <a:t> </a:t>
            </a:r>
            <a:r>
              <a:rPr sz="1050" b="0" dirty="0" err="1">
                <a:solidFill>
                  <a:srgbClr val="595959"/>
                </a:solidFill>
                <a:latin typeface="Calibri"/>
              </a:rPr>
              <a:t>tên</a:t>
            </a:r>
            <a:r>
              <a:rPr sz="1050" b="0" dirty="0">
                <a:solidFill>
                  <a:srgbClr val="595959"/>
                </a:solidFill>
                <a:latin typeface="Calibri"/>
              </a:rPr>
              <a:t> </a:t>
            </a:r>
            <a:r>
              <a:rPr sz="1050" b="0" dirty="0" err="1">
                <a:solidFill>
                  <a:srgbClr val="595959"/>
                </a:solidFill>
                <a:latin typeface="Calibri"/>
              </a:rPr>
              <a:t>hàm</a:t>
            </a:r>
            <a:r>
              <a:rPr sz="1050" b="0" dirty="0">
                <a:solidFill>
                  <a:srgbClr val="595959"/>
                </a:solidFill>
                <a:latin typeface="Calibri"/>
              </a:rPr>
              <a:t> </a:t>
            </a:r>
            <a:r>
              <a:rPr sz="1050" b="0" dirty="0" err="1">
                <a:solidFill>
                  <a:srgbClr val="595959"/>
                </a:solidFill>
                <a:latin typeface="Calibri"/>
              </a:rPr>
              <a:t>quan</a:t>
            </a:r>
            <a:r>
              <a:rPr sz="1050" b="0" dirty="0">
                <a:solidFill>
                  <a:srgbClr val="595959"/>
                </a:solidFill>
                <a:latin typeface="Calibri"/>
              </a:rPr>
              <a:t> </a:t>
            </a:r>
            <a:r>
              <a:rPr sz="1050" b="0" dirty="0" err="1">
                <a:solidFill>
                  <a:srgbClr val="595959"/>
                </a:solidFill>
                <a:latin typeface="Calibri"/>
              </a:rPr>
              <a:t>trọng</a:t>
            </a:r>
            <a:r>
              <a:rPr sz="1050" b="0" dirty="0">
                <a:solidFill>
                  <a:srgbClr val="595959"/>
                </a:solidFill>
                <a:latin typeface="Calibri"/>
              </a:rPr>
              <a:t> </a:t>
            </a:r>
            <a:r>
              <a:rPr sz="1050" b="0" dirty="0" err="1">
                <a:solidFill>
                  <a:srgbClr val="595959"/>
                </a:solidFill>
                <a:latin typeface="Calibri"/>
              </a:rPr>
              <a:t>hơn</a:t>
            </a:r>
            <a:r>
              <a:rPr sz="1050" b="0" dirty="0">
                <a:solidFill>
                  <a:srgbClr val="595959"/>
                </a:solidFill>
                <a:latin typeface="Calibri"/>
              </a:rPr>
              <a:t> </a:t>
            </a:r>
            <a:r>
              <a:rPr sz="1050" b="0" dirty="0" err="1">
                <a:solidFill>
                  <a:srgbClr val="595959"/>
                </a:solidFill>
                <a:latin typeface="Calibri"/>
              </a:rPr>
              <a:t>thêm</a:t>
            </a:r>
            <a:r>
              <a:rPr sz="1050" b="0" dirty="0">
                <a:solidFill>
                  <a:srgbClr val="595959"/>
                </a:solidFill>
                <a:latin typeface="Calibri"/>
              </a:rPr>
              <a:t> log), </a:t>
            </a:r>
            <a:r>
              <a:rPr sz="1050" b="0" dirty="0" err="1">
                <a:solidFill>
                  <a:srgbClr val="595959"/>
                </a:solidFill>
                <a:latin typeface="Calibri"/>
              </a:rPr>
              <a:t>và</a:t>
            </a:r>
            <a:r>
              <a:rPr sz="1050" b="0" dirty="0">
                <a:solidFill>
                  <a:srgbClr val="595959"/>
                </a:solidFill>
                <a:latin typeface="Calibri"/>
              </a:rPr>
              <a:t> α, β </a:t>
            </a:r>
            <a:r>
              <a:rPr sz="1050" b="0" dirty="0" err="1">
                <a:solidFill>
                  <a:srgbClr val="595959"/>
                </a:solidFill>
                <a:latin typeface="Calibri"/>
              </a:rPr>
              <a:t>dùng</a:t>
            </a:r>
            <a:r>
              <a:rPr sz="1050" b="0" dirty="0">
                <a:solidFill>
                  <a:srgbClr val="595959"/>
                </a:solidFill>
                <a:latin typeface="Calibri"/>
              </a:rPr>
              <a:t> </a:t>
            </a:r>
            <a:r>
              <a:rPr sz="1050" b="0" dirty="0" err="1">
                <a:solidFill>
                  <a:srgbClr val="595959"/>
                </a:solidFill>
                <a:latin typeface="Calibri"/>
              </a:rPr>
              <a:t>để</a:t>
            </a:r>
            <a:r>
              <a:rPr sz="1050" b="0" dirty="0">
                <a:solidFill>
                  <a:srgbClr val="595959"/>
                </a:solidFill>
                <a:latin typeface="Calibri"/>
              </a:rPr>
              <a:t> </a:t>
            </a:r>
            <a:r>
              <a:rPr sz="1050" b="0" dirty="0" err="1">
                <a:solidFill>
                  <a:srgbClr val="595959"/>
                </a:solidFill>
                <a:latin typeface="Calibri"/>
              </a:rPr>
              <a:t>giải</a:t>
            </a:r>
            <a:r>
              <a:rPr sz="1050" b="0" dirty="0">
                <a:solidFill>
                  <a:srgbClr val="595959"/>
                </a:solidFill>
                <a:latin typeface="Calibri"/>
              </a:rPr>
              <a:t> </a:t>
            </a:r>
            <a:r>
              <a:rPr sz="1050" b="0" dirty="0" err="1">
                <a:solidFill>
                  <a:srgbClr val="595959"/>
                </a:solidFill>
                <a:latin typeface="Calibri"/>
              </a:rPr>
              <a:t>thích</a:t>
            </a:r>
            <a:r>
              <a:rPr sz="1050" b="0" dirty="0">
                <a:solidFill>
                  <a:srgbClr val="595959"/>
                </a:solidFill>
                <a:latin typeface="Calibri"/>
              </a:rPr>
              <a:t> </a:t>
            </a:r>
            <a:r>
              <a:rPr sz="1050" b="0" dirty="0" err="1">
                <a:solidFill>
                  <a:srgbClr val="595959"/>
                </a:solidFill>
                <a:latin typeface="Calibri"/>
              </a:rPr>
              <a:t>dự</a:t>
            </a:r>
            <a:r>
              <a:rPr sz="1050" b="0" dirty="0">
                <a:solidFill>
                  <a:srgbClr val="595959"/>
                </a:solidFill>
                <a:latin typeface="Calibri"/>
              </a:rPr>
              <a:t> </a:t>
            </a:r>
            <a:r>
              <a:rPr sz="1050" b="0" dirty="0" err="1">
                <a:solidFill>
                  <a:srgbClr val="595959"/>
                </a:solidFill>
                <a:latin typeface="Calibri"/>
              </a:rPr>
              <a:t>đoán</a:t>
            </a:r>
            <a:r>
              <a:rPr sz="1050" b="0" dirty="0">
                <a:solidFill>
                  <a:srgbClr val="595959"/>
                </a:solidFill>
                <a:latin typeface="Calibri"/>
              </a:rPr>
              <a:t>. Liên </a:t>
            </a:r>
            <a:r>
              <a:rPr sz="1050" b="0" dirty="0" err="1">
                <a:solidFill>
                  <a:srgbClr val="595959"/>
                </a:solidFill>
                <a:latin typeface="Calibri"/>
              </a:rPr>
              <a:t>kết</a:t>
            </a:r>
            <a:r>
              <a:rPr sz="1050" b="0" dirty="0">
                <a:solidFill>
                  <a:srgbClr val="595959"/>
                </a:solidFill>
                <a:latin typeface="Calibri"/>
              </a:rPr>
              <a:t> </a:t>
            </a:r>
            <a:r>
              <a:rPr sz="1050" b="0" dirty="0" err="1">
                <a:solidFill>
                  <a:srgbClr val="595959"/>
                </a:solidFill>
                <a:latin typeface="Calibri"/>
              </a:rPr>
              <a:t>giữa</a:t>
            </a:r>
            <a:r>
              <a:rPr sz="1050" b="0" dirty="0">
                <a:solidFill>
                  <a:srgbClr val="595959"/>
                </a:solidFill>
                <a:latin typeface="Calibri"/>
              </a:rPr>
              <a:t> </a:t>
            </a:r>
            <a:r>
              <a:rPr sz="1050" b="0" dirty="0" err="1">
                <a:solidFill>
                  <a:srgbClr val="595959"/>
                </a:solidFill>
                <a:latin typeface="Calibri"/>
              </a:rPr>
              <a:t>các</a:t>
            </a:r>
            <a:r>
              <a:rPr sz="1050" b="0" dirty="0">
                <a:solidFill>
                  <a:srgbClr val="595959"/>
                </a:solidFill>
                <a:latin typeface="Calibri"/>
              </a:rPr>
              <a:t> </a:t>
            </a:r>
            <a:r>
              <a:rPr sz="1050" b="0" dirty="0" err="1">
                <a:solidFill>
                  <a:srgbClr val="595959"/>
                </a:solidFill>
                <a:latin typeface="Calibri"/>
              </a:rPr>
              <a:t>dòng</a:t>
            </a:r>
            <a:r>
              <a:rPr sz="1050" b="0" dirty="0">
                <a:solidFill>
                  <a:srgbClr val="595959"/>
                </a:solidFill>
                <a:latin typeface="Calibri"/>
              </a:rPr>
              <a:t>/token </a:t>
            </a:r>
            <a:r>
              <a:rPr sz="1050" b="0" dirty="0" err="1">
                <a:solidFill>
                  <a:srgbClr val="595959"/>
                </a:solidFill>
                <a:latin typeface="Calibri"/>
              </a:rPr>
              <a:t>nằm</a:t>
            </a:r>
            <a:r>
              <a:rPr sz="1050" b="0" dirty="0">
                <a:solidFill>
                  <a:srgbClr val="595959"/>
                </a:solidFill>
                <a:latin typeface="Calibri"/>
              </a:rPr>
              <a:t> </a:t>
            </a:r>
            <a:r>
              <a:rPr sz="1050" b="0" dirty="0" err="1">
                <a:solidFill>
                  <a:srgbClr val="595959"/>
                </a:solidFill>
                <a:latin typeface="Calibri"/>
              </a:rPr>
              <a:t>bên</a:t>
            </a:r>
            <a:r>
              <a:rPr sz="1050" b="0" dirty="0">
                <a:solidFill>
                  <a:srgbClr val="595959"/>
                </a:solidFill>
                <a:latin typeface="Calibri"/>
              </a:rPr>
              <a:t> </a:t>
            </a:r>
            <a:r>
              <a:rPr sz="1050" b="0" dirty="0" err="1">
                <a:solidFill>
                  <a:srgbClr val="595959"/>
                </a:solidFill>
                <a:latin typeface="Calibri"/>
              </a:rPr>
              <a:t>trong</a:t>
            </a:r>
            <a:r>
              <a:rPr sz="1050" b="0" dirty="0">
                <a:solidFill>
                  <a:srgbClr val="595959"/>
                </a:solidFill>
                <a:latin typeface="Calibri"/>
              </a:rPr>
              <a:t> </a:t>
            </a:r>
            <a:r>
              <a:rPr sz="1050" b="0" dirty="0" err="1">
                <a:solidFill>
                  <a:srgbClr val="595959"/>
                </a:solidFill>
                <a:latin typeface="Calibri"/>
              </a:rPr>
              <a:t>UniXcoder</a:t>
            </a:r>
            <a:r>
              <a:rPr sz="1050" b="0" dirty="0">
                <a:solidFill>
                  <a:srgbClr val="595959"/>
                </a:solidFill>
                <a:latin typeface="Calibri"/>
              </a:rPr>
              <a:t> (self-attention).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Shape 2">
            <a:extLst>
              <a:ext uri="{FF2B5EF4-FFF2-40B4-BE49-F238E27FC236}">
                <a16:creationId xmlns:a16="http://schemas.microsoft.com/office/drawing/2014/main" id="{9BBE9FD3-A9D5-71FE-72E3-672B6138213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Phụ lục B. Huấn luyện HCL: kéo gần, đẩy xa theo 3 tầng</a:t>
            </a:r>
            <a:endParaRPr lang="en-US" sz="3200" spc="-1" dirty="0">
              <a:solidFill>
                <a:schemeClr val="bg1"/>
              </a:solidFill>
              <a:latin typeface="Calibri"/>
            </a:endParaRPr>
          </a:p>
        </p:txBody>
      </p:sp>
      <p:sp>
        <p:nvSpPr>
          <p:cNvPr id="314" name="TextBox 313"/>
          <p:cNvSpPr txBox="1"/>
          <p:nvPr/>
        </p:nvSpPr>
        <p:spPr>
          <a:xfrm>
            <a:off x="320040" y="1051560"/>
            <a:ext cx="6035040" cy="320040"/>
          </a:xfrm>
          <a:prstGeom prst="rect">
            <a:avLst/>
          </a:prstGeom>
          <a:noFill/>
        </p:spPr>
        <p:txBody>
          <a:bodyPr wrap="square" lIns="45720" tIns="27432" rIns="45720" bIns="27432" anchor="t">
            <a:spAutoFit/>
          </a:bodyPr>
          <a:lstStyle/>
          <a:p>
            <a:pPr algn="l"/>
            <a:r>
              <a:rPr sz="1300" b="1">
                <a:solidFill>
                  <a:srgbClr val="013364"/>
                </a:solidFill>
                <a:latin typeface="Calibri"/>
              </a:rPr>
              <a:t>Không gian vector của đầu so sánh (minh hoạ)</a:t>
            </a:r>
          </a:p>
        </p:txBody>
      </p:sp>
      <p:sp>
        <p:nvSpPr>
          <p:cNvPr id="315" name="Rounded Rectangle 314"/>
          <p:cNvSpPr/>
          <p:nvPr/>
        </p:nvSpPr>
        <p:spPr>
          <a:xfrm>
            <a:off x="320040" y="1417320"/>
            <a:ext cx="6035040" cy="3931920"/>
          </a:xfrm>
          <a:prstGeom prst="roundRect">
            <a:avLst>
              <a:gd name="adj" fmla="val 12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val 315"/>
          <p:cNvSpPr/>
          <p:nvPr/>
        </p:nvSpPr>
        <p:spPr>
          <a:xfrm>
            <a:off x="548640" y="2331720"/>
            <a:ext cx="1371600" cy="2103120"/>
          </a:xfrm>
          <a:prstGeom prst="ellipse">
            <a:avLst/>
          </a:prstGeom>
          <a:noFill/>
          <a:ln w="15875">
            <a:solidFill>
              <a:srgbClr val="2E7D3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320040" y="2057400"/>
            <a:ext cx="1828800" cy="274320"/>
          </a:xfrm>
          <a:prstGeom prst="rect">
            <a:avLst/>
          </a:prstGeom>
          <a:noFill/>
        </p:spPr>
        <p:txBody>
          <a:bodyPr wrap="square" lIns="45720" tIns="27432" rIns="45720" bIns="27432" anchor="t">
            <a:spAutoFit/>
          </a:bodyPr>
          <a:lstStyle/>
          <a:p>
            <a:pPr algn="ctr"/>
            <a:r>
              <a:rPr sz="1100" b="1">
                <a:solidFill>
                  <a:srgbClr val="2E7D32"/>
                </a:solidFill>
                <a:latin typeface="Calibri"/>
              </a:rPr>
              <a:t>pass</a:t>
            </a:r>
          </a:p>
        </p:txBody>
      </p:sp>
      <p:sp>
        <p:nvSpPr>
          <p:cNvPr id="318" name="Oval 317"/>
          <p:cNvSpPr/>
          <p:nvPr/>
        </p:nvSpPr>
        <p:spPr>
          <a:xfrm>
            <a:off x="1013916" y="2781096"/>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val 318"/>
          <p:cNvSpPr/>
          <p:nvPr/>
        </p:nvSpPr>
        <p:spPr>
          <a:xfrm>
            <a:off x="1313018" y="2659204"/>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val 319"/>
          <p:cNvSpPr/>
          <p:nvPr/>
        </p:nvSpPr>
        <p:spPr>
          <a:xfrm>
            <a:off x="1207814" y="3115060"/>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val 320"/>
          <p:cNvSpPr/>
          <p:nvPr/>
        </p:nvSpPr>
        <p:spPr>
          <a:xfrm>
            <a:off x="770838" y="3335402"/>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val 321"/>
          <p:cNvSpPr/>
          <p:nvPr/>
        </p:nvSpPr>
        <p:spPr>
          <a:xfrm>
            <a:off x="752090" y="3220697"/>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val 322"/>
          <p:cNvSpPr/>
          <p:nvPr/>
        </p:nvSpPr>
        <p:spPr>
          <a:xfrm>
            <a:off x="1105984" y="3831929"/>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val 323"/>
          <p:cNvSpPr/>
          <p:nvPr/>
        </p:nvSpPr>
        <p:spPr>
          <a:xfrm>
            <a:off x="831008" y="2893624"/>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val 324"/>
          <p:cNvSpPr/>
          <p:nvPr/>
        </p:nvSpPr>
        <p:spPr>
          <a:xfrm>
            <a:off x="1291528" y="4019798"/>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1245506" y="3163235"/>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1502787" y="2996795"/>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999879" y="3815256"/>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883060" y="3450689"/>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1302026" y="3125488"/>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1218661" y="2644208"/>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2514600" y="1737360"/>
            <a:ext cx="3657600" cy="3383280"/>
          </a:xfrm>
          <a:prstGeom prst="ellipse">
            <a:avLst/>
          </a:prstGeom>
          <a:noFill/>
          <a:ln w="1587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TextBox 332"/>
          <p:cNvSpPr txBox="1"/>
          <p:nvPr/>
        </p:nvSpPr>
        <p:spPr>
          <a:xfrm>
            <a:off x="3429000" y="1463039"/>
            <a:ext cx="1828800" cy="274320"/>
          </a:xfrm>
          <a:prstGeom prst="rect">
            <a:avLst/>
          </a:prstGeom>
          <a:noFill/>
        </p:spPr>
        <p:txBody>
          <a:bodyPr wrap="square" lIns="45720" tIns="27432" rIns="45720" bIns="27432" anchor="t">
            <a:spAutoFit/>
          </a:bodyPr>
          <a:lstStyle/>
          <a:p>
            <a:pPr algn="ctr"/>
            <a:r>
              <a:rPr sz="1200" b="1">
                <a:solidFill>
                  <a:srgbClr val="C00000"/>
                </a:solidFill>
                <a:latin typeface="Calibri"/>
              </a:rPr>
              <a:t>fail</a:t>
            </a:r>
          </a:p>
        </p:txBody>
      </p:sp>
      <p:sp>
        <p:nvSpPr>
          <p:cNvPr id="334" name="Oval 333"/>
          <p:cNvSpPr/>
          <p:nvPr/>
        </p:nvSpPr>
        <p:spPr>
          <a:xfrm>
            <a:off x="3063240" y="2286000"/>
            <a:ext cx="1097280" cy="1005840"/>
          </a:xfrm>
          <a:prstGeom prst="ellipse">
            <a:avLst/>
          </a:prstGeom>
          <a:noFill/>
          <a:ln w="15875">
            <a:solidFill>
              <a:srgbClr val="D9822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TextBox 334"/>
          <p:cNvSpPr txBox="1"/>
          <p:nvPr/>
        </p:nvSpPr>
        <p:spPr>
          <a:xfrm>
            <a:off x="2697480" y="2011680"/>
            <a:ext cx="1828800" cy="274320"/>
          </a:xfrm>
          <a:prstGeom prst="rect">
            <a:avLst/>
          </a:prstGeom>
          <a:noFill/>
        </p:spPr>
        <p:txBody>
          <a:bodyPr wrap="square" lIns="45720" tIns="27432" rIns="45720" bIns="27432" anchor="t">
            <a:spAutoFit/>
          </a:bodyPr>
          <a:lstStyle/>
          <a:p>
            <a:pPr algn="ctr"/>
            <a:r>
              <a:rPr sz="1100" b="1">
                <a:solidFill>
                  <a:srgbClr val="D9822B"/>
                </a:solidFill>
                <a:latin typeface="Calibri"/>
              </a:rPr>
              <a:t>compile</a:t>
            </a:r>
          </a:p>
        </p:txBody>
      </p:sp>
      <p:sp>
        <p:nvSpPr>
          <p:cNvPr id="336" name="Oval 335"/>
          <p:cNvSpPr/>
          <p:nvPr/>
        </p:nvSpPr>
        <p:spPr>
          <a:xfrm>
            <a:off x="3677811" y="2685785"/>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val 336"/>
          <p:cNvSpPr/>
          <p:nvPr/>
        </p:nvSpPr>
        <p:spPr>
          <a:xfrm>
            <a:off x="3423286" y="2781120"/>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val 337"/>
          <p:cNvSpPr/>
          <p:nvPr/>
        </p:nvSpPr>
        <p:spPr>
          <a:xfrm>
            <a:off x="3519909" y="2608642"/>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val 338"/>
          <p:cNvSpPr/>
          <p:nvPr/>
        </p:nvSpPr>
        <p:spPr>
          <a:xfrm>
            <a:off x="3757021" y="2849577"/>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val 339"/>
          <p:cNvSpPr/>
          <p:nvPr/>
        </p:nvSpPr>
        <p:spPr>
          <a:xfrm>
            <a:off x="3374605" y="2774399"/>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val 340"/>
          <p:cNvSpPr/>
          <p:nvPr/>
        </p:nvSpPr>
        <p:spPr>
          <a:xfrm>
            <a:off x="3569954" y="2955880"/>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val 341"/>
          <p:cNvSpPr/>
          <p:nvPr/>
        </p:nvSpPr>
        <p:spPr>
          <a:xfrm>
            <a:off x="3711895" y="2601503"/>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val 342"/>
          <p:cNvSpPr/>
          <p:nvPr/>
        </p:nvSpPr>
        <p:spPr>
          <a:xfrm>
            <a:off x="4434840" y="2176272"/>
            <a:ext cx="1371600" cy="1133856"/>
          </a:xfrm>
          <a:prstGeom prst="ellipse">
            <a:avLst/>
          </a:prstGeom>
          <a:noFill/>
          <a:ln w="15875">
            <a:solidFill>
              <a:srgbClr val="01336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TextBox 343"/>
          <p:cNvSpPr txBox="1"/>
          <p:nvPr/>
        </p:nvSpPr>
        <p:spPr>
          <a:xfrm>
            <a:off x="4206240" y="1901952"/>
            <a:ext cx="1828800" cy="274320"/>
          </a:xfrm>
          <a:prstGeom prst="rect">
            <a:avLst/>
          </a:prstGeom>
          <a:noFill/>
        </p:spPr>
        <p:txBody>
          <a:bodyPr wrap="square" lIns="45720" tIns="27432" rIns="45720" bIns="27432" anchor="t">
            <a:spAutoFit/>
          </a:bodyPr>
          <a:lstStyle/>
          <a:p>
            <a:pPr algn="ctr"/>
            <a:r>
              <a:rPr sz="1100" b="1">
                <a:solidFill>
                  <a:srgbClr val="013364"/>
                </a:solidFill>
                <a:latin typeface="Calibri"/>
              </a:rPr>
              <a:t>test</a:t>
            </a:r>
          </a:p>
        </p:txBody>
      </p:sp>
      <p:sp>
        <p:nvSpPr>
          <p:cNvPr id="345" name="Oval 344"/>
          <p:cNvSpPr/>
          <p:nvPr/>
        </p:nvSpPr>
        <p:spPr>
          <a:xfrm>
            <a:off x="4983340" y="2881272"/>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val 345"/>
          <p:cNvSpPr/>
          <p:nvPr/>
        </p:nvSpPr>
        <p:spPr>
          <a:xfrm>
            <a:off x="4730249" y="2675286"/>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val 346"/>
          <p:cNvSpPr/>
          <p:nvPr/>
        </p:nvSpPr>
        <p:spPr>
          <a:xfrm>
            <a:off x="4623001" y="2812969"/>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val 347"/>
          <p:cNvSpPr/>
          <p:nvPr/>
        </p:nvSpPr>
        <p:spPr>
          <a:xfrm>
            <a:off x="5312804" y="2739854"/>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val 348"/>
          <p:cNvSpPr/>
          <p:nvPr/>
        </p:nvSpPr>
        <p:spPr>
          <a:xfrm>
            <a:off x="5418274" y="2540704"/>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val 349"/>
          <p:cNvSpPr/>
          <p:nvPr/>
        </p:nvSpPr>
        <p:spPr>
          <a:xfrm>
            <a:off x="5246925" y="2756249"/>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val 350"/>
          <p:cNvSpPr/>
          <p:nvPr/>
        </p:nvSpPr>
        <p:spPr>
          <a:xfrm>
            <a:off x="5137182" y="2650125"/>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val 351"/>
          <p:cNvSpPr/>
          <p:nvPr/>
        </p:nvSpPr>
        <p:spPr>
          <a:xfrm>
            <a:off x="5036572" y="2809848"/>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val 352"/>
          <p:cNvSpPr/>
          <p:nvPr/>
        </p:nvSpPr>
        <p:spPr>
          <a:xfrm>
            <a:off x="4643411" y="2838529"/>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val 353"/>
          <p:cNvSpPr/>
          <p:nvPr/>
        </p:nvSpPr>
        <p:spPr>
          <a:xfrm>
            <a:off x="5367346" y="2518312"/>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val 354"/>
          <p:cNvSpPr/>
          <p:nvPr/>
        </p:nvSpPr>
        <p:spPr>
          <a:xfrm>
            <a:off x="3383280" y="3639312"/>
            <a:ext cx="1920240" cy="1316736"/>
          </a:xfrm>
          <a:prstGeom prst="ellipse">
            <a:avLst/>
          </a:prstGeom>
          <a:noFill/>
          <a:ln w="15875">
            <a:solidFill>
              <a:srgbClr val="7B1FA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TextBox 355"/>
          <p:cNvSpPr txBox="1"/>
          <p:nvPr/>
        </p:nvSpPr>
        <p:spPr>
          <a:xfrm>
            <a:off x="3429000" y="3657600"/>
            <a:ext cx="1828800" cy="274320"/>
          </a:xfrm>
          <a:prstGeom prst="rect">
            <a:avLst/>
          </a:prstGeom>
          <a:noFill/>
        </p:spPr>
        <p:txBody>
          <a:bodyPr wrap="square" lIns="45720" tIns="27432" rIns="45720" bIns="27432" anchor="t">
            <a:spAutoFit/>
          </a:bodyPr>
          <a:lstStyle/>
          <a:p>
            <a:pPr algn="ctr"/>
            <a:r>
              <a:rPr sz="1100" b="1">
                <a:solidFill>
                  <a:srgbClr val="7B1FA2"/>
                </a:solidFill>
                <a:latin typeface="Calibri"/>
              </a:rPr>
              <a:t>lint</a:t>
            </a:r>
          </a:p>
        </p:txBody>
      </p:sp>
      <p:sp>
        <p:nvSpPr>
          <p:cNvPr id="357" name="Oval 356"/>
          <p:cNvSpPr/>
          <p:nvPr/>
        </p:nvSpPr>
        <p:spPr>
          <a:xfrm>
            <a:off x="3557016" y="3950208"/>
            <a:ext cx="658368" cy="603504"/>
          </a:xfrm>
          <a:prstGeom prst="ellipse">
            <a:avLst/>
          </a:prstGeom>
          <a:noFill/>
          <a:ln w="1587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TextBox 357"/>
          <p:cNvSpPr txBox="1"/>
          <p:nvPr/>
        </p:nvSpPr>
        <p:spPr>
          <a:xfrm>
            <a:off x="2971800" y="3675888"/>
            <a:ext cx="1828800" cy="274320"/>
          </a:xfrm>
          <a:prstGeom prst="rect">
            <a:avLst/>
          </a:prstGeom>
          <a:noFill/>
        </p:spPr>
        <p:txBody>
          <a:bodyPr wrap="square" lIns="45720" tIns="27432" rIns="45720" bIns="27432" anchor="t">
            <a:spAutoFit/>
          </a:bodyPr>
          <a:lstStyle/>
          <a:p>
            <a:pPr algn="ctr"/>
            <a:endParaRPr/>
          </a:p>
        </p:txBody>
      </p:sp>
      <p:sp>
        <p:nvSpPr>
          <p:cNvPr id="359" name="Oval 358"/>
          <p:cNvSpPr/>
          <p:nvPr/>
        </p:nvSpPr>
        <p:spPr>
          <a:xfrm>
            <a:off x="3784991" y="4248041"/>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val 359"/>
          <p:cNvSpPr/>
          <p:nvPr/>
        </p:nvSpPr>
        <p:spPr>
          <a:xfrm>
            <a:off x="3652136" y="4179914"/>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val 360"/>
          <p:cNvSpPr/>
          <p:nvPr/>
        </p:nvSpPr>
        <p:spPr>
          <a:xfrm>
            <a:off x="3691191" y="4109442"/>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val 361"/>
          <p:cNvSpPr/>
          <p:nvPr/>
        </p:nvSpPr>
        <p:spPr>
          <a:xfrm>
            <a:off x="3786877" y="4314790"/>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val 362"/>
          <p:cNvSpPr/>
          <p:nvPr/>
        </p:nvSpPr>
        <p:spPr>
          <a:xfrm>
            <a:off x="4471416" y="3950208"/>
            <a:ext cx="658368" cy="603504"/>
          </a:xfrm>
          <a:prstGeom prst="ellipse">
            <a:avLst/>
          </a:prstGeom>
          <a:noFill/>
          <a:ln w="1587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3886200" y="3675888"/>
            <a:ext cx="1828800" cy="274320"/>
          </a:xfrm>
          <a:prstGeom prst="rect">
            <a:avLst/>
          </a:prstGeom>
          <a:noFill/>
        </p:spPr>
        <p:txBody>
          <a:bodyPr wrap="square" lIns="45720" tIns="27432" rIns="45720" bIns="27432" anchor="t">
            <a:spAutoFit/>
          </a:bodyPr>
          <a:lstStyle/>
          <a:p>
            <a:pPr algn="ctr"/>
            <a:endParaRPr/>
          </a:p>
        </p:txBody>
      </p:sp>
      <p:sp>
        <p:nvSpPr>
          <p:cNvPr id="365" name="Oval 364"/>
          <p:cNvSpPr/>
          <p:nvPr/>
        </p:nvSpPr>
        <p:spPr>
          <a:xfrm>
            <a:off x="4587757" y="4175797"/>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val 365"/>
          <p:cNvSpPr/>
          <p:nvPr/>
        </p:nvSpPr>
        <p:spPr>
          <a:xfrm>
            <a:off x="4759247" y="4318727"/>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val 366"/>
          <p:cNvSpPr/>
          <p:nvPr/>
        </p:nvSpPr>
        <p:spPr>
          <a:xfrm>
            <a:off x="4857943" y="4312341"/>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val 367"/>
          <p:cNvSpPr/>
          <p:nvPr/>
        </p:nvSpPr>
        <p:spPr>
          <a:xfrm>
            <a:off x="4660119" y="4164640"/>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TextBox 368"/>
          <p:cNvSpPr txBox="1"/>
          <p:nvPr/>
        </p:nvSpPr>
        <p:spPr>
          <a:xfrm>
            <a:off x="3337560" y="4572000"/>
            <a:ext cx="1097280" cy="228600"/>
          </a:xfrm>
          <a:prstGeom prst="rect">
            <a:avLst/>
          </a:prstGeom>
          <a:noFill/>
        </p:spPr>
        <p:txBody>
          <a:bodyPr wrap="square" lIns="45720" tIns="27432" rIns="45720" bIns="27432" anchor="t">
            <a:spAutoFit/>
          </a:bodyPr>
          <a:lstStyle/>
          <a:p>
            <a:pPr algn="ctr"/>
            <a:r>
              <a:rPr sz="950" b="0">
                <a:solidFill>
                  <a:srgbClr val="7B1FA2"/>
                </a:solidFill>
                <a:latin typeface="Calibri"/>
              </a:rPr>
              <a:t>format</a:t>
            </a:r>
          </a:p>
        </p:txBody>
      </p:sp>
      <p:sp>
        <p:nvSpPr>
          <p:cNvPr id="370" name="TextBox 369"/>
          <p:cNvSpPr txBox="1"/>
          <p:nvPr/>
        </p:nvSpPr>
        <p:spPr>
          <a:xfrm>
            <a:off x="4206240" y="4572000"/>
            <a:ext cx="1097280" cy="228600"/>
          </a:xfrm>
          <a:prstGeom prst="rect">
            <a:avLst/>
          </a:prstGeom>
          <a:noFill/>
        </p:spPr>
        <p:txBody>
          <a:bodyPr wrap="square" lIns="45720" tIns="27432" rIns="45720" bIns="27432" anchor="t">
            <a:spAutoFit/>
          </a:bodyPr>
          <a:lstStyle/>
          <a:p>
            <a:pPr algn="ctr"/>
            <a:r>
              <a:rPr sz="950" b="0">
                <a:solidFill>
                  <a:srgbClr val="7B1FA2"/>
                </a:solidFill>
                <a:latin typeface="Calibri"/>
              </a:rPr>
              <a:t>checkstyle</a:t>
            </a:r>
          </a:p>
        </p:txBody>
      </p:sp>
      <p:cxnSp>
        <p:nvCxnSpPr>
          <p:cNvPr id="371" name="Connector 370"/>
          <p:cNvCxnSpPr/>
          <p:nvPr/>
        </p:nvCxnSpPr>
        <p:spPr>
          <a:xfrm>
            <a:off x="1965960" y="2148840"/>
            <a:ext cx="548640" cy="0"/>
          </a:xfrm>
          <a:prstGeom prst="line">
            <a:avLst/>
          </a:prstGeom>
          <a:ln w="22225">
            <a:solidFill>
              <a:srgbClr val="C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72" name="TextBox 371"/>
          <p:cNvSpPr txBox="1"/>
          <p:nvPr/>
        </p:nvSpPr>
        <p:spPr>
          <a:xfrm>
            <a:off x="1600200" y="1783080"/>
            <a:ext cx="1280160" cy="274320"/>
          </a:xfrm>
          <a:prstGeom prst="rect">
            <a:avLst/>
          </a:prstGeom>
          <a:noFill/>
        </p:spPr>
        <p:txBody>
          <a:bodyPr wrap="square" lIns="45720" tIns="27432" rIns="45720" bIns="27432" anchor="t">
            <a:spAutoFit/>
          </a:bodyPr>
          <a:lstStyle/>
          <a:p>
            <a:pPr algn="ctr"/>
            <a:r>
              <a:rPr sz="1050" b="1" i="1">
                <a:solidFill>
                  <a:srgbClr val="C00000"/>
                </a:solidFill>
                <a:latin typeface="Calibri"/>
              </a:rPr>
              <a:t>đẩy xa</a:t>
            </a:r>
          </a:p>
        </p:txBody>
      </p:sp>
      <p:sp>
        <p:nvSpPr>
          <p:cNvPr id="373" name="TextBox 372"/>
          <p:cNvSpPr txBox="1"/>
          <p:nvPr/>
        </p:nvSpPr>
        <p:spPr>
          <a:xfrm>
            <a:off x="320040" y="5376672"/>
            <a:ext cx="6035040" cy="274320"/>
          </a:xfrm>
          <a:prstGeom prst="rect">
            <a:avLst/>
          </a:prstGeom>
          <a:noFill/>
        </p:spPr>
        <p:txBody>
          <a:bodyPr wrap="square" lIns="45720" tIns="27432" rIns="45720" bIns="27432" anchor="t">
            <a:spAutoFit/>
          </a:bodyPr>
          <a:lstStyle/>
          <a:p>
            <a:pPr algn="l"/>
            <a:r>
              <a:rPr sz="1000" b="0" dirty="0" err="1">
                <a:solidFill>
                  <a:srgbClr val="595959"/>
                </a:solidFill>
                <a:latin typeface="Calibri"/>
              </a:rPr>
              <a:t>Mỗi</a:t>
            </a:r>
            <a:r>
              <a:rPr sz="1000" b="0" dirty="0">
                <a:solidFill>
                  <a:srgbClr val="595959"/>
                </a:solidFill>
                <a:latin typeface="Calibri"/>
              </a:rPr>
              <a:t> </a:t>
            </a:r>
            <a:r>
              <a:rPr sz="1000" b="0" dirty="0" err="1">
                <a:solidFill>
                  <a:srgbClr val="595959"/>
                </a:solidFill>
                <a:latin typeface="Calibri"/>
              </a:rPr>
              <a:t>chấm</a:t>
            </a:r>
            <a:r>
              <a:rPr sz="1000" b="0" dirty="0">
                <a:solidFill>
                  <a:srgbClr val="595959"/>
                </a:solidFill>
                <a:latin typeface="Calibri"/>
              </a:rPr>
              <a:t> </a:t>
            </a:r>
            <a:r>
              <a:rPr sz="1000" b="0" dirty="0" err="1">
                <a:solidFill>
                  <a:srgbClr val="595959"/>
                </a:solidFill>
                <a:latin typeface="Calibri"/>
              </a:rPr>
              <a:t>là</a:t>
            </a:r>
            <a:r>
              <a:rPr sz="1000" b="0" dirty="0">
                <a:solidFill>
                  <a:srgbClr val="595959"/>
                </a:solidFill>
                <a:latin typeface="Calibri"/>
              </a:rPr>
              <a:t> </a:t>
            </a:r>
            <a:r>
              <a:rPr sz="1000" b="0" dirty="0" err="1">
                <a:solidFill>
                  <a:srgbClr val="595959"/>
                </a:solidFill>
                <a:latin typeface="Calibri"/>
              </a:rPr>
              <a:t>một</a:t>
            </a:r>
            <a:r>
              <a:rPr sz="1000" b="0" dirty="0">
                <a:solidFill>
                  <a:srgbClr val="595959"/>
                </a:solidFill>
                <a:latin typeface="Calibri"/>
              </a:rPr>
              <a:t> commit. </a:t>
            </a:r>
            <a:r>
              <a:rPr sz="1000" b="0" dirty="0" err="1">
                <a:solidFill>
                  <a:srgbClr val="595959"/>
                </a:solidFill>
                <a:latin typeface="Calibri"/>
              </a:rPr>
              <a:t>Cụm</a:t>
            </a:r>
            <a:r>
              <a:rPr sz="1000" b="0" dirty="0">
                <a:solidFill>
                  <a:srgbClr val="595959"/>
                </a:solidFill>
                <a:latin typeface="Calibri"/>
              </a:rPr>
              <a:t> </a:t>
            </a:r>
            <a:r>
              <a:rPr sz="1000" b="0" dirty="0" err="1">
                <a:solidFill>
                  <a:srgbClr val="595959"/>
                </a:solidFill>
                <a:latin typeface="Calibri"/>
              </a:rPr>
              <a:t>lồng</a:t>
            </a:r>
            <a:r>
              <a:rPr sz="1000" b="0" dirty="0">
                <a:solidFill>
                  <a:srgbClr val="595959"/>
                </a:solidFill>
                <a:latin typeface="Calibri"/>
              </a:rPr>
              <a:t> </a:t>
            </a:r>
            <a:r>
              <a:rPr sz="1000" b="0" dirty="0" err="1">
                <a:solidFill>
                  <a:srgbClr val="595959"/>
                </a:solidFill>
                <a:latin typeface="Calibri"/>
              </a:rPr>
              <a:t>nhau</a:t>
            </a:r>
            <a:r>
              <a:rPr sz="1000" b="0" dirty="0">
                <a:solidFill>
                  <a:srgbClr val="595959"/>
                </a:solidFill>
                <a:latin typeface="Calibri"/>
              </a:rPr>
              <a:t> = </a:t>
            </a:r>
            <a:r>
              <a:rPr sz="1000" b="0" dirty="0" err="1">
                <a:solidFill>
                  <a:srgbClr val="595959"/>
                </a:solidFill>
                <a:latin typeface="Calibri"/>
              </a:rPr>
              <a:t>cây</a:t>
            </a:r>
            <a:r>
              <a:rPr sz="1000" b="0" dirty="0">
                <a:solidFill>
                  <a:srgbClr val="595959"/>
                </a:solidFill>
                <a:latin typeface="Calibri"/>
              </a:rPr>
              <a:t> </a:t>
            </a:r>
            <a:r>
              <a:rPr sz="1000" b="0" dirty="0" err="1">
                <a:solidFill>
                  <a:srgbClr val="595959"/>
                </a:solidFill>
                <a:latin typeface="Calibri"/>
              </a:rPr>
              <a:t>lỗi</a:t>
            </a:r>
            <a:r>
              <a:rPr sz="1000" b="0" dirty="0">
                <a:solidFill>
                  <a:srgbClr val="595959"/>
                </a:solidFill>
                <a:latin typeface="Calibri"/>
              </a:rPr>
              <a:t>: fail → </a:t>
            </a:r>
            <a:r>
              <a:rPr sz="1000" b="0" dirty="0" err="1">
                <a:solidFill>
                  <a:srgbClr val="595959"/>
                </a:solidFill>
                <a:latin typeface="Calibri"/>
              </a:rPr>
              <a:t>loại</a:t>
            </a:r>
            <a:r>
              <a:rPr sz="1000" b="0" dirty="0">
                <a:solidFill>
                  <a:srgbClr val="595959"/>
                </a:solidFill>
                <a:latin typeface="Calibri"/>
              </a:rPr>
              <a:t> </a:t>
            </a:r>
            <a:r>
              <a:rPr sz="1000" b="0" dirty="0" err="1">
                <a:solidFill>
                  <a:srgbClr val="595959"/>
                </a:solidFill>
                <a:latin typeface="Calibri"/>
              </a:rPr>
              <a:t>lỗi</a:t>
            </a:r>
            <a:r>
              <a:rPr sz="1000" b="0" dirty="0">
                <a:solidFill>
                  <a:srgbClr val="595959"/>
                </a:solidFill>
                <a:latin typeface="Calibri"/>
              </a:rPr>
              <a:t> → </a:t>
            </a:r>
            <a:r>
              <a:rPr sz="1000" b="0" dirty="0" err="1">
                <a:solidFill>
                  <a:srgbClr val="595959"/>
                </a:solidFill>
                <a:latin typeface="Calibri"/>
              </a:rPr>
              <a:t>dạng</a:t>
            </a:r>
            <a:r>
              <a:rPr sz="1000" b="0" dirty="0">
                <a:solidFill>
                  <a:srgbClr val="595959"/>
                </a:solidFill>
                <a:latin typeface="Calibri"/>
              </a:rPr>
              <a:t> </a:t>
            </a:r>
            <a:r>
              <a:rPr sz="1000" b="0" dirty="0" err="1">
                <a:solidFill>
                  <a:srgbClr val="595959"/>
                </a:solidFill>
                <a:latin typeface="Calibri"/>
              </a:rPr>
              <a:t>lỗi</a:t>
            </a:r>
            <a:r>
              <a:rPr sz="1000" b="0" dirty="0">
                <a:solidFill>
                  <a:srgbClr val="595959"/>
                </a:solidFill>
                <a:latin typeface="Calibri"/>
              </a:rPr>
              <a:t> chi </a:t>
            </a:r>
            <a:r>
              <a:rPr sz="1000" b="0" dirty="0" err="1">
                <a:solidFill>
                  <a:srgbClr val="595959"/>
                </a:solidFill>
                <a:latin typeface="Calibri"/>
              </a:rPr>
              <a:t>tiết</a:t>
            </a:r>
            <a:r>
              <a:rPr sz="1000" b="0" dirty="0">
                <a:solidFill>
                  <a:srgbClr val="595959"/>
                </a:solidFill>
                <a:latin typeface="Calibri"/>
              </a:rPr>
              <a:t>.</a:t>
            </a:r>
          </a:p>
        </p:txBody>
      </p:sp>
      <p:sp>
        <p:nvSpPr>
          <p:cNvPr id="374" name="Oval 373"/>
          <p:cNvSpPr/>
          <p:nvPr/>
        </p:nvSpPr>
        <p:spPr>
          <a:xfrm>
            <a:off x="6675120" y="1207007"/>
            <a:ext cx="384048" cy="384048"/>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1</a:t>
            </a:r>
          </a:p>
        </p:txBody>
      </p:sp>
      <p:sp>
        <p:nvSpPr>
          <p:cNvPr id="375" name="TextBox 374"/>
          <p:cNvSpPr txBox="1"/>
          <p:nvPr/>
        </p:nvSpPr>
        <p:spPr>
          <a:xfrm>
            <a:off x="7178040" y="1097280"/>
            <a:ext cx="4663440" cy="777240"/>
          </a:xfrm>
          <a:prstGeom prst="rect">
            <a:avLst/>
          </a:prstGeom>
          <a:noFill/>
        </p:spPr>
        <p:txBody>
          <a:bodyPr wrap="square" lIns="45720" tIns="27432" rIns="45720" bIns="27432" anchor="t">
            <a:spAutoFit/>
          </a:bodyPr>
          <a:lstStyle/>
          <a:p>
            <a:pPr algn="l"/>
            <a:r>
              <a:rPr sz="1300" b="1">
                <a:solidFill>
                  <a:srgbClr val="013364"/>
                </a:solidFill>
                <a:latin typeface="Calibri"/>
              </a:rPr>
              <a:t>Tầng 1 · pass / fail</a:t>
            </a:r>
          </a:p>
          <a:p>
            <a:pPr algn="l"/>
            <a:r>
              <a:rPr sz="1150" b="0">
                <a:solidFill>
                  <a:srgbClr val="262626"/>
                </a:solidFill>
                <a:latin typeface="Calibri"/>
              </a:rPr>
              <a:t>commit pass và commit fail bị đẩy ra xa nhau (mọi commit).</a:t>
            </a:r>
          </a:p>
        </p:txBody>
      </p:sp>
      <p:sp>
        <p:nvSpPr>
          <p:cNvPr id="376" name="Oval 375"/>
          <p:cNvSpPr/>
          <p:nvPr/>
        </p:nvSpPr>
        <p:spPr>
          <a:xfrm>
            <a:off x="6675120" y="2029968"/>
            <a:ext cx="384048" cy="384048"/>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2</a:t>
            </a:r>
          </a:p>
        </p:txBody>
      </p:sp>
      <p:sp>
        <p:nvSpPr>
          <p:cNvPr id="377" name="TextBox 376"/>
          <p:cNvSpPr txBox="1"/>
          <p:nvPr/>
        </p:nvSpPr>
        <p:spPr>
          <a:xfrm>
            <a:off x="7178040" y="1920240"/>
            <a:ext cx="4663440" cy="777240"/>
          </a:xfrm>
          <a:prstGeom prst="rect">
            <a:avLst/>
          </a:prstGeom>
          <a:noFill/>
        </p:spPr>
        <p:txBody>
          <a:bodyPr wrap="square" lIns="45720" tIns="27432" rIns="45720" bIns="27432" anchor="t">
            <a:spAutoFit/>
          </a:bodyPr>
          <a:lstStyle/>
          <a:p>
            <a:pPr algn="l"/>
            <a:r>
              <a:rPr sz="1300" b="1">
                <a:solidFill>
                  <a:srgbClr val="013364"/>
                </a:solidFill>
                <a:latin typeface="Calibri"/>
              </a:rPr>
              <a:t>Tầng 2 · loại lỗi</a:t>
            </a:r>
          </a:p>
          <a:p>
            <a:pPr algn="l"/>
            <a:r>
              <a:rPr sz="1150" b="0">
                <a:solidFill>
                  <a:srgbClr val="262626"/>
                </a:solidFill>
                <a:latin typeface="Calibri"/>
              </a:rPr>
              <a:t>trong nhóm fail, cùng compile / test / lint thì kéo lại gần.</a:t>
            </a:r>
          </a:p>
        </p:txBody>
      </p:sp>
      <p:sp>
        <p:nvSpPr>
          <p:cNvPr id="378" name="Oval 377"/>
          <p:cNvSpPr/>
          <p:nvPr/>
        </p:nvSpPr>
        <p:spPr>
          <a:xfrm>
            <a:off x="6675120" y="2852928"/>
            <a:ext cx="384048" cy="384048"/>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3</a:t>
            </a:r>
          </a:p>
        </p:txBody>
      </p:sp>
      <p:sp>
        <p:nvSpPr>
          <p:cNvPr id="379" name="TextBox 378"/>
          <p:cNvSpPr txBox="1"/>
          <p:nvPr/>
        </p:nvSpPr>
        <p:spPr>
          <a:xfrm>
            <a:off x="7178040" y="2743200"/>
            <a:ext cx="4663440" cy="777240"/>
          </a:xfrm>
          <a:prstGeom prst="rect">
            <a:avLst/>
          </a:prstGeom>
          <a:noFill/>
        </p:spPr>
        <p:txBody>
          <a:bodyPr wrap="square" lIns="45720" tIns="27432" rIns="45720" bIns="27432" anchor="t">
            <a:spAutoFit/>
          </a:bodyPr>
          <a:lstStyle/>
          <a:p>
            <a:pPr algn="l"/>
            <a:r>
              <a:rPr sz="1300" b="1" dirty="0" err="1">
                <a:solidFill>
                  <a:srgbClr val="013364"/>
                </a:solidFill>
                <a:latin typeface="Calibri"/>
              </a:rPr>
              <a:t>Tầng</a:t>
            </a:r>
            <a:r>
              <a:rPr sz="1300" b="1" dirty="0">
                <a:solidFill>
                  <a:srgbClr val="013364"/>
                </a:solidFill>
                <a:latin typeface="Calibri"/>
              </a:rPr>
              <a:t> 3 · </a:t>
            </a:r>
            <a:r>
              <a:rPr sz="1300" b="1" dirty="0" err="1">
                <a:solidFill>
                  <a:srgbClr val="013364"/>
                </a:solidFill>
                <a:latin typeface="Calibri"/>
              </a:rPr>
              <a:t>dạng</a:t>
            </a:r>
            <a:r>
              <a:rPr sz="1300" b="1" dirty="0">
                <a:solidFill>
                  <a:srgbClr val="013364"/>
                </a:solidFill>
                <a:latin typeface="Calibri"/>
              </a:rPr>
              <a:t> </a:t>
            </a:r>
            <a:r>
              <a:rPr sz="1300" b="1" dirty="0" err="1">
                <a:solidFill>
                  <a:srgbClr val="013364"/>
                </a:solidFill>
                <a:latin typeface="Calibri"/>
              </a:rPr>
              <a:t>lỗi</a:t>
            </a:r>
            <a:r>
              <a:rPr sz="1300" b="1" dirty="0">
                <a:solidFill>
                  <a:srgbClr val="013364"/>
                </a:solidFill>
                <a:latin typeface="Calibri"/>
              </a:rPr>
              <a:t> chi </a:t>
            </a:r>
            <a:r>
              <a:rPr sz="1300" b="1" dirty="0" err="1">
                <a:solidFill>
                  <a:srgbClr val="013364"/>
                </a:solidFill>
                <a:latin typeface="Calibri"/>
              </a:rPr>
              <a:t>tiết</a:t>
            </a:r>
            <a:r>
              <a:rPr sz="1300" b="1" dirty="0">
                <a:solidFill>
                  <a:srgbClr val="013364"/>
                </a:solidFill>
                <a:latin typeface="Calibri"/>
              </a:rPr>
              <a:t> (</a:t>
            </a:r>
            <a:r>
              <a:rPr sz="1300" b="1" dirty="0" err="1">
                <a:solidFill>
                  <a:srgbClr val="013364"/>
                </a:solidFill>
                <a:latin typeface="Calibri"/>
              </a:rPr>
              <a:t>đọc</a:t>
            </a:r>
            <a:r>
              <a:rPr sz="1300" b="1" dirty="0">
                <a:solidFill>
                  <a:srgbClr val="013364"/>
                </a:solidFill>
                <a:latin typeface="Calibri"/>
              </a:rPr>
              <a:t> </a:t>
            </a:r>
            <a:r>
              <a:rPr sz="1300" b="1" dirty="0" err="1">
                <a:solidFill>
                  <a:srgbClr val="013364"/>
                </a:solidFill>
                <a:latin typeface="Calibri"/>
              </a:rPr>
              <a:t>từ</a:t>
            </a:r>
            <a:r>
              <a:rPr sz="1300" b="1" dirty="0">
                <a:solidFill>
                  <a:srgbClr val="013364"/>
                </a:solidFill>
                <a:latin typeface="Calibri"/>
              </a:rPr>
              <a:t> log)</a:t>
            </a:r>
          </a:p>
          <a:p>
            <a:pPr algn="l"/>
            <a:r>
              <a:rPr sz="1150" b="0" dirty="0" err="1">
                <a:solidFill>
                  <a:srgbClr val="262626"/>
                </a:solidFill>
                <a:latin typeface="Calibri"/>
              </a:rPr>
              <a:t>vd</a:t>
            </a:r>
            <a:r>
              <a:rPr sz="1150" b="0" dirty="0">
                <a:solidFill>
                  <a:srgbClr val="262626"/>
                </a:solidFill>
                <a:latin typeface="Calibri"/>
              </a:rPr>
              <a:t>. lint do format </a:t>
            </a:r>
            <a:r>
              <a:rPr sz="1150" b="0" dirty="0" err="1">
                <a:solidFill>
                  <a:srgbClr val="262626"/>
                </a:solidFill>
                <a:latin typeface="Calibri"/>
              </a:rPr>
              <a:t>và</a:t>
            </a:r>
            <a:r>
              <a:rPr sz="1150" b="0" dirty="0">
                <a:solidFill>
                  <a:srgbClr val="262626"/>
                </a:solidFill>
                <a:latin typeface="Calibri"/>
              </a:rPr>
              <a:t> lint do </a:t>
            </a:r>
            <a:r>
              <a:rPr sz="1150" b="0" dirty="0" err="1">
                <a:solidFill>
                  <a:srgbClr val="262626"/>
                </a:solidFill>
                <a:latin typeface="Calibri"/>
              </a:rPr>
              <a:t>checkstyle</a:t>
            </a:r>
            <a:r>
              <a:rPr sz="1150" b="0" dirty="0">
                <a:solidFill>
                  <a:srgbClr val="262626"/>
                </a:solidFill>
                <a:latin typeface="Calibri"/>
              </a:rPr>
              <a:t> </a:t>
            </a:r>
            <a:r>
              <a:rPr sz="1150" b="0" dirty="0" err="1">
                <a:solidFill>
                  <a:srgbClr val="262626"/>
                </a:solidFill>
                <a:latin typeface="Calibri"/>
              </a:rPr>
              <a:t>thành</a:t>
            </a:r>
            <a:r>
              <a:rPr sz="1150" b="0" dirty="0">
                <a:solidFill>
                  <a:srgbClr val="262626"/>
                </a:solidFill>
                <a:latin typeface="Calibri"/>
              </a:rPr>
              <a:t> 2 </a:t>
            </a:r>
            <a:r>
              <a:rPr sz="1150" b="0" dirty="0" err="1">
                <a:solidFill>
                  <a:srgbClr val="262626"/>
                </a:solidFill>
                <a:latin typeface="Calibri"/>
              </a:rPr>
              <a:t>cụm</a:t>
            </a:r>
            <a:r>
              <a:rPr sz="1150" b="0" dirty="0">
                <a:solidFill>
                  <a:srgbClr val="262626"/>
                </a:solidFill>
                <a:latin typeface="Calibri"/>
              </a:rPr>
              <a:t> con; </a:t>
            </a:r>
            <a:r>
              <a:rPr sz="1150" b="0" dirty="0" err="1">
                <a:solidFill>
                  <a:srgbClr val="262626"/>
                </a:solidFill>
                <a:latin typeface="Calibri"/>
              </a:rPr>
              <a:t>thêm</a:t>
            </a:r>
            <a:r>
              <a:rPr sz="1150" b="0" dirty="0">
                <a:solidFill>
                  <a:srgbClr val="262626"/>
                </a:solidFill>
                <a:latin typeface="Calibri"/>
              </a:rPr>
              <a:t> </a:t>
            </a:r>
            <a:r>
              <a:rPr sz="1150" b="0" dirty="0" err="1">
                <a:solidFill>
                  <a:srgbClr val="262626"/>
                </a:solidFill>
                <a:latin typeface="Calibri"/>
              </a:rPr>
              <a:t>tầng</a:t>
            </a:r>
            <a:r>
              <a:rPr sz="1150" b="0" dirty="0">
                <a:solidFill>
                  <a:srgbClr val="262626"/>
                </a:solidFill>
                <a:latin typeface="Calibri"/>
              </a:rPr>
              <a:t> module </a:t>
            </a:r>
            <a:r>
              <a:rPr sz="1150" b="0" dirty="0" err="1">
                <a:solidFill>
                  <a:srgbClr val="262626"/>
                </a:solidFill>
                <a:latin typeface="Calibri"/>
              </a:rPr>
              <a:t>bị</a:t>
            </a:r>
            <a:r>
              <a:rPr sz="1150" b="0" dirty="0">
                <a:solidFill>
                  <a:srgbClr val="262626"/>
                </a:solidFill>
                <a:latin typeface="Calibri"/>
              </a:rPr>
              <a:t> </a:t>
            </a:r>
            <a:r>
              <a:rPr sz="1150" b="0" dirty="0" err="1">
                <a:solidFill>
                  <a:srgbClr val="262626"/>
                </a:solidFill>
                <a:latin typeface="Calibri"/>
              </a:rPr>
              <a:t>lỗi</a:t>
            </a:r>
            <a:r>
              <a:rPr sz="1150" b="0" dirty="0">
                <a:solidFill>
                  <a:srgbClr val="262626"/>
                </a:solidFill>
                <a:latin typeface="Calibri"/>
              </a:rPr>
              <a:t> </a:t>
            </a:r>
            <a:r>
              <a:rPr sz="1150" b="0" dirty="0" err="1">
                <a:solidFill>
                  <a:srgbClr val="262626"/>
                </a:solidFill>
                <a:latin typeface="Calibri"/>
              </a:rPr>
              <a:t>nếu</a:t>
            </a:r>
            <a:r>
              <a:rPr sz="1150" b="0" dirty="0">
                <a:solidFill>
                  <a:srgbClr val="262626"/>
                </a:solidFill>
                <a:latin typeface="Calibri"/>
              </a:rPr>
              <a:t> </a:t>
            </a:r>
            <a:r>
              <a:rPr sz="1150" b="0" dirty="0" err="1">
                <a:solidFill>
                  <a:srgbClr val="262626"/>
                </a:solidFill>
                <a:latin typeface="Calibri"/>
              </a:rPr>
              <a:t>có</a:t>
            </a:r>
            <a:r>
              <a:rPr sz="1150" b="0" dirty="0">
                <a:solidFill>
                  <a:srgbClr val="262626"/>
                </a:solidFill>
                <a:latin typeface="Calibri"/>
              </a:rPr>
              <a:t>.</a:t>
            </a:r>
          </a:p>
        </p:txBody>
      </p:sp>
      <p:sp>
        <p:nvSpPr>
          <p:cNvPr id="380" name="Rounded Rectangle 379"/>
          <p:cNvSpPr/>
          <p:nvPr/>
        </p:nvSpPr>
        <p:spPr>
          <a:xfrm>
            <a:off x="6675120" y="3611879"/>
            <a:ext cx="5166360" cy="685800"/>
          </a:xfrm>
          <a:prstGeom prst="roundRect">
            <a:avLst>
              <a:gd name="adj" fmla="val 12000"/>
            </a:avLst>
          </a:prstGeom>
          <a:solidFill>
            <a:srgbClr val="FDF5F5"/>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262626"/>
                </a:solidFill>
                <a:latin typeface="Calibri"/>
              </a:rPr>
              <a:t>L = CE + 0,5·L₁ + 0,5·L₂ + 0,5·L₃ + 0,25·L_module</a:t>
            </a:r>
          </a:p>
          <a:p>
            <a:pPr algn="ctr"/>
            <a:r>
              <a:rPr sz="1050" b="0">
                <a:solidFill>
                  <a:srgbClr val="595959"/>
                </a:solidFill>
                <a:latin typeface="Calibri"/>
              </a:rPr>
              <a:t>λ, τ = 0,1 cố định từ trước, không dò trên tập test</a:t>
            </a:r>
          </a:p>
        </p:txBody>
      </p:sp>
      <p:sp>
        <p:nvSpPr>
          <p:cNvPr id="381" name="TextBox 380"/>
          <p:cNvSpPr txBox="1"/>
          <p:nvPr/>
        </p:nvSpPr>
        <p:spPr>
          <a:xfrm>
            <a:off x="6675120" y="4480560"/>
            <a:ext cx="5166360" cy="502920"/>
          </a:xfrm>
          <a:prstGeom prst="rect">
            <a:avLst/>
          </a:prstGeom>
          <a:noFill/>
        </p:spPr>
        <p:txBody>
          <a:bodyPr wrap="square" lIns="45720" tIns="27432" rIns="45720" bIns="27432" anchor="t">
            <a:spAutoFit/>
          </a:bodyPr>
          <a:lstStyle/>
          <a:p>
            <a:pPr algn="l"/>
            <a:r>
              <a:rPr sz="1150" b="1" dirty="0" err="1">
                <a:solidFill>
                  <a:srgbClr val="013364"/>
                </a:solidFill>
                <a:latin typeface="Calibri"/>
              </a:rPr>
              <a:t>Bộ</a:t>
            </a:r>
            <a:r>
              <a:rPr sz="1150" b="1" dirty="0">
                <a:solidFill>
                  <a:srgbClr val="013364"/>
                </a:solidFill>
                <a:latin typeface="Calibri"/>
              </a:rPr>
              <a:t> </a:t>
            </a:r>
            <a:r>
              <a:rPr sz="1150" b="1" dirty="0" err="1">
                <a:solidFill>
                  <a:srgbClr val="013364"/>
                </a:solidFill>
                <a:latin typeface="Calibri"/>
              </a:rPr>
              <a:t>nhớ</a:t>
            </a:r>
            <a:r>
              <a:rPr sz="1150" b="1" dirty="0">
                <a:solidFill>
                  <a:srgbClr val="013364"/>
                </a:solidFill>
                <a:latin typeface="Calibri"/>
              </a:rPr>
              <a:t> 512 vector: </a:t>
            </a:r>
            <a:r>
              <a:rPr sz="1150" dirty="0" err="1">
                <a:solidFill>
                  <a:srgbClr val="262626"/>
                </a:solidFill>
                <a:latin typeface="Calibri"/>
              </a:rPr>
              <a:t>từ</a:t>
            </a:r>
            <a:r>
              <a:rPr sz="1150" dirty="0">
                <a:solidFill>
                  <a:srgbClr val="262626"/>
                </a:solidFill>
                <a:latin typeface="Calibri"/>
              </a:rPr>
              <a:t> </a:t>
            </a:r>
            <a:r>
              <a:rPr sz="1150" dirty="0" err="1">
                <a:solidFill>
                  <a:srgbClr val="262626"/>
                </a:solidFill>
                <a:latin typeface="Calibri"/>
              </a:rPr>
              <a:t>các</a:t>
            </a:r>
            <a:r>
              <a:rPr sz="1150" dirty="0">
                <a:solidFill>
                  <a:srgbClr val="262626"/>
                </a:solidFill>
                <a:latin typeface="Calibri"/>
              </a:rPr>
              <a:t> batch </a:t>
            </a:r>
            <a:r>
              <a:rPr sz="1150" dirty="0" err="1">
                <a:solidFill>
                  <a:srgbClr val="262626"/>
                </a:solidFill>
                <a:latin typeface="Calibri"/>
              </a:rPr>
              <a:t>trước</a:t>
            </a:r>
            <a:r>
              <a:rPr sz="1150" dirty="0">
                <a:solidFill>
                  <a:srgbClr val="262626"/>
                </a:solidFill>
                <a:latin typeface="Calibri"/>
              </a:rPr>
              <a:t>: batch 12 commit </a:t>
            </a:r>
            <a:r>
              <a:rPr sz="1150" dirty="0" err="1">
                <a:solidFill>
                  <a:srgbClr val="262626"/>
                </a:solidFill>
                <a:latin typeface="Calibri"/>
              </a:rPr>
              <a:t>hiếm</a:t>
            </a:r>
            <a:r>
              <a:rPr sz="1150" dirty="0">
                <a:solidFill>
                  <a:srgbClr val="262626"/>
                </a:solidFill>
                <a:latin typeface="Calibri"/>
              </a:rPr>
              <a:t> </a:t>
            </a:r>
            <a:r>
              <a:rPr sz="1150" dirty="0" err="1">
                <a:solidFill>
                  <a:srgbClr val="262626"/>
                </a:solidFill>
                <a:latin typeface="Calibri"/>
              </a:rPr>
              <a:t>khi</a:t>
            </a:r>
            <a:r>
              <a:rPr sz="1150" dirty="0">
                <a:solidFill>
                  <a:srgbClr val="262626"/>
                </a:solidFill>
                <a:latin typeface="Calibri"/>
              </a:rPr>
              <a:t> </a:t>
            </a:r>
            <a:r>
              <a:rPr sz="1150" dirty="0" err="1">
                <a:solidFill>
                  <a:srgbClr val="262626"/>
                </a:solidFill>
                <a:latin typeface="Calibri"/>
              </a:rPr>
              <a:t>có</a:t>
            </a:r>
            <a:r>
              <a:rPr sz="1150" dirty="0">
                <a:solidFill>
                  <a:srgbClr val="262626"/>
                </a:solidFill>
                <a:latin typeface="Calibri"/>
              </a:rPr>
              <a:t> </a:t>
            </a:r>
            <a:r>
              <a:rPr sz="1150" dirty="0" err="1">
                <a:solidFill>
                  <a:srgbClr val="262626"/>
                </a:solidFill>
                <a:latin typeface="Calibri"/>
              </a:rPr>
              <a:t>đủ</a:t>
            </a:r>
            <a:r>
              <a:rPr sz="1150" dirty="0">
                <a:solidFill>
                  <a:srgbClr val="262626"/>
                </a:solidFill>
                <a:latin typeface="Calibri"/>
              </a:rPr>
              <a:t> </a:t>
            </a:r>
            <a:r>
              <a:rPr sz="1150" dirty="0" err="1">
                <a:solidFill>
                  <a:srgbClr val="262626"/>
                </a:solidFill>
                <a:latin typeface="Calibri"/>
              </a:rPr>
              <a:t>mẫu</a:t>
            </a:r>
            <a:r>
              <a:rPr sz="1150" dirty="0">
                <a:solidFill>
                  <a:srgbClr val="262626"/>
                </a:solidFill>
                <a:latin typeface="Calibri"/>
              </a:rPr>
              <a:t> lint/compile </a:t>
            </a:r>
            <a:r>
              <a:rPr sz="1150" dirty="0" err="1">
                <a:solidFill>
                  <a:srgbClr val="262626"/>
                </a:solidFill>
                <a:latin typeface="Calibri"/>
              </a:rPr>
              <a:t>để</a:t>
            </a:r>
            <a:r>
              <a:rPr sz="1150" dirty="0">
                <a:solidFill>
                  <a:srgbClr val="262626"/>
                </a:solidFill>
                <a:latin typeface="Calibri"/>
              </a:rPr>
              <a:t> so.</a:t>
            </a:r>
          </a:p>
        </p:txBody>
      </p:sp>
      <p:sp>
        <p:nvSpPr>
          <p:cNvPr id="382" name="TextBox 381"/>
          <p:cNvSpPr txBox="1"/>
          <p:nvPr/>
        </p:nvSpPr>
        <p:spPr>
          <a:xfrm>
            <a:off x="6675120" y="4983480"/>
            <a:ext cx="5166360" cy="502920"/>
          </a:xfrm>
          <a:prstGeom prst="rect">
            <a:avLst/>
          </a:prstGeom>
          <a:noFill/>
        </p:spPr>
        <p:txBody>
          <a:bodyPr wrap="square" lIns="45720" tIns="27432" rIns="45720" bIns="27432" anchor="t">
            <a:spAutoFit/>
          </a:bodyPr>
          <a:lstStyle/>
          <a:p>
            <a:pPr algn="l"/>
            <a:r>
              <a:rPr sz="1150" b="1">
                <a:solidFill>
                  <a:srgbClr val="013364"/>
                </a:solidFill>
                <a:latin typeface="Calibri"/>
              </a:rPr>
              <a:t>Cặp commit lỗi / commit sửa: </a:t>
            </a:r>
            <a:r>
              <a:rPr sz="1150">
                <a:solidFill>
                  <a:srgbClr val="262626"/>
                </a:solidFill>
                <a:latin typeface="Calibri"/>
              </a:rPr>
              <a:t>cùng batch: gần giống nhau nhưng khác kết quả → buộc nhìn đúng chỗ gây lỗi.</a:t>
            </a:r>
          </a:p>
        </p:txBody>
      </p:sp>
      <p:sp>
        <p:nvSpPr>
          <p:cNvPr id="383" name="TextBox 382"/>
          <p:cNvSpPr txBox="1"/>
          <p:nvPr/>
        </p:nvSpPr>
        <p:spPr>
          <a:xfrm>
            <a:off x="6675120" y="5486400"/>
            <a:ext cx="5166360" cy="502920"/>
          </a:xfrm>
          <a:prstGeom prst="rect">
            <a:avLst/>
          </a:prstGeom>
          <a:noFill/>
        </p:spPr>
        <p:txBody>
          <a:bodyPr wrap="square" lIns="45720" tIns="27432" rIns="45720" bIns="27432" anchor="t">
            <a:spAutoFit/>
          </a:bodyPr>
          <a:lstStyle/>
          <a:p>
            <a:pPr algn="l"/>
            <a:r>
              <a:rPr sz="1150" b="1">
                <a:solidFill>
                  <a:srgbClr val="013364"/>
                </a:solidFill>
                <a:latin typeface="Calibri"/>
              </a:rPr>
              <a:t>Khi dự đoán: </a:t>
            </a:r>
            <a:r>
              <a:rPr sz="1150">
                <a:solidFill>
                  <a:srgbClr val="262626"/>
                </a:solidFill>
                <a:latin typeface="Calibri"/>
              </a:rPr>
              <a:t>chỉ dùng đầu phân loại; đầu so sánh chỉ để sắp xếp không gian vector lúc học.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1079</TotalTime>
  <Words>2405</Words>
  <Application>Microsoft Office PowerPoint</Application>
  <PresentationFormat>Widescreen</PresentationFormat>
  <Paragraphs>391</Paragraphs>
  <Slides>17</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17</vt:i4>
      </vt:variant>
    </vt:vector>
  </HeadingPairs>
  <TitlesOfParts>
    <vt:vector size="26" baseType="lpstr">
      <vt:lpstr>Arial</vt:lpstr>
      <vt:lpstr>Calibri</vt:lpstr>
      <vt:lpstr>Lato</vt:lpstr>
      <vt:lpstr>Symbol</vt:lpstr>
      <vt:lpstr>Wingdings</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Đánh giá rủi ro ATTT bằng AI - ML trước tấn công Out-of-Domain</dc:title>
  <dc:subject/>
  <dc:creator>Hoàng Đức Anh</dc:creator>
  <dc:description/>
  <cp:lastModifiedBy>anh Pham</cp:lastModifiedBy>
  <cp:revision>21</cp:revision>
  <dcterms:created xsi:type="dcterms:W3CDTF">2020-12-31T09:57:48Z</dcterms:created>
  <dcterms:modified xsi:type="dcterms:W3CDTF">2026-10-16T03:50:47Z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0x0101004F531634775FD1439D5B67291EFE2AD4</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